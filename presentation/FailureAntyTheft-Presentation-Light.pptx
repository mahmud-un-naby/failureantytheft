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morning/afternoon. Our project is FailureAntyTheft, a local IoT anti-theft system that converts ordinary smartphones into wireless motion sensors. Add presenter names and student IDs on this slide before presenting.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project starts from a practical observation: phones already contain the required sensing and networking hardware. The engineering challenge is not simply reading acceleration; it is producing a reliable, understandable alert without dedicated hardware or cloud services.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solution is deliberately simple for the operator while remaining modular internally. Phones sense, the server decides, and the dashboard responds. The whole system remains on the local network.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architecture from left to right. Phyphox is polled over HTTP. The collector validates and normalizes readings. MQTT decouples components. Each phone has its own ordered runtime and deterministic detector. SQLite is the durable authority. FastAPI and WebSocket serve the dashboard and accept commands. The browser produces the audible alarm.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six stages. Emphasize that one noisy sample is not enough. The collector uses a cursor and device time for deduplication. The detector requires three threshold crossings within half a second before creating an alert.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detector states make behavior predictable. After arming, the operator gets five seconds to place the phone, followed by a two-second stable calibration. The detector computes acceleration magnitude, smooths it with an exponential moving average, compares it with the median baseline and requires three crossings within 0.5 seconds. Acknowledgement disarms the device.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live capture of the implemented dashboard. Point out the health summary, device cards, live chart, quick-start guide, event history and sound control. The interface intentionally sends chart-ready motion scores rather than overwhelming the browser with raw XYZ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stack demonstrates a complete IoT architecture without overcomplicating deployment. Python and asyncio supervise the components, MQTT models IoT messaging, SQLite avoids another server, and the browser supplies a platform-independent control surface and siren.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separates synthetic evidence from physical evidence. The current suite has 105 passing tests and one environment-gated MQTT test. A live phone returned HTTP 200, confirmed measurement, exposed the four expected buffers and transitioned online in the dashboard. Coverage figures are from the final handoff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recommended live demo order. Use a personal hotspot if institutional Wi-Fi blocks peer-to-peer traffic. Wait the full seven seconds after arming before movement. If the live network fails, use the dashboard screenshot and explain the verified live-phone report rather than improvising configuration changes on stage.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explicit about scope. This is a trusted-LAN classroom prototype, not a certified security product. The next engineering priorities are automatic Phyphox configuration discovery, authentication and TLS, mobile background notifications, multi-sensor correlation and packaged deployment.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conclusion, FailureAntyTheft demonstrates the entire IoT cycle using ordinary devices: sensing, local communication, deterministic processing, persistence, visualization and an audible response. Thank the audience and invite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7F9FC"/>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84280" y="6446520"/>
            <a:ext cx="320040" cy="164592"/>
          </a:xfrm>
          <a:prstGeom prst="rect">
            <a:avLst/>
          </a:prstGeom>
          <a:extLst>
            <a:ext uri="{C572A759-6A51-4108-AA02-DFA0A04FC94B}">
              <ma14:wrappingTextBoxFlag xmlns:ma14="http://schemas.microsoft.com/office/mac/drawingml/2011/main" val="0"/>
            </a:ext>
          </a:extLst>
        </p:spPr>
        <p:txBody>
          <a:bodyPr/>
          <a:lstStyle>
            <a:lvl1pPr>
              <a:defRPr sz="800">
                <a:solidFill>
                  <a:srgbClr val="71819C"/>
                </a:solidFill>
              </a:defRPr>
            </a:lvl1pPr>
          </a:lstStyle>
          <a:p>
            <a:pPr algn="r"/>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84280" y="6446520"/>
            <a:ext cx="320040" cy="164592"/>
          </a:xfrm>
          <a:prstGeom prst="rect">
            <a:avLst/>
          </a:prstGeom>
          <a:extLst>
            <a:ext uri="{C572A759-6A51-4108-AA02-DFA0A04FC94B}">
              <ma14:wrappingTextBoxFlag xmlns:ma14="http://schemas.microsoft.com/office/mac/drawingml/2011/main" val="0"/>
            </a:ext>
          </a:extLst>
        </p:spPr>
        <p:txBody>
          <a:bodyPr/>
          <a:lstStyle>
            <a:lvl1pPr>
              <a:defRPr sz="800">
                <a:solidFill>
                  <a:srgbClr val="71819C"/>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9FC"/>
          </a:solidFill>
          <a:ln w="12700">
            <a:solidFill>
              <a:srgbClr val="333333">
                <a:alpha val="0"/>
              </a:srgbClr>
            </a:solidFill>
            <a:prstDash val="solid"/>
          </a:ln>
        </p:spPr>
      </p:sp>
      <p:sp>
        <p:nvSpPr>
          <p:cNvPr id="3" name="Shape 1"/>
          <p:cNvSpPr/>
          <p:nvPr/>
        </p:nvSpPr>
        <p:spPr>
          <a:xfrm>
            <a:off x="7635240" y="-2011680"/>
            <a:ext cx="6400800" cy="6400800"/>
          </a:xfrm>
          <a:prstGeom prst="ellipse">
            <a:avLst/>
          </a:prstGeom>
          <a:solidFill>
            <a:srgbClr val="356AE6">
              <a:alpha val="12000"/>
            </a:srgbClr>
          </a:solidFill>
          <a:ln w="12700">
            <a:solidFill>
              <a:srgbClr val="333333">
                <a:alpha val="0"/>
              </a:srgbClr>
            </a:solidFill>
            <a:prstDash val="solid"/>
          </a:ln>
        </p:spPr>
      </p:sp>
      <p:sp>
        <p:nvSpPr>
          <p:cNvPr id="4" name="Shape 2"/>
          <p:cNvSpPr/>
          <p:nvPr/>
        </p:nvSpPr>
        <p:spPr>
          <a:xfrm>
            <a:off x="8732520" y="3108960"/>
            <a:ext cx="4389120" cy="4389120"/>
          </a:xfrm>
          <a:prstGeom prst="ellipse">
            <a:avLst/>
          </a:prstGeom>
          <a:solidFill>
            <a:srgbClr val="7048CA">
              <a:alpha val="9000"/>
            </a:srgbClr>
          </a:solidFill>
          <a:ln w="12700">
            <a:solidFill>
              <a:srgbClr val="333333">
                <a:alpha val="0"/>
              </a:srgbClr>
            </a:solidFill>
            <a:prstDash val="solid"/>
          </a:ln>
        </p:spPr>
      </p:sp>
      <p:sp>
        <p:nvSpPr>
          <p:cNvPr id="5" name="Shape 3"/>
          <p:cNvSpPr/>
          <p:nvPr/>
        </p:nvSpPr>
        <p:spPr>
          <a:xfrm>
            <a:off x="7818120" y="978408"/>
            <a:ext cx="82296" cy="82296"/>
          </a:xfrm>
          <a:prstGeom prst="ellipse">
            <a:avLst/>
          </a:prstGeom>
          <a:solidFill>
            <a:srgbClr val="118AB2">
              <a:alpha val="85000"/>
            </a:srgbClr>
          </a:solidFill>
          <a:ln w="12700">
            <a:solidFill>
              <a:srgbClr val="118AB2">
                <a:alpha val="85000"/>
              </a:srgbClr>
            </a:solidFill>
            <a:prstDash val="solid"/>
          </a:ln>
        </p:spPr>
      </p:sp>
      <p:sp>
        <p:nvSpPr>
          <p:cNvPr id="6" name="Shape 4"/>
          <p:cNvSpPr/>
          <p:nvPr/>
        </p:nvSpPr>
        <p:spPr>
          <a:xfrm>
            <a:off x="7900416" y="1024128"/>
            <a:ext cx="676656" cy="384048"/>
          </a:xfrm>
          <a:prstGeom prst="line">
            <a:avLst/>
          </a:prstGeom>
          <a:noFill/>
          <a:ln w="12700">
            <a:solidFill>
              <a:srgbClr val="C9D5E5"/>
            </a:solidFill>
            <a:prstDash val="solid"/>
            <a:headEnd type="none"/>
            <a:tailEnd type="none"/>
          </a:ln>
        </p:spPr>
      </p:sp>
      <p:sp>
        <p:nvSpPr>
          <p:cNvPr id="7" name="Shape 5"/>
          <p:cNvSpPr/>
          <p:nvPr/>
        </p:nvSpPr>
        <p:spPr>
          <a:xfrm>
            <a:off x="8577072" y="1362456"/>
            <a:ext cx="82296" cy="82296"/>
          </a:xfrm>
          <a:prstGeom prst="ellipse">
            <a:avLst/>
          </a:prstGeom>
          <a:solidFill>
            <a:srgbClr val="118AB2">
              <a:alpha val="85000"/>
            </a:srgbClr>
          </a:solidFill>
          <a:ln w="12700">
            <a:solidFill>
              <a:srgbClr val="118AB2">
                <a:alpha val="85000"/>
              </a:srgbClr>
            </a:solidFill>
            <a:prstDash val="solid"/>
          </a:ln>
        </p:spPr>
      </p:sp>
      <p:sp>
        <p:nvSpPr>
          <p:cNvPr id="8" name="Shape 6"/>
          <p:cNvSpPr/>
          <p:nvPr/>
        </p:nvSpPr>
        <p:spPr>
          <a:xfrm>
            <a:off x="8659368" y="1408176"/>
            <a:ext cx="676656" cy="-384048"/>
          </a:xfrm>
          <a:prstGeom prst="line">
            <a:avLst/>
          </a:prstGeom>
          <a:noFill/>
          <a:ln w="12700">
            <a:solidFill>
              <a:srgbClr val="C9D5E5"/>
            </a:solidFill>
            <a:prstDash val="solid"/>
            <a:headEnd type="none"/>
            <a:tailEnd type="none"/>
          </a:ln>
        </p:spPr>
      </p:sp>
      <p:sp>
        <p:nvSpPr>
          <p:cNvPr id="9" name="Shape 7"/>
          <p:cNvSpPr/>
          <p:nvPr/>
        </p:nvSpPr>
        <p:spPr>
          <a:xfrm>
            <a:off x="9336024" y="978408"/>
            <a:ext cx="82296" cy="82296"/>
          </a:xfrm>
          <a:prstGeom prst="ellipse">
            <a:avLst/>
          </a:prstGeom>
          <a:solidFill>
            <a:srgbClr val="118AB2">
              <a:alpha val="85000"/>
            </a:srgbClr>
          </a:solidFill>
          <a:ln w="12700">
            <a:solidFill>
              <a:srgbClr val="118AB2">
                <a:alpha val="85000"/>
              </a:srgbClr>
            </a:solidFill>
            <a:prstDash val="solid"/>
          </a:ln>
        </p:spPr>
      </p:sp>
      <p:sp>
        <p:nvSpPr>
          <p:cNvPr id="10" name="Shape 8"/>
          <p:cNvSpPr/>
          <p:nvPr/>
        </p:nvSpPr>
        <p:spPr>
          <a:xfrm>
            <a:off x="9418320" y="1024128"/>
            <a:ext cx="676656" cy="384048"/>
          </a:xfrm>
          <a:prstGeom prst="line">
            <a:avLst/>
          </a:prstGeom>
          <a:noFill/>
          <a:ln w="12700">
            <a:solidFill>
              <a:srgbClr val="C9D5E5"/>
            </a:solidFill>
            <a:prstDash val="solid"/>
            <a:headEnd type="none"/>
            <a:tailEnd type="none"/>
          </a:ln>
        </p:spPr>
      </p:sp>
      <p:sp>
        <p:nvSpPr>
          <p:cNvPr id="11" name="Shape 9"/>
          <p:cNvSpPr/>
          <p:nvPr/>
        </p:nvSpPr>
        <p:spPr>
          <a:xfrm>
            <a:off x="10094976" y="1362456"/>
            <a:ext cx="82296" cy="82296"/>
          </a:xfrm>
          <a:prstGeom prst="ellipse">
            <a:avLst/>
          </a:prstGeom>
          <a:solidFill>
            <a:srgbClr val="118AB2">
              <a:alpha val="85000"/>
            </a:srgbClr>
          </a:solidFill>
          <a:ln w="12700">
            <a:solidFill>
              <a:srgbClr val="118AB2">
                <a:alpha val="85000"/>
              </a:srgbClr>
            </a:solidFill>
            <a:prstDash val="solid"/>
          </a:ln>
        </p:spPr>
      </p:sp>
      <p:sp>
        <p:nvSpPr>
          <p:cNvPr id="12" name="Shape 10"/>
          <p:cNvSpPr/>
          <p:nvPr/>
        </p:nvSpPr>
        <p:spPr>
          <a:xfrm>
            <a:off x="10177272" y="1408176"/>
            <a:ext cx="676656" cy="-384048"/>
          </a:xfrm>
          <a:prstGeom prst="line">
            <a:avLst/>
          </a:prstGeom>
          <a:noFill/>
          <a:ln w="12700">
            <a:solidFill>
              <a:srgbClr val="C9D5E5"/>
            </a:solidFill>
            <a:prstDash val="solid"/>
            <a:headEnd type="none"/>
            <a:tailEnd type="none"/>
          </a:ln>
        </p:spPr>
      </p:sp>
      <p:sp>
        <p:nvSpPr>
          <p:cNvPr id="13" name="Shape 11"/>
          <p:cNvSpPr/>
          <p:nvPr/>
        </p:nvSpPr>
        <p:spPr>
          <a:xfrm>
            <a:off x="10853928" y="978408"/>
            <a:ext cx="82296" cy="82296"/>
          </a:xfrm>
          <a:prstGeom prst="ellipse">
            <a:avLst/>
          </a:prstGeom>
          <a:solidFill>
            <a:srgbClr val="118AB2">
              <a:alpha val="85000"/>
            </a:srgbClr>
          </a:solidFill>
          <a:ln w="12700">
            <a:solidFill>
              <a:srgbClr val="118AB2">
                <a:alpha val="85000"/>
              </a:srgbClr>
            </a:solidFill>
            <a:prstDash val="solid"/>
          </a:ln>
        </p:spPr>
      </p:sp>
      <p:pic>
        <p:nvPicPr>
          <p:cNvPr id="14" name="Image 0" descr="/home/mahmud-saikat/Class Contents/Nasir Sir/FailureAntyTheft/presentation/assets/mbstu-logo.png">    </p:cNvPr>
          <p:cNvPicPr>
            <a:picLocks noChangeAspect="1"/>
          </p:cNvPicPr>
          <p:nvPr/>
        </p:nvPicPr>
        <p:blipFill>
          <a:blip r:embed="rId1"/>
          <a:stretch>
            <a:fillRect/>
          </a:stretch>
        </p:blipFill>
        <p:spPr>
          <a:xfrm>
            <a:off x="658368" y="438912"/>
            <a:ext cx="713232" cy="713232"/>
          </a:xfrm>
          <a:prstGeom prst="rect">
            <a:avLst/>
          </a:prstGeom>
        </p:spPr>
      </p:pic>
      <p:sp>
        <p:nvSpPr>
          <p:cNvPr id="15" name="Text 12"/>
          <p:cNvSpPr/>
          <p:nvPr/>
        </p:nvSpPr>
        <p:spPr>
          <a:xfrm>
            <a:off x="1527048" y="429768"/>
            <a:ext cx="5486400" cy="292608"/>
          </a:xfrm>
          <a:prstGeom prst="rect">
            <a:avLst/>
          </a:prstGeom>
          <a:noFill/>
          <a:ln/>
        </p:spPr>
        <p:txBody>
          <a:bodyPr wrap="square" lIns="0" tIns="0" rIns="0" bIns="0" rtlCol="0" anchor="ctr">
            <a:normAutofit/>
          </a:bodyPr>
          <a:lstStyle/>
          <a:p>
            <a:pPr indent="0" marL="0">
              <a:buNone/>
            </a:pPr>
            <a:r>
              <a:rPr lang="en-US" sz="1000" b="1" spc="70" kern="0" dirty="0">
                <a:solidFill>
                  <a:srgbClr val="14213D"/>
                </a:solidFill>
                <a:latin typeface="Arial" pitchFamily="34" charset="0"/>
                <a:ea typeface="Arial" pitchFamily="34" charset="-122"/>
                <a:cs typeface="Arial" pitchFamily="34" charset="-120"/>
              </a:rPr>
              <a:t>MAWLANA BHASHANI SCIENCE AND TECHNOLOGY UNIVERSITY</a:t>
            </a:r>
            <a:endParaRPr lang="en-US" sz="1000" dirty="0"/>
          </a:p>
        </p:txBody>
      </p:sp>
      <p:sp>
        <p:nvSpPr>
          <p:cNvPr id="16" name="Text 13"/>
          <p:cNvSpPr/>
          <p:nvPr/>
        </p:nvSpPr>
        <p:spPr>
          <a:xfrm>
            <a:off x="1527048" y="749808"/>
            <a:ext cx="4937760" cy="237744"/>
          </a:xfrm>
          <a:prstGeom prst="rect">
            <a:avLst/>
          </a:prstGeom>
          <a:noFill/>
          <a:ln/>
        </p:spPr>
        <p:txBody>
          <a:bodyPr wrap="square" lIns="0" tIns="0" rIns="0" bIns="0" rtlCol="0" anchor="ctr">
            <a:normAutofit/>
          </a:bodyPr>
          <a:lstStyle/>
          <a:p>
            <a:pPr indent="0" marL="0">
              <a:buNone/>
            </a:pPr>
            <a:r>
              <a:rPr lang="en-US" sz="1000" dirty="0">
                <a:solidFill>
                  <a:srgbClr val="5E708F"/>
                </a:solidFill>
                <a:latin typeface="Arial" pitchFamily="34" charset="0"/>
                <a:ea typeface="Arial" pitchFamily="34" charset="-122"/>
                <a:cs typeface="Arial" pitchFamily="34" charset="-120"/>
              </a:rPr>
              <a:t>Department of Computer Science and Engineering</a:t>
            </a:r>
            <a:endParaRPr lang="en-US" sz="1000" dirty="0"/>
          </a:p>
        </p:txBody>
      </p:sp>
      <p:sp>
        <p:nvSpPr>
          <p:cNvPr id="17" name="Shape 14"/>
          <p:cNvSpPr/>
          <p:nvPr/>
        </p:nvSpPr>
        <p:spPr>
          <a:xfrm>
            <a:off x="658368" y="1572768"/>
            <a:ext cx="1600200" cy="310896"/>
          </a:xfrm>
          <a:prstGeom prst="roundRect">
            <a:avLst>
              <a:gd name="adj" fmla="val 23529"/>
            </a:avLst>
          </a:prstGeom>
          <a:solidFill>
            <a:srgbClr val="EEF3FA"/>
          </a:solidFill>
          <a:ln w="12700">
            <a:solidFill>
              <a:srgbClr val="118AB2"/>
            </a:solidFill>
            <a:prstDash val="solid"/>
          </a:ln>
        </p:spPr>
      </p:sp>
      <p:sp>
        <p:nvSpPr>
          <p:cNvPr id="18" name="Text 15"/>
          <p:cNvSpPr/>
          <p:nvPr/>
        </p:nvSpPr>
        <p:spPr>
          <a:xfrm>
            <a:off x="731520" y="1591056"/>
            <a:ext cx="1453896" cy="256032"/>
          </a:xfrm>
          <a:prstGeom prst="rect">
            <a:avLst/>
          </a:prstGeom>
          <a:noFill/>
          <a:ln/>
        </p:spPr>
        <p:txBody>
          <a:bodyPr wrap="square" lIns="0" tIns="0" rIns="0" bIns="0" rtlCol="0" anchor="ctr">
            <a:normAutofit/>
          </a:bodyPr>
          <a:lstStyle/>
          <a:p>
            <a:pPr algn="ctr" indent="0" marL="0">
              <a:buNone/>
            </a:pPr>
            <a:r>
              <a:rPr lang="en-US" sz="900" b="1" spc="70" kern="0" dirty="0">
                <a:solidFill>
                  <a:srgbClr val="118AB2"/>
                </a:solidFill>
                <a:latin typeface="Arial" pitchFamily="34" charset="0"/>
                <a:ea typeface="Arial" pitchFamily="34" charset="-122"/>
                <a:cs typeface="Arial" pitchFamily="34" charset="-120"/>
              </a:rPr>
              <a:t>PROJECT PRESENTATION</a:t>
            </a:r>
            <a:endParaRPr lang="en-US" sz="900" dirty="0"/>
          </a:p>
        </p:txBody>
      </p:sp>
      <p:sp>
        <p:nvSpPr>
          <p:cNvPr id="19" name="Text 16"/>
          <p:cNvSpPr/>
          <p:nvPr/>
        </p:nvSpPr>
        <p:spPr>
          <a:xfrm>
            <a:off x="658368" y="2084832"/>
            <a:ext cx="6720840" cy="768096"/>
          </a:xfrm>
          <a:prstGeom prst="rect">
            <a:avLst/>
          </a:prstGeom>
          <a:noFill/>
          <a:ln/>
        </p:spPr>
        <p:txBody>
          <a:bodyPr wrap="square" lIns="0" tIns="0" rIns="0" bIns="0" rtlCol="0" anchor="ctr">
            <a:normAutofit/>
          </a:bodyPr>
          <a:lstStyle/>
          <a:p>
            <a:pPr indent="0" marL="0">
              <a:buNone/>
            </a:pPr>
            <a:r>
              <a:rPr lang="en-US" sz="3900" b="1" dirty="0">
                <a:solidFill>
                  <a:srgbClr val="14213D"/>
                </a:solidFill>
                <a:latin typeface="Arial" pitchFamily="34" charset="0"/>
                <a:ea typeface="Arial" pitchFamily="34" charset="-122"/>
                <a:cs typeface="Arial" pitchFamily="34" charset="-120"/>
              </a:rPr>
              <a:t>FailureAntyTheft</a:t>
            </a:r>
            <a:endParaRPr lang="en-US" sz="3900" dirty="0"/>
          </a:p>
        </p:txBody>
      </p:sp>
      <p:sp>
        <p:nvSpPr>
          <p:cNvPr id="20" name="Text 17"/>
          <p:cNvSpPr/>
          <p:nvPr/>
        </p:nvSpPr>
        <p:spPr>
          <a:xfrm>
            <a:off x="658368" y="2926080"/>
            <a:ext cx="6309360" cy="694944"/>
          </a:xfrm>
          <a:prstGeom prst="rect">
            <a:avLst/>
          </a:prstGeom>
          <a:noFill/>
          <a:ln/>
        </p:spPr>
        <p:txBody>
          <a:bodyPr wrap="square" lIns="0" tIns="0" rIns="0" bIns="0" rtlCol="0" anchor="t">
            <a:normAutofit/>
          </a:bodyPr>
          <a:lstStyle/>
          <a:p>
            <a:pPr indent="0" marL="0">
              <a:buNone/>
            </a:pPr>
            <a:r>
              <a:rPr lang="en-US" sz="2000" dirty="0">
                <a:solidFill>
                  <a:srgbClr val="426EDC"/>
                </a:solidFill>
                <a:latin typeface="Arial" pitchFamily="34" charset="0"/>
                <a:ea typeface="Arial" pitchFamily="34" charset="-122"/>
                <a:cs typeface="Arial" pitchFamily="34" charset="-120"/>
              </a:rPr>
              <a:t>A phone-based IoT movement detection and anti-theft alert system</a:t>
            </a:r>
            <a:endParaRPr lang="en-US" sz="2000" dirty="0"/>
          </a:p>
        </p:txBody>
      </p:sp>
      <p:sp>
        <p:nvSpPr>
          <p:cNvPr id="21" name="Text 18"/>
          <p:cNvSpPr/>
          <p:nvPr/>
        </p:nvSpPr>
        <p:spPr>
          <a:xfrm>
            <a:off x="658368" y="3813048"/>
            <a:ext cx="6035040" cy="292608"/>
          </a:xfrm>
          <a:prstGeom prst="rect">
            <a:avLst/>
          </a:prstGeom>
          <a:noFill/>
          <a:ln/>
        </p:spPr>
        <p:txBody>
          <a:bodyPr wrap="square" lIns="0" tIns="0" rIns="0" bIns="0" rtlCol="0" anchor="ctr">
            <a:normAutofit/>
          </a:bodyPr>
          <a:lstStyle/>
          <a:p>
            <a:pPr indent="0" marL="0">
              <a:buNone/>
            </a:pPr>
            <a:r>
              <a:rPr lang="en-US" sz="1100" dirty="0">
                <a:solidFill>
                  <a:srgbClr val="5E708F"/>
                </a:solidFill>
                <a:latin typeface="Arial" pitchFamily="34" charset="0"/>
                <a:ea typeface="Arial" pitchFamily="34" charset="-122"/>
                <a:cs typeface="Arial" pitchFamily="34" charset="-120"/>
              </a:rPr>
              <a:t>Local-first  •  Real-time  •  No dedicated sensor hardware</a:t>
            </a:r>
            <a:endParaRPr lang="en-US" sz="1100" dirty="0"/>
          </a:p>
        </p:txBody>
      </p:sp>
      <p:sp>
        <p:nvSpPr>
          <p:cNvPr id="22" name="Shape 19"/>
          <p:cNvSpPr/>
          <p:nvPr/>
        </p:nvSpPr>
        <p:spPr>
          <a:xfrm>
            <a:off x="658368" y="5074920"/>
            <a:ext cx="5806440" cy="822960"/>
          </a:xfrm>
          <a:prstGeom prst="roundRect">
            <a:avLst>
              <a:gd name="adj" fmla="val 8889"/>
            </a:avLst>
          </a:prstGeom>
          <a:solidFill>
            <a:srgbClr val="FFFFFF"/>
          </a:solidFill>
          <a:ln w="12700">
            <a:solidFill>
              <a:srgbClr val="C9D5E5"/>
            </a:solidFill>
            <a:prstDash val="solid"/>
          </a:ln>
        </p:spPr>
      </p:sp>
      <p:sp>
        <p:nvSpPr>
          <p:cNvPr id="23" name="Text 20"/>
          <p:cNvSpPr/>
          <p:nvPr/>
        </p:nvSpPr>
        <p:spPr>
          <a:xfrm>
            <a:off x="896112" y="5230368"/>
            <a:ext cx="1097280" cy="201168"/>
          </a:xfrm>
          <a:prstGeom prst="rect">
            <a:avLst/>
          </a:prstGeom>
          <a:noFill/>
          <a:ln/>
        </p:spPr>
        <p:txBody>
          <a:bodyPr wrap="square" lIns="0" tIns="0" rIns="0" bIns="0" rtlCol="0" anchor="ctr">
            <a:normAutofit/>
          </a:bodyPr>
          <a:lstStyle/>
          <a:p>
            <a:pPr indent="0" marL="0">
              <a:buNone/>
            </a:pPr>
            <a:r>
              <a:rPr lang="en-US" sz="850" b="1" spc="120" kern="0" dirty="0">
                <a:solidFill>
                  <a:srgbClr val="426EDC"/>
                </a:solidFill>
                <a:latin typeface="Arial" pitchFamily="34" charset="0"/>
                <a:ea typeface="Arial" pitchFamily="34" charset="-122"/>
                <a:cs typeface="Arial" pitchFamily="34" charset="-120"/>
              </a:rPr>
              <a:t>PRESENTED BY</a:t>
            </a:r>
            <a:endParaRPr lang="en-US" sz="850" dirty="0"/>
          </a:p>
        </p:txBody>
      </p:sp>
      <p:sp>
        <p:nvSpPr>
          <p:cNvPr id="24" name="Text 21"/>
          <p:cNvSpPr/>
          <p:nvPr/>
        </p:nvSpPr>
        <p:spPr>
          <a:xfrm>
            <a:off x="896112" y="5468112"/>
            <a:ext cx="3840480" cy="228600"/>
          </a:xfrm>
          <a:prstGeom prst="rect">
            <a:avLst/>
          </a:prstGeom>
          <a:noFill/>
          <a:ln/>
        </p:spPr>
        <p:txBody>
          <a:bodyPr wrap="square" lIns="0" tIns="0" rIns="0" bIns="0" rtlCol="0" anchor="ctr">
            <a:normAutofit/>
          </a:bodyPr>
          <a:lstStyle/>
          <a:p>
            <a:pPr indent="0" marL="0">
              <a:buNone/>
            </a:pPr>
            <a:r>
              <a:rPr lang="en-US" sz="1300" b="1" dirty="0">
                <a:solidFill>
                  <a:srgbClr val="14213D"/>
                </a:solidFill>
                <a:latin typeface="Arial" pitchFamily="34" charset="0"/>
                <a:ea typeface="Arial" pitchFamily="34" charset="-122"/>
                <a:cs typeface="Arial" pitchFamily="34" charset="-120"/>
              </a:rPr>
              <a:t>[Presenter Name]  •  [Student ID]</a:t>
            </a:r>
            <a:endParaRPr lang="en-US" sz="1300" dirty="0"/>
          </a:p>
        </p:txBody>
      </p:sp>
      <p:sp>
        <p:nvSpPr>
          <p:cNvPr id="25" name="Text 22"/>
          <p:cNvSpPr/>
          <p:nvPr/>
        </p:nvSpPr>
        <p:spPr>
          <a:xfrm>
            <a:off x="4892040" y="5358384"/>
            <a:ext cx="1280160" cy="256032"/>
          </a:xfrm>
          <a:prstGeom prst="rect">
            <a:avLst/>
          </a:prstGeom>
          <a:noFill/>
          <a:ln/>
        </p:spPr>
        <p:txBody>
          <a:bodyPr wrap="square" lIns="0" tIns="0" rIns="0" bIns="0" rtlCol="0" anchor="ctr">
            <a:normAutofit/>
          </a:bodyPr>
          <a:lstStyle/>
          <a:p>
            <a:pPr algn="r" indent="0" marL="0">
              <a:buNone/>
            </a:pPr>
            <a:r>
              <a:rPr lang="en-US" sz="1000" dirty="0">
                <a:solidFill>
                  <a:srgbClr val="5E708F"/>
                </a:solidFill>
                <a:latin typeface="Arial" pitchFamily="34" charset="0"/>
                <a:ea typeface="Arial" pitchFamily="34" charset="-122"/>
                <a:cs typeface="Arial" pitchFamily="34" charset="-120"/>
              </a:rPr>
              <a:t>July 2026</a:t>
            </a:r>
            <a:endParaRPr lang="en-US" sz="1000" dirty="0"/>
          </a:p>
        </p:txBody>
      </p:sp>
      <p:sp>
        <p:nvSpPr>
          <p:cNvPr id="26" name="Shape 23"/>
          <p:cNvSpPr/>
          <p:nvPr/>
        </p:nvSpPr>
        <p:spPr>
          <a:xfrm>
            <a:off x="8229600" y="1874520"/>
            <a:ext cx="1600200" cy="3246120"/>
          </a:xfrm>
          <a:prstGeom prst="roundRect">
            <a:avLst>
              <a:gd name="adj" fmla="val 4571"/>
            </a:avLst>
          </a:prstGeom>
          <a:solidFill>
            <a:srgbClr val="0B1424"/>
          </a:solidFill>
          <a:ln w="19050">
            <a:solidFill>
              <a:srgbClr val="356AE6"/>
            </a:solidFill>
            <a:prstDash val="solid"/>
          </a:ln>
          <a:effectLst>
            <a:outerShdw sx="100000" sy="100000" kx="0" ky="0" algn="bl" rotWithShape="0" blurRad="38100" dist="50800" dir="2700000">
              <a:srgbClr val="356AE6">
                <a:alpha val="18000"/>
              </a:srgbClr>
            </a:outerShdw>
          </a:effectLst>
        </p:spPr>
      </p:sp>
      <p:sp>
        <p:nvSpPr>
          <p:cNvPr id="27" name="Shape 24"/>
          <p:cNvSpPr/>
          <p:nvPr/>
        </p:nvSpPr>
        <p:spPr>
          <a:xfrm>
            <a:off x="8348472" y="2194560"/>
            <a:ext cx="1362456" cy="2679192"/>
          </a:xfrm>
          <a:prstGeom prst="roundRect">
            <a:avLst>
              <a:gd name="adj" fmla="val 5369"/>
            </a:avLst>
          </a:prstGeom>
          <a:solidFill>
            <a:srgbClr val="111F35"/>
          </a:solidFill>
          <a:ln w="12700">
            <a:solidFill>
              <a:srgbClr val="253957"/>
            </a:solidFill>
            <a:prstDash val="solid"/>
          </a:ln>
        </p:spPr>
      </p:sp>
      <p:sp>
        <p:nvSpPr>
          <p:cNvPr id="28" name="Shape 25"/>
          <p:cNvSpPr/>
          <p:nvPr/>
        </p:nvSpPr>
        <p:spPr>
          <a:xfrm>
            <a:off x="8757666" y="1993392"/>
            <a:ext cx="544068" cy="73152"/>
          </a:xfrm>
          <a:prstGeom prst="roundRect">
            <a:avLst>
              <a:gd name="adj" fmla="val 100000"/>
            </a:avLst>
          </a:prstGeom>
          <a:solidFill>
            <a:srgbClr val="356AE6"/>
          </a:solidFill>
          <a:ln w="12700">
            <a:solidFill>
              <a:srgbClr val="356AE6"/>
            </a:solidFill>
            <a:prstDash val="solid"/>
          </a:ln>
        </p:spPr>
      </p:sp>
      <p:sp>
        <p:nvSpPr>
          <p:cNvPr id="29" name="Shape 26"/>
          <p:cNvSpPr/>
          <p:nvPr/>
        </p:nvSpPr>
        <p:spPr>
          <a:xfrm>
            <a:off x="8965692" y="4937760"/>
            <a:ext cx="128016" cy="128016"/>
          </a:xfrm>
          <a:prstGeom prst="ellipse">
            <a:avLst/>
          </a:prstGeom>
          <a:solidFill>
            <a:srgbClr val="356AE6">
              <a:alpha val="95000"/>
            </a:srgbClr>
          </a:solidFill>
          <a:ln w="12700">
            <a:solidFill>
              <a:srgbClr val="356AE6">
                <a:alpha val="95000"/>
              </a:srgbClr>
            </a:solidFill>
            <a:prstDash val="solid"/>
          </a:ln>
        </p:spPr>
      </p:sp>
      <p:sp>
        <p:nvSpPr>
          <p:cNvPr id="30" name="Shape 27"/>
          <p:cNvSpPr/>
          <p:nvPr/>
        </p:nvSpPr>
        <p:spPr>
          <a:xfrm>
            <a:off x="8458200" y="3822192"/>
            <a:ext cx="288036" cy="-137160"/>
          </a:xfrm>
          <a:prstGeom prst="line">
            <a:avLst/>
          </a:prstGeom>
          <a:noFill/>
          <a:ln w="19050">
            <a:solidFill>
              <a:srgbClr val="078F68"/>
            </a:solidFill>
            <a:prstDash val="solid"/>
            <a:headEnd type="none"/>
            <a:tailEnd type="none"/>
          </a:ln>
        </p:spPr>
      </p:sp>
      <p:sp>
        <p:nvSpPr>
          <p:cNvPr id="31" name="Shape 28"/>
          <p:cNvSpPr/>
          <p:nvPr/>
        </p:nvSpPr>
        <p:spPr>
          <a:xfrm>
            <a:off x="8917686" y="3335274"/>
            <a:ext cx="288036" cy="201168"/>
          </a:xfrm>
          <a:prstGeom prst="line">
            <a:avLst/>
          </a:prstGeom>
          <a:noFill/>
          <a:ln w="19050">
            <a:solidFill>
              <a:srgbClr val="078F68"/>
            </a:solidFill>
            <a:prstDash val="solid"/>
            <a:headEnd type="none"/>
            <a:tailEnd type="none"/>
          </a:ln>
        </p:spPr>
      </p:sp>
      <p:sp>
        <p:nvSpPr>
          <p:cNvPr id="32" name="Shape 29"/>
          <p:cNvSpPr/>
          <p:nvPr/>
        </p:nvSpPr>
        <p:spPr>
          <a:xfrm>
            <a:off x="9205722" y="4049420"/>
            <a:ext cx="288036" cy="-320040"/>
          </a:xfrm>
          <a:prstGeom prst="line">
            <a:avLst/>
          </a:prstGeom>
          <a:noFill/>
          <a:ln w="19050">
            <a:solidFill>
              <a:srgbClr val="078F68"/>
            </a:solidFill>
            <a:prstDash val="solid"/>
            <a:headEnd type="none"/>
            <a:tailEnd type="none"/>
          </a:ln>
        </p:spPr>
      </p:sp>
      <p:sp>
        <p:nvSpPr>
          <p:cNvPr id="33" name="Shape 30"/>
          <p:cNvSpPr/>
          <p:nvPr/>
        </p:nvSpPr>
        <p:spPr>
          <a:xfrm rot="10800000">
            <a:off x="9491472" y="2743200"/>
            <a:ext cx="1554480" cy="1678838"/>
          </a:xfrm>
          <a:prstGeom prst="pentagon">
            <a:avLst/>
          </a:prstGeom>
          <a:solidFill>
            <a:srgbClr val="078F68">
              <a:alpha val="18000"/>
            </a:srgbClr>
          </a:solidFill>
          <a:ln w="22860">
            <a:solidFill>
              <a:srgbClr val="078F68"/>
            </a:solidFill>
            <a:prstDash val="solid"/>
          </a:ln>
        </p:spPr>
      </p:sp>
      <p:sp>
        <p:nvSpPr>
          <p:cNvPr id="34" name="Shape 31"/>
          <p:cNvSpPr/>
          <p:nvPr/>
        </p:nvSpPr>
        <p:spPr>
          <a:xfrm>
            <a:off x="9926726" y="3551530"/>
            <a:ext cx="264262" cy="279806"/>
          </a:xfrm>
          <a:prstGeom prst="line">
            <a:avLst/>
          </a:prstGeom>
          <a:noFill/>
          <a:ln w="27940">
            <a:solidFill>
              <a:srgbClr val="FFFFFF"/>
            </a:solidFill>
            <a:prstDash val="solid"/>
            <a:headEnd type="none"/>
            <a:tailEnd type="none"/>
          </a:ln>
        </p:spPr>
      </p:sp>
      <p:sp>
        <p:nvSpPr>
          <p:cNvPr id="35" name="Shape 32"/>
          <p:cNvSpPr/>
          <p:nvPr/>
        </p:nvSpPr>
        <p:spPr>
          <a:xfrm>
            <a:off x="10190988" y="3831336"/>
            <a:ext cx="466344" cy="-544068"/>
          </a:xfrm>
          <a:prstGeom prst="line">
            <a:avLst/>
          </a:prstGeom>
          <a:noFill/>
          <a:ln w="27940">
            <a:solidFill>
              <a:srgbClr val="FFFFFF"/>
            </a:solidFill>
            <a:prstDash val="solid"/>
            <a:headEnd type="none"/>
            <a:tailEnd type="none"/>
          </a:ln>
        </p:spPr>
      </p:sp>
      <p:sp>
        <p:nvSpPr>
          <p:cNvPr id="36" name="Shape 33"/>
          <p:cNvSpPr/>
          <p:nvPr/>
        </p:nvSpPr>
        <p:spPr>
          <a:xfrm>
            <a:off x="7726680" y="4919472"/>
            <a:ext cx="256032" cy="256032"/>
          </a:xfrm>
          <a:prstGeom prst="ellipse">
            <a:avLst/>
          </a:prstGeom>
          <a:solidFill>
            <a:srgbClr val="D64255">
              <a:alpha val="90000"/>
            </a:srgbClr>
          </a:solidFill>
          <a:ln w="12700">
            <a:solidFill>
              <a:srgbClr val="D64255">
                <a:alpha val="90000"/>
              </a:srgbClr>
            </a:solidFill>
            <a:prstDash val="solid"/>
          </a:ln>
        </p:spPr>
      </p:sp>
      <p:sp>
        <p:nvSpPr>
          <p:cNvPr id="37" name="Shape 34"/>
          <p:cNvSpPr/>
          <p:nvPr/>
        </p:nvSpPr>
        <p:spPr>
          <a:xfrm>
            <a:off x="7973568" y="5047488"/>
            <a:ext cx="822960" cy="-365760"/>
          </a:xfrm>
          <a:prstGeom prst="line">
            <a:avLst/>
          </a:prstGeom>
          <a:noFill/>
          <a:ln w="16510">
            <a:solidFill>
              <a:srgbClr val="D64255"/>
            </a:solidFill>
            <a:prstDash val="solid"/>
            <a:headEnd type="none"/>
            <a:tailEnd type="triangle"/>
          </a:ln>
        </p:spPr>
      </p:sp>
      <p:sp>
        <p:nvSpPr>
          <p:cNvPr id="38" name="Text 35"/>
          <p:cNvSpPr/>
          <p:nvPr/>
        </p:nvSpPr>
        <p:spPr>
          <a:xfrm>
            <a:off x="7406640" y="5230368"/>
            <a:ext cx="914400" cy="201168"/>
          </a:xfrm>
          <a:prstGeom prst="rect">
            <a:avLst/>
          </a:prstGeom>
          <a:noFill/>
          <a:ln/>
        </p:spPr>
        <p:txBody>
          <a:bodyPr wrap="square" lIns="0" tIns="0" rIns="0" bIns="0" rtlCol="0" anchor="ctr">
            <a:normAutofit/>
          </a:bodyPr>
          <a:lstStyle/>
          <a:p>
            <a:pPr algn="ctr" indent="0" marL="0">
              <a:buNone/>
            </a:pPr>
            <a:r>
              <a:rPr lang="en-US" sz="800" b="1" dirty="0">
                <a:solidFill>
                  <a:srgbClr val="D64255"/>
                </a:solidFill>
                <a:latin typeface="Arial" pitchFamily="34" charset="0"/>
                <a:ea typeface="Arial" pitchFamily="34" charset="-122"/>
                <a:cs typeface="Arial" pitchFamily="34" charset="-120"/>
              </a:rPr>
              <a:t>MOTION</a:t>
            </a:r>
            <a:endParaRPr lang="en-US" sz="800" dirty="0"/>
          </a:p>
        </p:txBody>
      </p:sp>
      <p:sp>
        <p:nvSpPr>
          <p:cNvPr id="39" name="Text 36"/>
          <p:cNvSpPr/>
          <p:nvPr/>
        </p:nvSpPr>
        <p:spPr>
          <a:xfrm>
            <a:off x="658368" y="6455664"/>
            <a:ext cx="2926080" cy="164592"/>
          </a:xfrm>
          <a:prstGeom prst="rect">
            <a:avLst/>
          </a:prstGeom>
          <a:noFill/>
          <a:ln/>
        </p:spPr>
        <p:txBody>
          <a:bodyPr wrap="square" lIns="0" tIns="0" rIns="0" bIns="0" rtlCol="0" anchor="ctr">
            <a:normAutofit/>
          </a:bodyPr>
          <a:lstStyle/>
          <a:p>
            <a:pPr indent="0" marL="0">
              <a:buNone/>
            </a:pPr>
            <a:r>
              <a:rPr lang="en-US" sz="750" dirty="0">
                <a:solidFill>
                  <a:srgbClr val="71819C"/>
                </a:solidFill>
                <a:latin typeface="Arial" pitchFamily="34" charset="0"/>
                <a:ea typeface="Arial" pitchFamily="34" charset="-122"/>
                <a:cs typeface="Arial" pitchFamily="34" charset="-120"/>
              </a:rPr>
              <a:t>Official MBSTU logo source: mbstu.ac.bd</a:t>
            </a:r>
            <a:endParaRPr lang="en-US" sz="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02920" y="384048"/>
            <a:ext cx="384048" cy="274320"/>
          </a:xfrm>
          <a:prstGeom prst="rect">
            <a:avLst/>
          </a:prstGeom>
          <a:noFill/>
          <a:ln/>
        </p:spPr>
        <p:txBody>
          <a:bodyPr wrap="square" lIns="0" tIns="0" rIns="0" bIns="0" rtlCol="0" anchor="ctr">
            <a:normAutofit/>
          </a:bodyPr>
          <a:lstStyle/>
          <a:p>
            <a:pPr indent="0" marL="0">
              <a:buNone/>
            </a:pPr>
            <a:r>
              <a:rPr lang="en-US" sz="1000" b="1" spc="120" kern="0" dirty="0">
                <a:solidFill>
                  <a:srgbClr val="426EDC"/>
                </a:solidFill>
                <a:latin typeface="Arial" pitchFamily="34" charset="0"/>
                <a:ea typeface="Arial" pitchFamily="34" charset="-122"/>
                <a:cs typeface="Arial" pitchFamily="34" charset="-120"/>
              </a:rPr>
              <a:t>02</a:t>
            </a:r>
            <a:endParaRPr lang="en-US" sz="1000" dirty="0"/>
          </a:p>
        </p:txBody>
      </p:sp>
      <p:sp>
        <p:nvSpPr>
          <p:cNvPr id="3" name="Shape 1"/>
          <p:cNvSpPr/>
          <p:nvPr/>
        </p:nvSpPr>
        <p:spPr>
          <a:xfrm>
            <a:off x="896112" y="521208"/>
            <a:ext cx="502920" cy="0"/>
          </a:xfrm>
          <a:prstGeom prst="line">
            <a:avLst/>
          </a:prstGeom>
          <a:noFill/>
          <a:ln w="12700">
            <a:solidFill>
              <a:srgbClr val="C9D5E5"/>
            </a:solidFill>
            <a:prstDash val="solid"/>
            <a:headEnd type="none"/>
            <a:tailEnd type="none"/>
          </a:ln>
        </p:spPr>
      </p:sp>
      <p:sp>
        <p:nvSpPr>
          <p:cNvPr id="4" name="Text 2"/>
          <p:cNvSpPr/>
          <p:nvPr/>
        </p:nvSpPr>
        <p:spPr>
          <a:xfrm>
            <a:off x="1527048" y="365760"/>
            <a:ext cx="3291840" cy="292608"/>
          </a:xfrm>
          <a:prstGeom prst="rect">
            <a:avLst/>
          </a:prstGeom>
          <a:noFill/>
          <a:ln/>
        </p:spPr>
        <p:txBody>
          <a:bodyPr wrap="square" lIns="0" tIns="0" rIns="0" bIns="0" rtlCol="0" anchor="ctr">
            <a:normAutofit/>
          </a:bodyPr>
          <a:lstStyle/>
          <a:p>
            <a:pPr indent="0" marL="0">
              <a:buNone/>
            </a:pPr>
            <a:r>
              <a:rPr lang="en-US" sz="900" b="1" spc="150" kern="0" dirty="0">
                <a:solidFill>
                  <a:srgbClr val="426EDC"/>
                </a:solidFill>
                <a:latin typeface="Arial" pitchFamily="34" charset="0"/>
                <a:ea typeface="Arial" pitchFamily="34" charset="-122"/>
                <a:cs typeface="Arial" pitchFamily="34" charset="-120"/>
              </a:rPr>
              <a:t>PROBLEM &amp; OPPORTUNITY</a:t>
            </a:r>
            <a:endParaRPr lang="en-US" sz="900" dirty="0"/>
          </a:p>
        </p:txBody>
      </p:sp>
      <p:sp>
        <p:nvSpPr>
          <p:cNvPr id="5" name="Text 3"/>
          <p:cNvSpPr/>
          <p:nvPr/>
        </p:nvSpPr>
        <p:spPr>
          <a:xfrm>
            <a:off x="502920" y="804672"/>
            <a:ext cx="11064240" cy="502920"/>
          </a:xfrm>
          <a:prstGeom prst="rect">
            <a:avLst/>
          </a:prstGeom>
          <a:noFill/>
          <a:ln/>
        </p:spPr>
        <p:txBody>
          <a:bodyPr wrap="square" lIns="0" tIns="0" rIns="0" bIns="0" rtlCol="0" anchor="ctr">
            <a:normAutofit/>
          </a:bodyPr>
          <a:lstStyle/>
          <a:p>
            <a:pPr indent="0" marL="0">
              <a:buNone/>
            </a:pPr>
            <a:r>
              <a:rPr lang="en-US" sz="2700" b="1" dirty="0">
                <a:solidFill>
                  <a:srgbClr val="14213D"/>
                </a:solidFill>
                <a:latin typeface="Arial" pitchFamily="34" charset="0"/>
                <a:ea typeface="Arial" pitchFamily="34" charset="-122"/>
                <a:cs typeface="Arial" pitchFamily="34" charset="-120"/>
              </a:rPr>
              <a:t>Why build this system?</a:t>
            </a:r>
            <a:endParaRPr lang="en-US" sz="2700" dirty="0"/>
          </a:p>
        </p:txBody>
      </p:sp>
      <p:sp>
        <p:nvSpPr>
          <p:cNvPr id="6" name="Text 4"/>
          <p:cNvSpPr/>
          <p:nvPr/>
        </p:nvSpPr>
        <p:spPr>
          <a:xfrm>
            <a:off x="502920" y="1353312"/>
            <a:ext cx="10881360" cy="365760"/>
          </a:xfrm>
          <a:prstGeom prst="rect">
            <a:avLst/>
          </a:prstGeom>
          <a:noFill/>
          <a:ln/>
        </p:spPr>
        <p:txBody>
          <a:bodyPr wrap="square" lIns="0" tIns="0" rIns="0" bIns="0" rtlCol="0" anchor="ctr">
            <a:normAutofit/>
          </a:bodyPr>
          <a:lstStyle/>
          <a:p>
            <a:pPr indent="0" marL="0">
              <a:buNone/>
            </a:pPr>
            <a:r>
              <a:rPr lang="en-US" sz="1150" dirty="0">
                <a:solidFill>
                  <a:srgbClr val="5E708F"/>
                </a:solidFill>
                <a:latin typeface="Arial" pitchFamily="34" charset="0"/>
                <a:ea typeface="Arial" pitchFamily="34" charset="-122"/>
                <a:cs typeface="Arial" pitchFamily="34" charset="-120"/>
              </a:rPr>
              <a:t>Portable assets need monitoring, but dedicated IoT hardware adds cost and setup effort.</a:t>
            </a:r>
            <a:endParaRPr lang="en-US" sz="1150" dirty="0"/>
          </a:p>
        </p:txBody>
      </p:sp>
      <p:sp>
        <p:nvSpPr>
          <p:cNvPr id="7" name="Text 5"/>
          <p:cNvSpPr/>
          <p:nvPr/>
        </p:nvSpPr>
        <p:spPr>
          <a:xfrm>
            <a:off x="502920" y="6446520"/>
            <a:ext cx="2011680" cy="164592"/>
          </a:xfrm>
          <a:prstGeom prst="rect">
            <a:avLst/>
          </a:prstGeom>
          <a:noFill/>
          <a:ln/>
        </p:spPr>
        <p:txBody>
          <a:bodyPr wrap="square" lIns="0" tIns="0" rIns="0" bIns="0" rtlCol="0" anchor="ctr">
            <a:normAutofit/>
          </a:bodyPr>
          <a:lstStyle/>
          <a:p>
            <a:pPr indent="0" marL="0">
              <a:buNone/>
            </a:pPr>
            <a:r>
              <a:rPr lang="en-US" sz="800" b="1" dirty="0">
                <a:solidFill>
                  <a:srgbClr val="71819C"/>
                </a:solidFill>
                <a:latin typeface="Arial" pitchFamily="34" charset="0"/>
                <a:ea typeface="Arial" pitchFamily="34" charset="-122"/>
                <a:cs typeface="Arial" pitchFamily="34" charset="-120"/>
              </a:rPr>
              <a:t>FailureAntyTheft</a:t>
            </a:r>
            <a:endParaRPr lang="en-US" sz="800" dirty="0"/>
          </a:p>
        </p:txBody>
      </p:sp>
      <p:sp>
        <p:nvSpPr>
          <p:cNvPr id="8" name="Shape 6"/>
          <p:cNvSpPr/>
          <p:nvPr/>
        </p:nvSpPr>
        <p:spPr>
          <a:xfrm>
            <a:off x="502920" y="1892808"/>
            <a:ext cx="3749040" cy="4096512"/>
          </a:xfrm>
          <a:prstGeom prst="roundRect">
            <a:avLst>
              <a:gd name="adj" fmla="val 1951"/>
            </a:avLst>
          </a:prstGeom>
          <a:solidFill>
            <a:srgbClr val="FFFFFF"/>
          </a:solidFill>
          <a:ln w="12700">
            <a:solidFill>
              <a:srgbClr val="C9D5E5"/>
            </a:solidFill>
            <a:prstDash val="solid"/>
          </a:ln>
          <a:effectLst>
            <a:outerShdw sx="100000" sy="100000" kx="0" ky="0" algn="bl" rotWithShape="0" blurRad="25400" dist="50800" dir="2700000">
              <a:srgbClr val="000000">
                <a:alpha val="12000"/>
              </a:srgbClr>
            </a:outerShdw>
          </a:effectLst>
        </p:spPr>
      </p:sp>
      <p:sp>
        <p:nvSpPr>
          <p:cNvPr id="9" name="Text 7"/>
          <p:cNvSpPr/>
          <p:nvPr/>
        </p:nvSpPr>
        <p:spPr>
          <a:xfrm>
            <a:off x="795528" y="2176272"/>
            <a:ext cx="2560320" cy="320040"/>
          </a:xfrm>
          <a:prstGeom prst="rect">
            <a:avLst/>
          </a:prstGeom>
          <a:noFill/>
          <a:ln/>
        </p:spPr>
        <p:txBody>
          <a:bodyPr wrap="square" lIns="0" tIns="0" rIns="0" bIns="0" rtlCol="0" anchor="ctr">
            <a:normAutofit/>
          </a:bodyPr>
          <a:lstStyle/>
          <a:p>
            <a:pPr indent="0" marL="0">
              <a:buNone/>
            </a:pPr>
            <a:r>
              <a:rPr lang="en-US" sz="1800" b="1" dirty="0">
                <a:solidFill>
                  <a:srgbClr val="14213D"/>
                </a:solidFill>
                <a:latin typeface="Arial" pitchFamily="34" charset="0"/>
                <a:ea typeface="Arial" pitchFamily="34" charset="-122"/>
                <a:cs typeface="Arial" pitchFamily="34" charset="-120"/>
              </a:rPr>
              <a:t>The core problem</a:t>
            </a:r>
            <a:endParaRPr lang="en-US" sz="1800" dirty="0"/>
          </a:p>
        </p:txBody>
      </p:sp>
      <p:sp>
        <p:nvSpPr>
          <p:cNvPr id="10" name="Shape 8"/>
          <p:cNvSpPr/>
          <p:nvPr/>
        </p:nvSpPr>
        <p:spPr>
          <a:xfrm>
            <a:off x="822960" y="2843784"/>
            <a:ext cx="137160" cy="137160"/>
          </a:xfrm>
          <a:prstGeom prst="ellipse">
            <a:avLst/>
          </a:prstGeom>
          <a:solidFill>
            <a:srgbClr val="D64255"/>
          </a:solidFill>
          <a:ln w="12700">
            <a:solidFill>
              <a:srgbClr val="D64255"/>
            </a:solidFill>
            <a:prstDash val="solid"/>
          </a:ln>
        </p:spPr>
      </p:sp>
      <p:sp>
        <p:nvSpPr>
          <p:cNvPr id="11" name="Text 9"/>
          <p:cNvSpPr/>
          <p:nvPr/>
        </p:nvSpPr>
        <p:spPr>
          <a:xfrm>
            <a:off x="1078992" y="2715768"/>
            <a:ext cx="2852928" cy="237744"/>
          </a:xfrm>
          <a:prstGeom prst="rect">
            <a:avLst/>
          </a:prstGeom>
          <a:noFill/>
          <a:ln/>
        </p:spPr>
        <p:txBody>
          <a:bodyPr wrap="square" lIns="0" tIns="0" rIns="0" bIns="0" rtlCol="0" anchor="ctr">
            <a:normAutofit/>
          </a:bodyPr>
          <a:lstStyle/>
          <a:p>
            <a:pPr indent="0" marL="0">
              <a:buNone/>
            </a:pPr>
            <a:r>
              <a:rPr lang="en-US" sz="1250" b="1" dirty="0">
                <a:solidFill>
                  <a:srgbClr val="14213D"/>
                </a:solidFill>
                <a:latin typeface="Arial" pitchFamily="34" charset="0"/>
                <a:ea typeface="Arial" pitchFamily="34" charset="-122"/>
                <a:cs typeface="Arial" pitchFamily="34" charset="-120"/>
              </a:rPr>
              <a:t>Portable assets are easy to move</a:t>
            </a:r>
            <a:endParaRPr lang="en-US" sz="1250" dirty="0"/>
          </a:p>
        </p:txBody>
      </p:sp>
      <p:sp>
        <p:nvSpPr>
          <p:cNvPr id="12" name="Text 10"/>
          <p:cNvSpPr/>
          <p:nvPr/>
        </p:nvSpPr>
        <p:spPr>
          <a:xfrm>
            <a:off x="1078992" y="2962656"/>
            <a:ext cx="2852928" cy="493776"/>
          </a:xfrm>
          <a:prstGeom prst="rect">
            <a:avLst/>
          </a:prstGeom>
          <a:noFill/>
          <a:ln/>
        </p:spPr>
        <p:txBody>
          <a:bodyPr wrap="square" lIns="0" tIns="0" rIns="0" bIns="0" rtlCol="0" anchor="t">
            <a:normAutofit/>
          </a:bodyPr>
          <a:lstStyle/>
          <a:p>
            <a:pPr indent="0" marL="0">
              <a:buNone/>
            </a:pPr>
            <a:r>
              <a:rPr lang="en-US" sz="930" dirty="0">
                <a:solidFill>
                  <a:srgbClr val="5E708F"/>
                </a:solidFill>
                <a:latin typeface="Arial" pitchFamily="34" charset="0"/>
                <a:ea typeface="Arial" pitchFamily="34" charset="-122"/>
                <a:cs typeface="Arial" pitchFamily="34" charset="-120"/>
              </a:rPr>
              <a:t>Bags, drawers, bicycles and lab equipment may be unattended.</a:t>
            </a:r>
            <a:endParaRPr lang="en-US" sz="930" dirty="0"/>
          </a:p>
        </p:txBody>
      </p:sp>
      <p:sp>
        <p:nvSpPr>
          <p:cNvPr id="13" name="Shape 11"/>
          <p:cNvSpPr/>
          <p:nvPr/>
        </p:nvSpPr>
        <p:spPr>
          <a:xfrm>
            <a:off x="822960" y="3593592"/>
            <a:ext cx="137160" cy="137160"/>
          </a:xfrm>
          <a:prstGeom prst="ellipse">
            <a:avLst/>
          </a:prstGeom>
          <a:solidFill>
            <a:srgbClr val="D64255"/>
          </a:solidFill>
          <a:ln w="12700">
            <a:solidFill>
              <a:srgbClr val="D64255"/>
            </a:solidFill>
            <a:prstDash val="solid"/>
          </a:ln>
        </p:spPr>
      </p:sp>
      <p:sp>
        <p:nvSpPr>
          <p:cNvPr id="14" name="Text 12"/>
          <p:cNvSpPr/>
          <p:nvPr/>
        </p:nvSpPr>
        <p:spPr>
          <a:xfrm>
            <a:off x="1078992" y="3465576"/>
            <a:ext cx="2852928" cy="237744"/>
          </a:xfrm>
          <a:prstGeom prst="rect">
            <a:avLst/>
          </a:prstGeom>
          <a:noFill/>
          <a:ln/>
        </p:spPr>
        <p:txBody>
          <a:bodyPr wrap="square" lIns="0" tIns="0" rIns="0" bIns="0" rtlCol="0" anchor="ctr">
            <a:normAutofit/>
          </a:bodyPr>
          <a:lstStyle/>
          <a:p>
            <a:pPr indent="0" marL="0">
              <a:buNone/>
            </a:pPr>
            <a:r>
              <a:rPr lang="en-US" sz="1250" b="1" dirty="0">
                <a:solidFill>
                  <a:srgbClr val="14213D"/>
                </a:solidFill>
                <a:latin typeface="Arial" pitchFamily="34" charset="0"/>
                <a:ea typeface="Arial" pitchFamily="34" charset="-122"/>
                <a:cs typeface="Arial" pitchFamily="34" charset="-120"/>
              </a:rPr>
              <a:t>Raw sensor noise causes false alarms</a:t>
            </a:r>
            <a:endParaRPr lang="en-US" sz="1250" dirty="0"/>
          </a:p>
        </p:txBody>
      </p:sp>
      <p:sp>
        <p:nvSpPr>
          <p:cNvPr id="15" name="Text 13"/>
          <p:cNvSpPr/>
          <p:nvPr/>
        </p:nvSpPr>
        <p:spPr>
          <a:xfrm>
            <a:off x="1078992" y="3712464"/>
            <a:ext cx="2852928" cy="493776"/>
          </a:xfrm>
          <a:prstGeom prst="rect">
            <a:avLst/>
          </a:prstGeom>
          <a:noFill/>
          <a:ln/>
        </p:spPr>
        <p:txBody>
          <a:bodyPr wrap="square" lIns="0" tIns="0" rIns="0" bIns="0" rtlCol="0" anchor="t">
            <a:normAutofit/>
          </a:bodyPr>
          <a:lstStyle/>
          <a:p>
            <a:pPr indent="0" marL="0">
              <a:buNone/>
            </a:pPr>
            <a:r>
              <a:rPr lang="en-US" sz="930" dirty="0">
                <a:solidFill>
                  <a:srgbClr val="5E708F"/>
                </a:solidFill>
                <a:latin typeface="Arial" pitchFamily="34" charset="0"/>
                <a:ea typeface="Arial" pitchFamily="34" charset="-122"/>
                <a:cs typeface="Arial" pitchFamily="34" charset="-120"/>
              </a:rPr>
              <a:t>A useful detector must distinguish noise from sustained movement.</a:t>
            </a:r>
            <a:endParaRPr lang="en-US" sz="930" dirty="0"/>
          </a:p>
        </p:txBody>
      </p:sp>
      <p:sp>
        <p:nvSpPr>
          <p:cNvPr id="16" name="Shape 14"/>
          <p:cNvSpPr/>
          <p:nvPr/>
        </p:nvSpPr>
        <p:spPr>
          <a:xfrm>
            <a:off x="822960" y="4343400"/>
            <a:ext cx="137160" cy="137160"/>
          </a:xfrm>
          <a:prstGeom prst="ellipse">
            <a:avLst/>
          </a:prstGeom>
          <a:solidFill>
            <a:srgbClr val="D64255"/>
          </a:solidFill>
          <a:ln w="12700">
            <a:solidFill>
              <a:srgbClr val="D64255"/>
            </a:solidFill>
            <a:prstDash val="solid"/>
          </a:ln>
        </p:spPr>
      </p:sp>
      <p:sp>
        <p:nvSpPr>
          <p:cNvPr id="17" name="Text 15"/>
          <p:cNvSpPr/>
          <p:nvPr/>
        </p:nvSpPr>
        <p:spPr>
          <a:xfrm>
            <a:off x="1078992" y="4215384"/>
            <a:ext cx="2852928" cy="237744"/>
          </a:xfrm>
          <a:prstGeom prst="rect">
            <a:avLst/>
          </a:prstGeom>
          <a:noFill/>
          <a:ln/>
        </p:spPr>
        <p:txBody>
          <a:bodyPr wrap="square" lIns="0" tIns="0" rIns="0" bIns="0" rtlCol="0" anchor="ctr">
            <a:normAutofit/>
          </a:bodyPr>
          <a:lstStyle/>
          <a:p>
            <a:pPr indent="0" marL="0">
              <a:buNone/>
            </a:pPr>
            <a:r>
              <a:rPr lang="en-US" sz="1250" b="1" dirty="0">
                <a:solidFill>
                  <a:srgbClr val="14213D"/>
                </a:solidFill>
                <a:latin typeface="Arial" pitchFamily="34" charset="0"/>
                <a:ea typeface="Arial" pitchFamily="34" charset="-122"/>
                <a:cs typeface="Arial" pitchFamily="34" charset="-120"/>
              </a:rPr>
              <a:t>Commercial hardware is unnecessary</a:t>
            </a:r>
            <a:endParaRPr lang="en-US" sz="1250" dirty="0"/>
          </a:p>
        </p:txBody>
      </p:sp>
      <p:sp>
        <p:nvSpPr>
          <p:cNvPr id="18" name="Text 16"/>
          <p:cNvSpPr/>
          <p:nvPr/>
        </p:nvSpPr>
        <p:spPr>
          <a:xfrm>
            <a:off x="1078992" y="4462272"/>
            <a:ext cx="2852928" cy="493776"/>
          </a:xfrm>
          <a:prstGeom prst="rect">
            <a:avLst/>
          </a:prstGeom>
          <a:noFill/>
          <a:ln/>
        </p:spPr>
        <p:txBody>
          <a:bodyPr wrap="square" lIns="0" tIns="0" rIns="0" bIns="0" rtlCol="0" anchor="t">
            <a:normAutofit/>
          </a:bodyPr>
          <a:lstStyle/>
          <a:p>
            <a:pPr indent="0" marL="0">
              <a:buNone/>
            </a:pPr>
            <a:r>
              <a:rPr lang="en-US" sz="930" dirty="0">
                <a:solidFill>
                  <a:srgbClr val="5E708F"/>
                </a:solidFill>
                <a:latin typeface="Arial" pitchFamily="34" charset="0"/>
                <a:ea typeface="Arial" pitchFamily="34" charset="-122"/>
                <a:cs typeface="Arial" pitchFamily="34" charset="-120"/>
              </a:rPr>
              <a:t>Most smartphones already contain accelerometers, Wi-Fi and batteries.</a:t>
            </a:r>
            <a:endParaRPr lang="en-US" sz="930" dirty="0"/>
          </a:p>
        </p:txBody>
      </p:sp>
      <p:sp>
        <p:nvSpPr>
          <p:cNvPr id="19" name="Shape 17"/>
          <p:cNvSpPr/>
          <p:nvPr/>
        </p:nvSpPr>
        <p:spPr>
          <a:xfrm>
            <a:off x="822960" y="5093208"/>
            <a:ext cx="137160" cy="137160"/>
          </a:xfrm>
          <a:prstGeom prst="ellipse">
            <a:avLst/>
          </a:prstGeom>
          <a:solidFill>
            <a:srgbClr val="D64255"/>
          </a:solidFill>
          <a:ln w="12700">
            <a:solidFill>
              <a:srgbClr val="D64255"/>
            </a:solidFill>
            <a:prstDash val="solid"/>
          </a:ln>
        </p:spPr>
      </p:sp>
      <p:sp>
        <p:nvSpPr>
          <p:cNvPr id="20" name="Text 18"/>
          <p:cNvSpPr/>
          <p:nvPr/>
        </p:nvSpPr>
        <p:spPr>
          <a:xfrm>
            <a:off x="1078992" y="4965192"/>
            <a:ext cx="2852928" cy="237744"/>
          </a:xfrm>
          <a:prstGeom prst="rect">
            <a:avLst/>
          </a:prstGeom>
          <a:noFill/>
          <a:ln/>
        </p:spPr>
        <p:txBody>
          <a:bodyPr wrap="square" lIns="0" tIns="0" rIns="0" bIns="0" rtlCol="0" anchor="ctr">
            <a:normAutofit/>
          </a:bodyPr>
          <a:lstStyle/>
          <a:p>
            <a:pPr indent="0" marL="0">
              <a:buNone/>
            </a:pPr>
            <a:r>
              <a:rPr lang="en-US" sz="1250" b="1" dirty="0">
                <a:solidFill>
                  <a:srgbClr val="14213D"/>
                </a:solidFill>
                <a:latin typeface="Arial" pitchFamily="34" charset="0"/>
                <a:ea typeface="Arial" pitchFamily="34" charset="-122"/>
                <a:cs typeface="Arial" pitchFamily="34" charset="-120"/>
              </a:rPr>
              <a:t>Cloud dependence adds friction</a:t>
            </a:r>
            <a:endParaRPr lang="en-US" sz="1250" dirty="0"/>
          </a:p>
        </p:txBody>
      </p:sp>
      <p:sp>
        <p:nvSpPr>
          <p:cNvPr id="21" name="Text 19"/>
          <p:cNvSpPr/>
          <p:nvPr/>
        </p:nvSpPr>
        <p:spPr>
          <a:xfrm>
            <a:off x="1078992" y="5212080"/>
            <a:ext cx="2852928" cy="493776"/>
          </a:xfrm>
          <a:prstGeom prst="rect">
            <a:avLst/>
          </a:prstGeom>
          <a:noFill/>
          <a:ln/>
        </p:spPr>
        <p:txBody>
          <a:bodyPr wrap="square" lIns="0" tIns="0" rIns="0" bIns="0" rtlCol="0" anchor="t">
            <a:normAutofit/>
          </a:bodyPr>
          <a:lstStyle/>
          <a:p>
            <a:pPr indent="0" marL="0">
              <a:buNone/>
            </a:pPr>
            <a:r>
              <a:rPr lang="en-US" sz="930" dirty="0">
                <a:solidFill>
                  <a:srgbClr val="5E708F"/>
                </a:solidFill>
                <a:latin typeface="Arial" pitchFamily="34" charset="0"/>
                <a:ea typeface="Arial" pitchFamily="34" charset="-122"/>
                <a:cs typeface="Arial" pitchFamily="34" charset="-120"/>
              </a:rPr>
              <a:t>A classroom demo should work privately on a local network.</a:t>
            </a:r>
            <a:endParaRPr lang="en-US" sz="930" dirty="0"/>
          </a:p>
        </p:txBody>
      </p:sp>
      <p:sp>
        <p:nvSpPr>
          <p:cNvPr id="22" name="Text 20"/>
          <p:cNvSpPr/>
          <p:nvPr/>
        </p:nvSpPr>
        <p:spPr>
          <a:xfrm>
            <a:off x="4681728" y="2048256"/>
            <a:ext cx="2011680" cy="320040"/>
          </a:xfrm>
          <a:prstGeom prst="rect">
            <a:avLst/>
          </a:prstGeom>
          <a:noFill/>
          <a:ln/>
        </p:spPr>
        <p:txBody>
          <a:bodyPr wrap="square" lIns="0" tIns="0" rIns="0" bIns="0" rtlCol="0" anchor="ctr">
            <a:normAutofit/>
          </a:bodyPr>
          <a:lstStyle/>
          <a:p>
            <a:pPr indent="0" marL="0">
              <a:buNone/>
            </a:pPr>
            <a:r>
              <a:rPr lang="en-US" sz="1400" b="1" dirty="0">
                <a:solidFill>
                  <a:srgbClr val="078F68"/>
                </a:solidFill>
                <a:latin typeface="Arial" pitchFamily="34" charset="0"/>
                <a:ea typeface="Arial" pitchFamily="34" charset="-122"/>
                <a:cs typeface="Arial" pitchFamily="34" charset="-120"/>
              </a:rPr>
              <a:t>Opportunity</a:t>
            </a:r>
            <a:endParaRPr lang="en-US" sz="1400" dirty="0"/>
          </a:p>
        </p:txBody>
      </p:sp>
      <p:sp>
        <p:nvSpPr>
          <p:cNvPr id="23" name="Text 21"/>
          <p:cNvSpPr/>
          <p:nvPr/>
        </p:nvSpPr>
        <p:spPr>
          <a:xfrm>
            <a:off x="4681728" y="2450592"/>
            <a:ext cx="6126480" cy="502920"/>
          </a:xfrm>
          <a:prstGeom prst="rect">
            <a:avLst/>
          </a:prstGeom>
          <a:noFill/>
          <a:ln/>
        </p:spPr>
        <p:txBody>
          <a:bodyPr wrap="square" lIns="0" tIns="0" rIns="0" bIns="0" rtlCol="0" anchor="ctr">
            <a:normAutofit/>
          </a:bodyPr>
          <a:lstStyle/>
          <a:p>
            <a:pPr indent="0" marL="0">
              <a:buNone/>
            </a:pPr>
            <a:r>
              <a:rPr lang="en-US" sz="2500" b="1" dirty="0">
                <a:solidFill>
                  <a:srgbClr val="14213D"/>
                </a:solidFill>
                <a:latin typeface="Arial" pitchFamily="34" charset="0"/>
                <a:ea typeface="Arial" pitchFamily="34" charset="-122"/>
                <a:cs typeface="Arial" pitchFamily="34" charset="-120"/>
              </a:rPr>
              <a:t>Reuse hardware people already own</a:t>
            </a:r>
            <a:endParaRPr lang="en-US" sz="2500" dirty="0"/>
          </a:p>
        </p:txBody>
      </p:sp>
      <p:sp>
        <p:nvSpPr>
          <p:cNvPr id="24" name="Text 22"/>
          <p:cNvSpPr/>
          <p:nvPr/>
        </p:nvSpPr>
        <p:spPr>
          <a:xfrm>
            <a:off x="4681728" y="3026664"/>
            <a:ext cx="6309360" cy="475488"/>
          </a:xfrm>
          <a:prstGeom prst="rect">
            <a:avLst/>
          </a:prstGeom>
          <a:noFill/>
          <a:ln/>
        </p:spPr>
        <p:txBody>
          <a:bodyPr wrap="square" lIns="0" tIns="0" rIns="0" bIns="0" rtlCol="0" anchor="ctr">
            <a:normAutofit/>
          </a:bodyPr>
          <a:lstStyle/>
          <a:p>
            <a:pPr indent="0" marL="0">
              <a:buNone/>
            </a:pPr>
            <a:r>
              <a:rPr lang="en-US" sz="1300" dirty="0">
                <a:solidFill>
                  <a:srgbClr val="5E708F"/>
                </a:solidFill>
                <a:latin typeface="Arial" pitchFamily="34" charset="0"/>
                <a:ea typeface="Arial" pitchFamily="34" charset="-122"/>
                <a:cs typeface="Arial" pitchFamily="34" charset="-120"/>
              </a:rPr>
              <a:t>Turn a phone into a sensor node and a laptop into the complete local monitoring platform.</a:t>
            </a:r>
            <a:endParaRPr lang="en-US" sz="1300" dirty="0"/>
          </a:p>
        </p:txBody>
      </p:sp>
      <p:sp>
        <p:nvSpPr>
          <p:cNvPr id="25" name="Shape 23"/>
          <p:cNvSpPr/>
          <p:nvPr/>
        </p:nvSpPr>
        <p:spPr>
          <a:xfrm>
            <a:off x="4800600" y="3886200"/>
            <a:ext cx="1051560" cy="1737360"/>
          </a:xfrm>
          <a:prstGeom prst="roundRect">
            <a:avLst>
              <a:gd name="adj" fmla="val 6957"/>
            </a:avLst>
          </a:prstGeom>
          <a:solidFill>
            <a:srgbClr val="0B1424"/>
          </a:solidFill>
          <a:ln w="19050">
            <a:solidFill>
              <a:srgbClr val="118AB2"/>
            </a:solidFill>
            <a:prstDash val="solid"/>
          </a:ln>
          <a:effectLst>
            <a:outerShdw sx="100000" sy="100000" kx="0" ky="0" algn="bl" rotWithShape="0" blurRad="483870000" dist="645160000" dir="162000000000">
              <a:srgbClr val="356AE6">
                <a:alpha val="1800000000"/>
              </a:srgbClr>
            </a:outerShdw>
          </a:effectLst>
        </p:spPr>
      </p:sp>
      <p:sp>
        <p:nvSpPr>
          <p:cNvPr id="26" name="Shape 24"/>
          <p:cNvSpPr/>
          <p:nvPr/>
        </p:nvSpPr>
        <p:spPr>
          <a:xfrm>
            <a:off x="4919472" y="4206240"/>
            <a:ext cx="813816" cy="1170432"/>
          </a:xfrm>
          <a:prstGeom prst="roundRect">
            <a:avLst>
              <a:gd name="adj" fmla="val 8989"/>
            </a:avLst>
          </a:prstGeom>
          <a:solidFill>
            <a:srgbClr val="111F35"/>
          </a:solidFill>
          <a:ln w="12700">
            <a:solidFill>
              <a:srgbClr val="253957"/>
            </a:solidFill>
            <a:prstDash val="solid"/>
          </a:ln>
        </p:spPr>
      </p:sp>
      <p:sp>
        <p:nvSpPr>
          <p:cNvPr id="27" name="Shape 25"/>
          <p:cNvSpPr/>
          <p:nvPr/>
        </p:nvSpPr>
        <p:spPr>
          <a:xfrm>
            <a:off x="5147615" y="4005072"/>
            <a:ext cx="357530" cy="73152"/>
          </a:xfrm>
          <a:prstGeom prst="roundRect">
            <a:avLst>
              <a:gd name="adj" fmla="val 100000"/>
            </a:avLst>
          </a:prstGeom>
          <a:solidFill>
            <a:srgbClr val="118AB2"/>
          </a:solidFill>
          <a:ln w="12700">
            <a:solidFill>
              <a:srgbClr val="118AB2"/>
            </a:solidFill>
            <a:prstDash val="solid"/>
          </a:ln>
        </p:spPr>
      </p:sp>
      <p:sp>
        <p:nvSpPr>
          <p:cNvPr id="28" name="Shape 26"/>
          <p:cNvSpPr/>
          <p:nvPr/>
        </p:nvSpPr>
        <p:spPr>
          <a:xfrm>
            <a:off x="5262372" y="5440680"/>
            <a:ext cx="128016" cy="128016"/>
          </a:xfrm>
          <a:prstGeom prst="ellipse">
            <a:avLst/>
          </a:prstGeom>
          <a:solidFill>
            <a:srgbClr val="118AB2">
              <a:alpha val="95000"/>
            </a:srgbClr>
          </a:solidFill>
          <a:ln w="12700">
            <a:solidFill>
              <a:srgbClr val="118AB2">
                <a:alpha val="95000"/>
              </a:srgbClr>
            </a:solidFill>
            <a:prstDash val="solid"/>
          </a:ln>
        </p:spPr>
      </p:sp>
      <p:sp>
        <p:nvSpPr>
          <p:cNvPr id="29" name="Shape 27"/>
          <p:cNvSpPr/>
          <p:nvPr/>
        </p:nvSpPr>
        <p:spPr>
          <a:xfrm>
            <a:off x="5029200" y="4928616"/>
            <a:ext cx="189281" cy="-137160"/>
          </a:xfrm>
          <a:prstGeom prst="line">
            <a:avLst/>
          </a:prstGeom>
          <a:noFill/>
          <a:ln w="19050">
            <a:solidFill>
              <a:srgbClr val="078F68"/>
            </a:solidFill>
            <a:prstDash val="solid"/>
            <a:headEnd type="none"/>
            <a:tailEnd type="none"/>
          </a:ln>
        </p:spPr>
      </p:sp>
      <p:sp>
        <p:nvSpPr>
          <p:cNvPr id="30" name="Shape 28"/>
          <p:cNvSpPr/>
          <p:nvPr/>
        </p:nvSpPr>
        <p:spPr>
          <a:xfrm>
            <a:off x="5252771" y="4668012"/>
            <a:ext cx="189281" cy="201168"/>
          </a:xfrm>
          <a:prstGeom prst="line">
            <a:avLst/>
          </a:prstGeom>
          <a:noFill/>
          <a:ln w="19050">
            <a:solidFill>
              <a:srgbClr val="078F68"/>
            </a:solidFill>
            <a:prstDash val="solid"/>
            <a:headEnd type="none"/>
            <a:tailEnd type="none"/>
          </a:ln>
        </p:spPr>
      </p:sp>
      <p:sp>
        <p:nvSpPr>
          <p:cNvPr id="31" name="Shape 29"/>
          <p:cNvSpPr/>
          <p:nvPr/>
        </p:nvSpPr>
        <p:spPr>
          <a:xfrm>
            <a:off x="5442052" y="5050231"/>
            <a:ext cx="189281" cy="-320040"/>
          </a:xfrm>
          <a:prstGeom prst="line">
            <a:avLst/>
          </a:prstGeom>
          <a:noFill/>
          <a:ln w="19050">
            <a:solidFill>
              <a:srgbClr val="078F68"/>
            </a:solidFill>
            <a:prstDash val="solid"/>
            <a:headEnd type="none"/>
            <a:tailEnd type="none"/>
          </a:ln>
        </p:spPr>
      </p:sp>
      <p:sp>
        <p:nvSpPr>
          <p:cNvPr id="32" name="Shape 30"/>
          <p:cNvSpPr/>
          <p:nvPr/>
        </p:nvSpPr>
        <p:spPr>
          <a:xfrm>
            <a:off x="5998464" y="4745736"/>
            <a:ext cx="1143000" cy="0"/>
          </a:xfrm>
          <a:prstGeom prst="line">
            <a:avLst/>
          </a:prstGeom>
          <a:noFill/>
          <a:ln w="25400">
            <a:solidFill>
              <a:srgbClr val="356AE6"/>
            </a:solidFill>
            <a:prstDash val="solid"/>
            <a:headEnd type="none"/>
            <a:tailEnd type="triangle"/>
          </a:ln>
        </p:spPr>
      </p:sp>
      <p:sp>
        <p:nvSpPr>
          <p:cNvPr id="33" name="Shape 31"/>
          <p:cNvSpPr/>
          <p:nvPr/>
        </p:nvSpPr>
        <p:spPr>
          <a:xfrm>
            <a:off x="7269480" y="4078224"/>
            <a:ext cx="1920240" cy="1325880"/>
          </a:xfrm>
          <a:prstGeom prst="roundRect">
            <a:avLst>
              <a:gd name="adj" fmla="val 5517"/>
            </a:avLst>
          </a:prstGeom>
          <a:solidFill>
            <a:srgbClr val="FFFFFF"/>
          </a:solidFill>
          <a:ln w="12700">
            <a:solidFill>
              <a:srgbClr val="C9D5E5"/>
            </a:solidFill>
            <a:prstDash val="solid"/>
          </a:ln>
          <a:effectLst>
            <a:outerShdw sx="100000" sy="100000" kx="0" ky="0" algn="bl" rotWithShape="0" blurRad="322580000" dist="645160000" dir="162000000000">
              <a:srgbClr val="000000">
                <a:alpha val="1200000000"/>
              </a:srgbClr>
            </a:outerShdw>
          </a:effectLst>
        </p:spPr>
      </p:sp>
      <p:sp>
        <p:nvSpPr>
          <p:cNvPr id="34" name="Shape 32"/>
          <p:cNvSpPr/>
          <p:nvPr/>
        </p:nvSpPr>
        <p:spPr>
          <a:xfrm>
            <a:off x="7470648" y="4306824"/>
            <a:ext cx="402336" cy="402336"/>
          </a:xfrm>
          <a:prstGeom prst="ellipse">
            <a:avLst/>
          </a:prstGeom>
          <a:solidFill>
            <a:srgbClr val="7048CA">
              <a:alpha val="18000"/>
            </a:srgbClr>
          </a:solidFill>
          <a:ln w="12700">
            <a:solidFill>
              <a:srgbClr val="7048CA">
                <a:alpha val="18000"/>
              </a:srgbClr>
            </a:solidFill>
            <a:prstDash val="solid"/>
          </a:ln>
        </p:spPr>
      </p:sp>
      <p:sp>
        <p:nvSpPr>
          <p:cNvPr id="35" name="Text 33"/>
          <p:cNvSpPr/>
          <p:nvPr/>
        </p:nvSpPr>
        <p:spPr>
          <a:xfrm>
            <a:off x="7470648" y="4306824"/>
            <a:ext cx="402336" cy="402336"/>
          </a:xfrm>
          <a:prstGeom prst="rect">
            <a:avLst/>
          </a:prstGeom>
          <a:noFill/>
          <a:ln/>
        </p:spPr>
        <p:txBody>
          <a:bodyPr wrap="square" lIns="0" tIns="0" rIns="0" bIns="0" rtlCol="0" anchor="ctr">
            <a:normAutofit/>
          </a:bodyPr>
          <a:lstStyle/>
          <a:p>
            <a:pPr algn="ctr" indent="0" marL="0">
              <a:buNone/>
            </a:pPr>
            <a:r>
              <a:rPr lang="en-US" sz="1600" b="1" dirty="0">
                <a:solidFill>
                  <a:srgbClr val="7048CA"/>
                </a:solidFill>
                <a:latin typeface="Arial" pitchFamily="34" charset="0"/>
                <a:ea typeface="Arial" pitchFamily="34" charset="-122"/>
                <a:cs typeface="Arial" pitchFamily="34" charset="-120"/>
              </a:rPr>
              <a:t>≋</a:t>
            </a:r>
            <a:endParaRPr lang="en-US" sz="1600" dirty="0"/>
          </a:p>
        </p:txBody>
      </p:sp>
      <p:sp>
        <p:nvSpPr>
          <p:cNvPr id="36" name="Text 34"/>
          <p:cNvSpPr/>
          <p:nvPr/>
        </p:nvSpPr>
        <p:spPr>
          <a:xfrm>
            <a:off x="7982712" y="4242816"/>
            <a:ext cx="1042416" cy="310896"/>
          </a:xfrm>
          <a:prstGeom prst="rect">
            <a:avLst/>
          </a:prstGeom>
          <a:noFill/>
          <a:ln/>
        </p:spPr>
        <p:txBody>
          <a:bodyPr wrap="square" lIns="0" tIns="0" rIns="0" bIns="0" rtlCol="0" anchor="ctr">
            <a:normAutofit/>
          </a:bodyPr>
          <a:lstStyle/>
          <a:p>
            <a:pPr indent="0" marL="0">
              <a:buNone/>
            </a:pPr>
            <a:r>
              <a:rPr lang="en-US" sz="1300" b="1" dirty="0">
                <a:solidFill>
                  <a:srgbClr val="14213D"/>
                </a:solidFill>
                <a:latin typeface="Arial" pitchFamily="34" charset="0"/>
                <a:ea typeface="Arial" pitchFamily="34" charset="-122"/>
                <a:cs typeface="Arial" pitchFamily="34" charset="-120"/>
              </a:rPr>
              <a:t>Local server</a:t>
            </a:r>
            <a:endParaRPr lang="en-US" sz="1300" dirty="0"/>
          </a:p>
        </p:txBody>
      </p:sp>
      <p:sp>
        <p:nvSpPr>
          <p:cNvPr id="37" name="Text 35"/>
          <p:cNvSpPr/>
          <p:nvPr/>
        </p:nvSpPr>
        <p:spPr>
          <a:xfrm>
            <a:off x="7982712" y="4581144"/>
            <a:ext cx="1042416" cy="704088"/>
          </a:xfrm>
          <a:prstGeom prst="rect">
            <a:avLst/>
          </a:prstGeom>
          <a:noFill/>
          <a:ln/>
        </p:spPr>
        <p:txBody>
          <a:bodyPr wrap="square" lIns="0" tIns="0" rIns="0" bIns="0" rtlCol="0" anchor="t">
            <a:normAutofit/>
          </a:bodyPr>
          <a:lstStyle/>
          <a:p>
            <a:pPr indent="0" marL="0">
              <a:buNone/>
            </a:pPr>
            <a:r>
              <a:rPr lang="en-US" sz="950" dirty="0">
                <a:solidFill>
                  <a:srgbClr val="5E708F"/>
                </a:solidFill>
                <a:latin typeface="Arial" pitchFamily="34" charset="0"/>
                <a:ea typeface="Arial" pitchFamily="34" charset="-122"/>
                <a:cs typeface="Arial" pitchFamily="34" charset="-120"/>
              </a:rPr>
              <a:t>Collect, detect, store</a:t>
            </a:r>
            <a:endParaRPr lang="en-US" sz="950" dirty="0"/>
          </a:p>
        </p:txBody>
      </p:sp>
      <p:sp>
        <p:nvSpPr>
          <p:cNvPr id="38" name="Shape 36"/>
          <p:cNvSpPr/>
          <p:nvPr/>
        </p:nvSpPr>
        <p:spPr>
          <a:xfrm>
            <a:off x="9326880" y="4745736"/>
            <a:ext cx="914400" cy="0"/>
          </a:xfrm>
          <a:prstGeom prst="line">
            <a:avLst/>
          </a:prstGeom>
          <a:noFill/>
          <a:ln w="25400">
            <a:solidFill>
              <a:srgbClr val="356AE6"/>
            </a:solidFill>
            <a:prstDash val="solid"/>
            <a:headEnd type="none"/>
            <a:tailEnd type="triangle"/>
          </a:ln>
        </p:spPr>
      </p:sp>
      <p:sp>
        <p:nvSpPr>
          <p:cNvPr id="39" name="Shape 37"/>
          <p:cNvSpPr/>
          <p:nvPr/>
        </p:nvSpPr>
        <p:spPr>
          <a:xfrm>
            <a:off x="10332720" y="4078224"/>
            <a:ext cx="1353312" cy="1325880"/>
          </a:xfrm>
          <a:prstGeom prst="roundRect">
            <a:avLst>
              <a:gd name="adj" fmla="val 5517"/>
            </a:avLst>
          </a:prstGeom>
          <a:solidFill>
            <a:srgbClr val="FFFFFF"/>
          </a:solidFill>
          <a:ln w="12700">
            <a:solidFill>
              <a:srgbClr val="C9D5E5"/>
            </a:solidFill>
            <a:prstDash val="solid"/>
          </a:ln>
          <a:effectLst>
            <a:outerShdw sx="100000" sy="100000" kx="0" ky="0" algn="bl" rotWithShape="0" blurRad="4096766000000" dist="8193532000000" dir="9720000000000000">
              <a:srgbClr val="000000">
                <a:alpha val="120000000000000"/>
              </a:srgbClr>
            </a:outerShdw>
          </a:effectLst>
        </p:spPr>
      </p:sp>
      <p:sp>
        <p:nvSpPr>
          <p:cNvPr id="40" name="Shape 38"/>
          <p:cNvSpPr/>
          <p:nvPr/>
        </p:nvSpPr>
        <p:spPr>
          <a:xfrm>
            <a:off x="10533888" y="4306824"/>
            <a:ext cx="402336" cy="402336"/>
          </a:xfrm>
          <a:prstGeom prst="ellipse">
            <a:avLst/>
          </a:prstGeom>
          <a:solidFill>
            <a:srgbClr val="D64255">
              <a:alpha val="18000"/>
            </a:srgbClr>
          </a:solidFill>
          <a:ln w="12700">
            <a:solidFill>
              <a:srgbClr val="D64255">
                <a:alpha val="18000"/>
              </a:srgbClr>
            </a:solidFill>
            <a:prstDash val="solid"/>
          </a:ln>
        </p:spPr>
      </p:sp>
      <p:sp>
        <p:nvSpPr>
          <p:cNvPr id="41" name="Text 39"/>
          <p:cNvSpPr/>
          <p:nvPr/>
        </p:nvSpPr>
        <p:spPr>
          <a:xfrm>
            <a:off x="10533888" y="4306824"/>
            <a:ext cx="402336" cy="402336"/>
          </a:xfrm>
          <a:prstGeom prst="rect">
            <a:avLst/>
          </a:prstGeom>
          <a:noFill/>
          <a:ln/>
        </p:spPr>
        <p:txBody>
          <a:bodyPr wrap="square" lIns="0" tIns="0" rIns="0" bIns="0" rtlCol="0" anchor="ctr">
            <a:normAutofit/>
          </a:bodyPr>
          <a:lstStyle/>
          <a:p>
            <a:pPr algn="ctr" indent="0" marL="0">
              <a:buNone/>
            </a:pPr>
            <a:r>
              <a:rPr lang="en-US" sz="1600" b="1" dirty="0">
                <a:solidFill>
                  <a:srgbClr val="D64255"/>
                </a:solidFill>
                <a:latin typeface="Arial" pitchFamily="34" charset="0"/>
                <a:ea typeface="Arial" pitchFamily="34" charset="-122"/>
                <a:cs typeface="Arial" pitchFamily="34" charset="-120"/>
              </a:rPr>
              <a:t>!</a:t>
            </a:r>
            <a:endParaRPr lang="en-US" sz="1600" dirty="0"/>
          </a:p>
        </p:txBody>
      </p:sp>
      <p:sp>
        <p:nvSpPr>
          <p:cNvPr id="42" name="Text 40"/>
          <p:cNvSpPr/>
          <p:nvPr/>
        </p:nvSpPr>
        <p:spPr>
          <a:xfrm>
            <a:off x="11045952" y="4242816"/>
            <a:ext cx="475488" cy="310896"/>
          </a:xfrm>
          <a:prstGeom prst="rect">
            <a:avLst/>
          </a:prstGeom>
          <a:noFill/>
          <a:ln/>
        </p:spPr>
        <p:txBody>
          <a:bodyPr wrap="square" lIns="0" tIns="0" rIns="0" bIns="0" rtlCol="0" anchor="ctr">
            <a:normAutofit/>
          </a:bodyPr>
          <a:lstStyle/>
          <a:p>
            <a:pPr indent="0" marL="0">
              <a:buNone/>
            </a:pPr>
            <a:r>
              <a:rPr lang="en-US" sz="1300" b="1" dirty="0">
                <a:solidFill>
                  <a:srgbClr val="14213D"/>
                </a:solidFill>
                <a:latin typeface="Arial" pitchFamily="34" charset="0"/>
                <a:ea typeface="Arial" pitchFamily="34" charset="-122"/>
                <a:cs typeface="Arial" pitchFamily="34" charset="-120"/>
              </a:rPr>
              <a:t>Alert</a:t>
            </a:r>
            <a:endParaRPr lang="en-US" sz="1300" dirty="0"/>
          </a:p>
        </p:txBody>
      </p:sp>
      <p:sp>
        <p:nvSpPr>
          <p:cNvPr id="43" name="Text 41"/>
          <p:cNvSpPr/>
          <p:nvPr/>
        </p:nvSpPr>
        <p:spPr>
          <a:xfrm>
            <a:off x="11045952" y="4581144"/>
            <a:ext cx="475488" cy="704088"/>
          </a:xfrm>
          <a:prstGeom prst="rect">
            <a:avLst/>
          </a:prstGeom>
          <a:noFill/>
          <a:ln/>
        </p:spPr>
        <p:txBody>
          <a:bodyPr wrap="square" lIns="0" tIns="0" rIns="0" bIns="0" rtlCol="0" anchor="t">
            <a:normAutofit/>
          </a:bodyPr>
          <a:lstStyle/>
          <a:p>
            <a:pPr indent="0" marL="0">
              <a:buNone/>
            </a:pPr>
            <a:r>
              <a:rPr lang="en-US" sz="950" dirty="0">
                <a:solidFill>
                  <a:srgbClr val="5E708F"/>
                </a:solidFill>
                <a:latin typeface="Arial" pitchFamily="34" charset="0"/>
                <a:ea typeface="Arial" pitchFamily="34" charset="-122"/>
                <a:cs typeface="Arial" pitchFamily="34" charset="-120"/>
              </a:rPr>
              <a:t>See + hear</a:t>
            </a:r>
            <a:endParaRPr lang="en-US" sz="950" dirty="0"/>
          </a:p>
        </p:txBody>
      </p:sp>
      <p:sp>
        <p:nvSpPr>
          <p:cNvPr id="44" name="Shape 42"/>
          <p:cNvSpPr/>
          <p:nvPr/>
        </p:nvSpPr>
        <p:spPr>
          <a:xfrm>
            <a:off x="4709160" y="5696712"/>
            <a:ext cx="1143000" cy="310896"/>
          </a:xfrm>
          <a:prstGeom prst="roundRect">
            <a:avLst>
              <a:gd name="adj" fmla="val 23529"/>
            </a:avLst>
          </a:prstGeom>
          <a:solidFill>
            <a:srgbClr val="EEF3FA"/>
          </a:solidFill>
          <a:ln w="12700">
            <a:solidFill>
              <a:srgbClr val="078F68"/>
            </a:solidFill>
            <a:prstDash val="solid"/>
          </a:ln>
        </p:spPr>
      </p:sp>
      <p:sp>
        <p:nvSpPr>
          <p:cNvPr id="45" name="Text 43"/>
          <p:cNvSpPr/>
          <p:nvPr/>
        </p:nvSpPr>
        <p:spPr>
          <a:xfrm>
            <a:off x="4782312" y="5715000"/>
            <a:ext cx="996696" cy="256032"/>
          </a:xfrm>
          <a:prstGeom prst="rect">
            <a:avLst/>
          </a:prstGeom>
          <a:noFill/>
          <a:ln/>
        </p:spPr>
        <p:txBody>
          <a:bodyPr wrap="square" lIns="0" tIns="0" rIns="0" bIns="0" rtlCol="0" anchor="ctr">
            <a:normAutofit/>
          </a:bodyPr>
          <a:lstStyle/>
          <a:p>
            <a:pPr algn="ctr" indent="0" marL="0">
              <a:buNone/>
            </a:pPr>
            <a:r>
              <a:rPr lang="en-US" sz="900" b="1" spc="70" kern="0" dirty="0">
                <a:solidFill>
                  <a:srgbClr val="078F68"/>
                </a:solidFill>
                <a:latin typeface="Arial" pitchFamily="34" charset="0"/>
                <a:ea typeface="Arial" pitchFamily="34" charset="-122"/>
                <a:cs typeface="Arial" pitchFamily="34" charset="-120"/>
              </a:rPr>
              <a:t>LOW COST</a:t>
            </a:r>
            <a:endParaRPr lang="en-US" sz="900" dirty="0"/>
          </a:p>
        </p:txBody>
      </p:sp>
      <p:sp>
        <p:nvSpPr>
          <p:cNvPr id="46" name="Shape 44"/>
          <p:cNvSpPr/>
          <p:nvPr/>
        </p:nvSpPr>
        <p:spPr>
          <a:xfrm>
            <a:off x="5980176" y="5696712"/>
            <a:ext cx="1298448" cy="310896"/>
          </a:xfrm>
          <a:prstGeom prst="roundRect">
            <a:avLst>
              <a:gd name="adj" fmla="val 23529"/>
            </a:avLst>
          </a:prstGeom>
          <a:solidFill>
            <a:srgbClr val="EEF3FA"/>
          </a:solidFill>
          <a:ln w="12700">
            <a:solidFill>
              <a:srgbClr val="426EDC"/>
            </a:solidFill>
            <a:prstDash val="solid"/>
          </a:ln>
        </p:spPr>
      </p:sp>
      <p:sp>
        <p:nvSpPr>
          <p:cNvPr id="47" name="Text 45"/>
          <p:cNvSpPr/>
          <p:nvPr/>
        </p:nvSpPr>
        <p:spPr>
          <a:xfrm>
            <a:off x="6053328" y="5715000"/>
            <a:ext cx="1152144" cy="256032"/>
          </a:xfrm>
          <a:prstGeom prst="rect">
            <a:avLst/>
          </a:prstGeom>
          <a:noFill/>
          <a:ln/>
        </p:spPr>
        <p:txBody>
          <a:bodyPr wrap="square" lIns="0" tIns="0" rIns="0" bIns="0" rtlCol="0" anchor="ctr">
            <a:normAutofit/>
          </a:bodyPr>
          <a:lstStyle/>
          <a:p>
            <a:pPr algn="ctr" indent="0" marL="0">
              <a:buNone/>
            </a:pPr>
            <a:r>
              <a:rPr lang="en-US" sz="900" b="1" spc="70" kern="0" dirty="0">
                <a:solidFill>
                  <a:srgbClr val="426EDC"/>
                </a:solidFill>
                <a:latin typeface="Arial" pitchFamily="34" charset="0"/>
                <a:ea typeface="Arial" pitchFamily="34" charset="-122"/>
                <a:cs typeface="Arial" pitchFamily="34" charset="-120"/>
              </a:rPr>
              <a:t>PRIVATE LAN</a:t>
            </a:r>
            <a:endParaRPr lang="en-US" sz="900" dirty="0"/>
          </a:p>
        </p:txBody>
      </p:sp>
      <p:sp>
        <p:nvSpPr>
          <p:cNvPr id="48" name="Shape 46"/>
          <p:cNvSpPr/>
          <p:nvPr/>
        </p:nvSpPr>
        <p:spPr>
          <a:xfrm>
            <a:off x="7406640" y="5696712"/>
            <a:ext cx="1143000" cy="310896"/>
          </a:xfrm>
          <a:prstGeom prst="roundRect">
            <a:avLst>
              <a:gd name="adj" fmla="val 23529"/>
            </a:avLst>
          </a:prstGeom>
          <a:solidFill>
            <a:srgbClr val="EEF3FA"/>
          </a:solidFill>
          <a:ln w="12700">
            <a:solidFill>
              <a:srgbClr val="7048CA"/>
            </a:solidFill>
            <a:prstDash val="solid"/>
          </a:ln>
        </p:spPr>
      </p:sp>
      <p:sp>
        <p:nvSpPr>
          <p:cNvPr id="49" name="Text 47"/>
          <p:cNvSpPr/>
          <p:nvPr/>
        </p:nvSpPr>
        <p:spPr>
          <a:xfrm>
            <a:off x="7479792" y="5715000"/>
            <a:ext cx="996696" cy="256032"/>
          </a:xfrm>
          <a:prstGeom prst="rect">
            <a:avLst/>
          </a:prstGeom>
          <a:noFill/>
          <a:ln/>
        </p:spPr>
        <p:txBody>
          <a:bodyPr wrap="square" lIns="0" tIns="0" rIns="0" bIns="0" rtlCol="0" anchor="ctr">
            <a:normAutofit/>
          </a:bodyPr>
          <a:lstStyle/>
          <a:p>
            <a:pPr algn="ctr" indent="0" marL="0">
              <a:buNone/>
            </a:pPr>
            <a:r>
              <a:rPr lang="en-US" sz="900" b="1" spc="70" kern="0" dirty="0">
                <a:solidFill>
                  <a:srgbClr val="7048CA"/>
                </a:solidFill>
                <a:latin typeface="Arial" pitchFamily="34" charset="0"/>
                <a:ea typeface="Arial" pitchFamily="34" charset="-122"/>
                <a:cs typeface="Arial" pitchFamily="34" charset="-120"/>
              </a:rPr>
              <a:t>REUSABLE</a:t>
            </a:r>
            <a:endParaRPr lang="en-US" sz="900" dirty="0"/>
          </a:p>
        </p:txBody>
      </p:sp>
      <p:sp>
        <p:nvSpPr>
          <p:cNvPr id="25" name="Slide Number Placeholder 0"/>
          <p:cNvSpPr>
            <a:spLocks noGrp="1"/>
          </p:cNvSpPr>
          <p:nvPr>
            <p:ph type="sldNum" sz="quarter" idx="4294967295"/>
          </p:nvPr>
        </p:nvSpPr>
        <p:spPr>
          <a:xfrm>
            <a:off x="11384280" y="6446520"/>
            <a:ext cx="320040" cy="164592"/>
          </a:xfrm>
          <a:prstGeom prst="rect">
            <a:avLst/>
          </a:prstGeom>
          <a:extLst>
            <a:ext uri="{C572A759-6A51-4108-AA02-DFA0A04FC94B}">
              <ma14:wrappingTextBoxFlag xmlns:ma14="http://schemas.microsoft.com/office/mac/drawingml/2011/main" val="0"/>
            </a:ext>
          </a:extLst>
        </p:spPr>
        <p:txBody>
          <a:bodyPr/>
          <a:lstStyle>
            <a:lvl1pPr>
              <a:defRPr sz="800">
                <a:solidFill>
                  <a:srgbClr val="71819C"/>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02920" y="384048"/>
            <a:ext cx="384048" cy="274320"/>
          </a:xfrm>
          <a:prstGeom prst="rect">
            <a:avLst/>
          </a:prstGeom>
          <a:noFill/>
          <a:ln/>
        </p:spPr>
        <p:txBody>
          <a:bodyPr wrap="square" lIns="0" tIns="0" rIns="0" bIns="0" rtlCol="0" anchor="ctr">
            <a:normAutofit/>
          </a:bodyPr>
          <a:lstStyle/>
          <a:p>
            <a:pPr indent="0" marL="0">
              <a:buNone/>
            </a:pPr>
            <a:r>
              <a:rPr lang="en-US" sz="1000" b="1" spc="120" kern="0" dirty="0">
                <a:solidFill>
                  <a:srgbClr val="426EDC"/>
                </a:solidFill>
                <a:latin typeface="Arial" pitchFamily="34" charset="0"/>
                <a:ea typeface="Arial" pitchFamily="34" charset="-122"/>
                <a:cs typeface="Arial" pitchFamily="34" charset="-120"/>
              </a:rPr>
              <a:t>03</a:t>
            </a:r>
            <a:endParaRPr lang="en-US" sz="1000" dirty="0"/>
          </a:p>
        </p:txBody>
      </p:sp>
      <p:sp>
        <p:nvSpPr>
          <p:cNvPr id="3" name="Shape 1"/>
          <p:cNvSpPr/>
          <p:nvPr/>
        </p:nvSpPr>
        <p:spPr>
          <a:xfrm>
            <a:off x="896112" y="521208"/>
            <a:ext cx="502920" cy="0"/>
          </a:xfrm>
          <a:prstGeom prst="line">
            <a:avLst/>
          </a:prstGeom>
          <a:noFill/>
          <a:ln w="12700">
            <a:solidFill>
              <a:srgbClr val="C9D5E5"/>
            </a:solidFill>
            <a:prstDash val="solid"/>
            <a:headEnd type="none"/>
            <a:tailEnd type="none"/>
          </a:ln>
        </p:spPr>
      </p:sp>
      <p:sp>
        <p:nvSpPr>
          <p:cNvPr id="4" name="Text 2"/>
          <p:cNvSpPr/>
          <p:nvPr/>
        </p:nvSpPr>
        <p:spPr>
          <a:xfrm>
            <a:off x="1527048" y="365760"/>
            <a:ext cx="3291840" cy="292608"/>
          </a:xfrm>
          <a:prstGeom prst="rect">
            <a:avLst/>
          </a:prstGeom>
          <a:noFill/>
          <a:ln/>
        </p:spPr>
        <p:txBody>
          <a:bodyPr wrap="square" lIns="0" tIns="0" rIns="0" bIns="0" rtlCol="0" anchor="ctr">
            <a:normAutofit/>
          </a:bodyPr>
          <a:lstStyle/>
          <a:p>
            <a:pPr indent="0" marL="0">
              <a:buNone/>
            </a:pPr>
            <a:r>
              <a:rPr lang="en-US" sz="900" b="1" spc="150" kern="0" dirty="0">
                <a:solidFill>
                  <a:srgbClr val="426EDC"/>
                </a:solidFill>
                <a:latin typeface="Arial" pitchFamily="34" charset="0"/>
                <a:ea typeface="Arial" pitchFamily="34" charset="-122"/>
                <a:cs typeface="Arial" pitchFamily="34" charset="-120"/>
              </a:rPr>
              <a:t>SOLUTION OVERVIEW</a:t>
            </a:r>
            <a:endParaRPr lang="en-US" sz="900" dirty="0"/>
          </a:p>
        </p:txBody>
      </p:sp>
      <p:sp>
        <p:nvSpPr>
          <p:cNvPr id="5" name="Text 3"/>
          <p:cNvSpPr/>
          <p:nvPr/>
        </p:nvSpPr>
        <p:spPr>
          <a:xfrm>
            <a:off x="502920" y="804672"/>
            <a:ext cx="11064240" cy="502920"/>
          </a:xfrm>
          <a:prstGeom prst="rect">
            <a:avLst/>
          </a:prstGeom>
          <a:noFill/>
          <a:ln/>
        </p:spPr>
        <p:txBody>
          <a:bodyPr wrap="square" lIns="0" tIns="0" rIns="0" bIns="0" rtlCol="0" anchor="ctr">
            <a:normAutofit/>
          </a:bodyPr>
          <a:lstStyle/>
          <a:p>
            <a:pPr indent="0" marL="0">
              <a:buNone/>
            </a:pPr>
            <a:r>
              <a:rPr lang="en-US" sz="2700" b="1" dirty="0">
                <a:solidFill>
                  <a:srgbClr val="14213D"/>
                </a:solidFill>
                <a:latin typeface="Arial" pitchFamily="34" charset="0"/>
                <a:ea typeface="Arial" pitchFamily="34" charset="-122"/>
                <a:cs typeface="Arial" pitchFamily="34" charset="-120"/>
              </a:rPr>
              <a:t>One phone. One local server. One clear response.</a:t>
            </a:r>
            <a:endParaRPr lang="en-US" sz="2700" dirty="0"/>
          </a:p>
        </p:txBody>
      </p:sp>
      <p:sp>
        <p:nvSpPr>
          <p:cNvPr id="6" name="Text 4"/>
          <p:cNvSpPr/>
          <p:nvPr/>
        </p:nvSpPr>
        <p:spPr>
          <a:xfrm>
            <a:off x="502920" y="1353312"/>
            <a:ext cx="10881360" cy="365760"/>
          </a:xfrm>
          <a:prstGeom prst="rect">
            <a:avLst/>
          </a:prstGeom>
          <a:noFill/>
          <a:ln/>
        </p:spPr>
        <p:txBody>
          <a:bodyPr wrap="square" lIns="0" tIns="0" rIns="0" bIns="0" rtlCol="0" anchor="ctr">
            <a:normAutofit/>
          </a:bodyPr>
          <a:lstStyle/>
          <a:p>
            <a:pPr indent="0" marL="0">
              <a:buNone/>
            </a:pPr>
            <a:r>
              <a:rPr lang="en-US" sz="1150" dirty="0">
                <a:solidFill>
                  <a:srgbClr val="5E708F"/>
                </a:solidFill>
                <a:latin typeface="Arial" pitchFamily="34" charset="0"/>
                <a:ea typeface="Arial" pitchFamily="34" charset="-122"/>
                <a:cs typeface="Arial" pitchFamily="34" charset="-120"/>
              </a:rPr>
              <a:t>FailureAntyTheft covers the complete IoT loop: sense, communicate, process, store, visualize and act.</a:t>
            </a:r>
            <a:endParaRPr lang="en-US" sz="1150" dirty="0"/>
          </a:p>
        </p:txBody>
      </p:sp>
      <p:sp>
        <p:nvSpPr>
          <p:cNvPr id="7" name="Text 5"/>
          <p:cNvSpPr/>
          <p:nvPr/>
        </p:nvSpPr>
        <p:spPr>
          <a:xfrm>
            <a:off x="502920" y="6446520"/>
            <a:ext cx="2011680" cy="164592"/>
          </a:xfrm>
          <a:prstGeom prst="rect">
            <a:avLst/>
          </a:prstGeom>
          <a:noFill/>
          <a:ln/>
        </p:spPr>
        <p:txBody>
          <a:bodyPr wrap="square" lIns="0" tIns="0" rIns="0" bIns="0" rtlCol="0" anchor="ctr">
            <a:normAutofit/>
          </a:bodyPr>
          <a:lstStyle/>
          <a:p>
            <a:pPr indent="0" marL="0">
              <a:buNone/>
            </a:pPr>
            <a:r>
              <a:rPr lang="en-US" sz="800" b="1" dirty="0">
                <a:solidFill>
                  <a:srgbClr val="71819C"/>
                </a:solidFill>
                <a:latin typeface="Arial" pitchFamily="34" charset="0"/>
                <a:ea typeface="Arial" pitchFamily="34" charset="-122"/>
                <a:cs typeface="Arial" pitchFamily="34" charset="-120"/>
              </a:rPr>
              <a:t>FailureAntyTheft</a:t>
            </a:r>
            <a:endParaRPr lang="en-US" sz="800" dirty="0"/>
          </a:p>
        </p:txBody>
      </p:sp>
      <p:sp>
        <p:nvSpPr>
          <p:cNvPr id="8" name="Shape 6"/>
          <p:cNvSpPr/>
          <p:nvPr/>
        </p:nvSpPr>
        <p:spPr>
          <a:xfrm>
            <a:off x="502920" y="1993392"/>
            <a:ext cx="3255264" cy="2377440"/>
          </a:xfrm>
          <a:prstGeom prst="roundRect">
            <a:avLst>
              <a:gd name="adj" fmla="val 3077"/>
            </a:avLst>
          </a:prstGeom>
          <a:solidFill>
            <a:srgbClr val="FFFFFF"/>
          </a:solidFill>
          <a:ln w="12700">
            <a:solidFill>
              <a:srgbClr val="C9D5E5"/>
            </a:solidFill>
            <a:prstDash val="solid"/>
          </a:ln>
          <a:effectLst>
            <a:outerShdw sx="100000" sy="100000" kx="0" ky="0" algn="bl" rotWithShape="0" blurRad="52028928200000000" dist="104057856400000000" dir="583200000000000000000">
              <a:srgbClr val="000000">
                <a:alpha val="12000000000000000000"/>
              </a:srgbClr>
            </a:outerShdw>
          </a:effectLst>
        </p:spPr>
      </p:sp>
      <p:sp>
        <p:nvSpPr>
          <p:cNvPr id="9" name="Shape 7"/>
          <p:cNvSpPr/>
          <p:nvPr/>
        </p:nvSpPr>
        <p:spPr>
          <a:xfrm>
            <a:off x="777240" y="2267712"/>
            <a:ext cx="530352" cy="530352"/>
          </a:xfrm>
          <a:prstGeom prst="ellipse">
            <a:avLst/>
          </a:prstGeom>
          <a:solidFill>
            <a:srgbClr val="118AB2">
              <a:alpha val="16000"/>
            </a:srgbClr>
          </a:solidFill>
          <a:ln w="12700">
            <a:solidFill>
              <a:srgbClr val="118AB2">
                <a:alpha val="16000"/>
              </a:srgbClr>
            </a:solidFill>
            <a:prstDash val="solid"/>
          </a:ln>
        </p:spPr>
      </p:sp>
      <p:sp>
        <p:nvSpPr>
          <p:cNvPr id="10" name="Text 8"/>
          <p:cNvSpPr/>
          <p:nvPr/>
        </p:nvSpPr>
        <p:spPr>
          <a:xfrm>
            <a:off x="777240" y="2267712"/>
            <a:ext cx="530352" cy="530352"/>
          </a:xfrm>
          <a:prstGeom prst="rect">
            <a:avLst/>
          </a:prstGeom>
          <a:noFill/>
          <a:ln/>
        </p:spPr>
        <p:txBody>
          <a:bodyPr wrap="square" lIns="0" tIns="0" rIns="0" bIns="0" rtlCol="0" anchor="ctr">
            <a:normAutofit/>
          </a:bodyPr>
          <a:lstStyle/>
          <a:p>
            <a:pPr algn="ctr" indent="0" marL="0">
              <a:buNone/>
            </a:pPr>
            <a:r>
              <a:rPr lang="en-US" sz="870" b="1" dirty="0">
                <a:solidFill>
                  <a:srgbClr val="118AB2"/>
                </a:solidFill>
                <a:latin typeface="Arial" pitchFamily="34" charset="0"/>
                <a:ea typeface="Arial" pitchFamily="34" charset="-122"/>
                <a:cs typeface="Arial" pitchFamily="34" charset="-120"/>
              </a:rPr>
              <a:t>≈</a:t>
            </a:r>
            <a:endParaRPr lang="en-US" sz="870" dirty="0"/>
          </a:p>
        </p:txBody>
      </p:sp>
      <p:sp>
        <p:nvSpPr>
          <p:cNvPr id="11" name="Text 9"/>
          <p:cNvSpPr/>
          <p:nvPr/>
        </p:nvSpPr>
        <p:spPr>
          <a:xfrm>
            <a:off x="1472184" y="2286000"/>
            <a:ext cx="1901952" cy="274320"/>
          </a:xfrm>
          <a:prstGeom prst="rect">
            <a:avLst/>
          </a:prstGeom>
          <a:noFill/>
          <a:ln/>
        </p:spPr>
        <p:txBody>
          <a:bodyPr wrap="square" lIns="0" tIns="0" rIns="0" bIns="0" rtlCol="0" anchor="ctr">
            <a:normAutofit/>
          </a:bodyPr>
          <a:lstStyle/>
          <a:p>
            <a:pPr indent="0" marL="0">
              <a:buNone/>
            </a:pPr>
            <a:r>
              <a:rPr lang="en-US" sz="1100" b="1" spc="80" kern="0" dirty="0">
                <a:solidFill>
                  <a:srgbClr val="118AB2"/>
                </a:solidFill>
                <a:latin typeface="Arial" pitchFamily="34" charset="0"/>
                <a:ea typeface="Arial" pitchFamily="34" charset="-122"/>
                <a:cs typeface="Arial" pitchFamily="34" charset="-120"/>
              </a:rPr>
              <a:t>1  SENSE</a:t>
            </a:r>
            <a:endParaRPr lang="en-US" sz="1100" dirty="0"/>
          </a:p>
        </p:txBody>
      </p:sp>
      <p:sp>
        <p:nvSpPr>
          <p:cNvPr id="12" name="Text 10"/>
          <p:cNvSpPr/>
          <p:nvPr/>
        </p:nvSpPr>
        <p:spPr>
          <a:xfrm>
            <a:off x="777240" y="2980944"/>
            <a:ext cx="2706624" cy="987552"/>
          </a:xfrm>
          <a:prstGeom prst="rect">
            <a:avLst/>
          </a:prstGeom>
          <a:noFill/>
          <a:ln/>
        </p:spPr>
        <p:txBody>
          <a:bodyPr wrap="square" lIns="0" tIns="0" rIns="0" bIns="0" rtlCol="0" anchor="t">
            <a:normAutofit/>
          </a:bodyPr>
          <a:lstStyle/>
          <a:p>
            <a:pPr indent="0" marL="0">
              <a:buNone/>
            </a:pPr>
            <a:r>
              <a:rPr lang="en-US" sz="1300" dirty="0">
                <a:solidFill>
                  <a:srgbClr val="14213D"/>
                </a:solidFill>
                <a:latin typeface="Arial" pitchFamily="34" charset="0"/>
                <a:ea typeface="Arial" pitchFamily="34" charset="-122"/>
                <a:cs typeface="Arial" pitchFamily="34" charset="-120"/>
              </a:rPr>
              <a:t>Phyphox exposes live X, Y and Z acceleration plus device time from each phone.</a:t>
            </a:r>
            <a:endParaRPr lang="en-US" sz="1300" dirty="0"/>
          </a:p>
        </p:txBody>
      </p:sp>
      <p:sp>
        <p:nvSpPr>
          <p:cNvPr id="13" name="Shape 11"/>
          <p:cNvSpPr/>
          <p:nvPr/>
        </p:nvSpPr>
        <p:spPr>
          <a:xfrm>
            <a:off x="4078224" y="1993392"/>
            <a:ext cx="3255264" cy="2377440"/>
          </a:xfrm>
          <a:prstGeom prst="roundRect">
            <a:avLst>
              <a:gd name="adj" fmla="val 3077"/>
            </a:avLst>
          </a:prstGeom>
          <a:solidFill>
            <a:srgbClr val="FFFFFF"/>
          </a:solidFill>
          <a:ln w="12700">
            <a:solidFill>
              <a:srgbClr val="C9D5E5"/>
            </a:solidFill>
            <a:prstDash val="solid"/>
          </a:ln>
          <a:effectLst>
            <a:outerShdw sx="100000" sy="100000" kx="0" ky="0" algn="bl" rotWithShape="0" blurRad="660767388140000000000" dist="1.32153477628e+21" dir="3.4992e+25">
              <a:srgbClr val="000000">
                <a:alpha val="1.2e+24"/>
              </a:srgbClr>
            </a:outerShdw>
          </a:effectLst>
        </p:spPr>
      </p:sp>
      <p:sp>
        <p:nvSpPr>
          <p:cNvPr id="14" name="Shape 12"/>
          <p:cNvSpPr/>
          <p:nvPr/>
        </p:nvSpPr>
        <p:spPr>
          <a:xfrm>
            <a:off x="4352544" y="2267712"/>
            <a:ext cx="530352" cy="530352"/>
          </a:xfrm>
          <a:prstGeom prst="ellipse">
            <a:avLst/>
          </a:prstGeom>
          <a:solidFill>
            <a:srgbClr val="7048CA">
              <a:alpha val="16000"/>
            </a:srgbClr>
          </a:solidFill>
          <a:ln w="12700">
            <a:solidFill>
              <a:srgbClr val="7048CA">
                <a:alpha val="16000"/>
              </a:srgbClr>
            </a:solidFill>
            <a:prstDash val="solid"/>
          </a:ln>
        </p:spPr>
      </p:sp>
      <p:sp>
        <p:nvSpPr>
          <p:cNvPr id="15" name="Text 13"/>
          <p:cNvSpPr/>
          <p:nvPr/>
        </p:nvSpPr>
        <p:spPr>
          <a:xfrm>
            <a:off x="4352544" y="2267712"/>
            <a:ext cx="530352" cy="530352"/>
          </a:xfrm>
          <a:prstGeom prst="rect">
            <a:avLst/>
          </a:prstGeom>
          <a:noFill/>
          <a:ln/>
        </p:spPr>
        <p:txBody>
          <a:bodyPr wrap="square" lIns="0" tIns="0" rIns="0" bIns="0" rtlCol="0" anchor="ctr">
            <a:normAutofit/>
          </a:bodyPr>
          <a:lstStyle/>
          <a:p>
            <a:pPr algn="ctr" indent="0" marL="0">
              <a:buNone/>
            </a:pPr>
            <a:r>
              <a:rPr lang="en-US" sz="870" b="1" dirty="0">
                <a:solidFill>
                  <a:srgbClr val="7048CA"/>
                </a:solidFill>
                <a:latin typeface="Arial" pitchFamily="34" charset="0"/>
                <a:ea typeface="Arial" pitchFamily="34" charset="-122"/>
                <a:cs typeface="Arial" pitchFamily="34" charset="-120"/>
              </a:rPr>
              <a:t>◇</a:t>
            </a:r>
            <a:endParaRPr lang="en-US" sz="870" dirty="0"/>
          </a:p>
        </p:txBody>
      </p:sp>
      <p:sp>
        <p:nvSpPr>
          <p:cNvPr id="16" name="Text 14"/>
          <p:cNvSpPr/>
          <p:nvPr/>
        </p:nvSpPr>
        <p:spPr>
          <a:xfrm>
            <a:off x="5047488" y="2286000"/>
            <a:ext cx="1901952" cy="274320"/>
          </a:xfrm>
          <a:prstGeom prst="rect">
            <a:avLst/>
          </a:prstGeom>
          <a:noFill/>
          <a:ln/>
        </p:spPr>
        <p:txBody>
          <a:bodyPr wrap="square" lIns="0" tIns="0" rIns="0" bIns="0" rtlCol="0" anchor="ctr">
            <a:normAutofit/>
          </a:bodyPr>
          <a:lstStyle/>
          <a:p>
            <a:pPr indent="0" marL="0">
              <a:buNone/>
            </a:pPr>
            <a:r>
              <a:rPr lang="en-US" sz="1100" b="1" spc="80" kern="0" dirty="0">
                <a:solidFill>
                  <a:srgbClr val="7048CA"/>
                </a:solidFill>
                <a:latin typeface="Arial" pitchFamily="34" charset="0"/>
                <a:ea typeface="Arial" pitchFamily="34" charset="-122"/>
                <a:cs typeface="Arial" pitchFamily="34" charset="-120"/>
              </a:rPr>
              <a:t>2  DECIDE</a:t>
            </a:r>
            <a:endParaRPr lang="en-US" sz="1100" dirty="0"/>
          </a:p>
        </p:txBody>
      </p:sp>
      <p:sp>
        <p:nvSpPr>
          <p:cNvPr id="17" name="Text 15"/>
          <p:cNvSpPr/>
          <p:nvPr/>
        </p:nvSpPr>
        <p:spPr>
          <a:xfrm>
            <a:off x="4352544" y="2980944"/>
            <a:ext cx="2706624" cy="987552"/>
          </a:xfrm>
          <a:prstGeom prst="rect">
            <a:avLst/>
          </a:prstGeom>
          <a:noFill/>
          <a:ln/>
        </p:spPr>
        <p:txBody>
          <a:bodyPr wrap="square" lIns="0" tIns="0" rIns="0" bIns="0" rtlCol="0" anchor="t">
            <a:normAutofit/>
          </a:bodyPr>
          <a:lstStyle/>
          <a:p>
            <a:pPr indent="0" marL="0">
              <a:buNone/>
            </a:pPr>
            <a:r>
              <a:rPr lang="en-US" sz="1300" dirty="0">
                <a:solidFill>
                  <a:srgbClr val="14213D"/>
                </a:solidFill>
                <a:latin typeface="Arial" pitchFamily="34" charset="0"/>
                <a:ea typeface="Arial" pitchFamily="34" charset="-122"/>
                <a:cs typeface="Arial" pitchFamily="34" charset="-120"/>
              </a:rPr>
              <a:t>A deterministic detector calibrates a baseline, filters noise and verifies sustained movement.</a:t>
            </a:r>
            <a:endParaRPr lang="en-US" sz="1300" dirty="0"/>
          </a:p>
        </p:txBody>
      </p:sp>
      <p:sp>
        <p:nvSpPr>
          <p:cNvPr id="18" name="Shape 16"/>
          <p:cNvSpPr/>
          <p:nvPr/>
        </p:nvSpPr>
        <p:spPr>
          <a:xfrm>
            <a:off x="7653528" y="1993392"/>
            <a:ext cx="3255264" cy="2377440"/>
          </a:xfrm>
          <a:prstGeom prst="roundRect">
            <a:avLst>
              <a:gd name="adj" fmla="val 3077"/>
            </a:avLst>
          </a:prstGeom>
          <a:solidFill>
            <a:srgbClr val="FFFFFF"/>
          </a:solidFill>
          <a:ln w="12700">
            <a:solidFill>
              <a:srgbClr val="C9D5E5"/>
            </a:solidFill>
            <a:prstDash val="solid"/>
          </a:ln>
          <a:effectLst>
            <a:outerShdw sx="100000" sy="100000" kx="0" ky="0" algn="bl" rotWithShape="0" blurRad="8.391745829378e+24" dist="1.6783491658756e+25" dir="2.09952e+30">
              <a:srgbClr val="000000">
                <a:alpha val="1.2e+29"/>
              </a:srgbClr>
            </a:outerShdw>
          </a:effectLst>
        </p:spPr>
      </p:sp>
      <p:sp>
        <p:nvSpPr>
          <p:cNvPr id="19" name="Shape 17"/>
          <p:cNvSpPr/>
          <p:nvPr/>
        </p:nvSpPr>
        <p:spPr>
          <a:xfrm>
            <a:off x="7927848" y="2267712"/>
            <a:ext cx="530352" cy="530352"/>
          </a:xfrm>
          <a:prstGeom prst="ellipse">
            <a:avLst/>
          </a:prstGeom>
          <a:solidFill>
            <a:srgbClr val="D64255">
              <a:alpha val="16000"/>
            </a:srgbClr>
          </a:solidFill>
          <a:ln w="12700">
            <a:solidFill>
              <a:srgbClr val="D64255">
                <a:alpha val="16000"/>
              </a:srgbClr>
            </a:solidFill>
            <a:prstDash val="solid"/>
          </a:ln>
        </p:spPr>
      </p:sp>
      <p:sp>
        <p:nvSpPr>
          <p:cNvPr id="20" name="Text 18"/>
          <p:cNvSpPr/>
          <p:nvPr/>
        </p:nvSpPr>
        <p:spPr>
          <a:xfrm>
            <a:off x="7927848" y="2267712"/>
            <a:ext cx="530352" cy="530352"/>
          </a:xfrm>
          <a:prstGeom prst="rect">
            <a:avLst/>
          </a:prstGeom>
          <a:noFill/>
          <a:ln/>
        </p:spPr>
        <p:txBody>
          <a:bodyPr wrap="square" lIns="0" tIns="0" rIns="0" bIns="0" rtlCol="0" anchor="ctr">
            <a:normAutofit/>
          </a:bodyPr>
          <a:lstStyle/>
          <a:p>
            <a:pPr algn="ctr" indent="0" marL="0">
              <a:buNone/>
            </a:pPr>
            <a:r>
              <a:rPr lang="en-US" sz="870" b="1" dirty="0">
                <a:solidFill>
                  <a:srgbClr val="D64255"/>
                </a:solidFill>
                <a:latin typeface="Arial" pitchFamily="34" charset="0"/>
                <a:ea typeface="Arial" pitchFamily="34" charset="-122"/>
                <a:cs typeface="Arial" pitchFamily="34" charset="-120"/>
              </a:rPr>
              <a:t>!</a:t>
            </a:r>
            <a:endParaRPr lang="en-US" sz="870" dirty="0"/>
          </a:p>
        </p:txBody>
      </p:sp>
      <p:sp>
        <p:nvSpPr>
          <p:cNvPr id="21" name="Text 19"/>
          <p:cNvSpPr/>
          <p:nvPr/>
        </p:nvSpPr>
        <p:spPr>
          <a:xfrm>
            <a:off x="8622792" y="2286000"/>
            <a:ext cx="1901952" cy="274320"/>
          </a:xfrm>
          <a:prstGeom prst="rect">
            <a:avLst/>
          </a:prstGeom>
          <a:noFill/>
          <a:ln/>
        </p:spPr>
        <p:txBody>
          <a:bodyPr wrap="square" lIns="0" tIns="0" rIns="0" bIns="0" rtlCol="0" anchor="ctr">
            <a:normAutofit/>
          </a:bodyPr>
          <a:lstStyle/>
          <a:p>
            <a:pPr indent="0" marL="0">
              <a:buNone/>
            </a:pPr>
            <a:r>
              <a:rPr lang="en-US" sz="1100" b="1" spc="80" kern="0" dirty="0">
                <a:solidFill>
                  <a:srgbClr val="D64255"/>
                </a:solidFill>
                <a:latin typeface="Arial" pitchFamily="34" charset="0"/>
                <a:ea typeface="Arial" pitchFamily="34" charset="-122"/>
                <a:cs typeface="Arial" pitchFamily="34" charset="-120"/>
              </a:rPr>
              <a:t>3  RESPOND</a:t>
            </a:r>
            <a:endParaRPr lang="en-US" sz="1100" dirty="0"/>
          </a:p>
        </p:txBody>
      </p:sp>
      <p:sp>
        <p:nvSpPr>
          <p:cNvPr id="22" name="Text 20"/>
          <p:cNvSpPr/>
          <p:nvPr/>
        </p:nvSpPr>
        <p:spPr>
          <a:xfrm>
            <a:off x="7927848" y="2980944"/>
            <a:ext cx="2706624" cy="987552"/>
          </a:xfrm>
          <a:prstGeom prst="rect">
            <a:avLst/>
          </a:prstGeom>
          <a:noFill/>
          <a:ln/>
        </p:spPr>
        <p:txBody>
          <a:bodyPr wrap="square" lIns="0" tIns="0" rIns="0" bIns="0" rtlCol="0" anchor="t">
            <a:normAutofit/>
          </a:bodyPr>
          <a:lstStyle/>
          <a:p>
            <a:pPr indent="0" marL="0">
              <a:buNone/>
            </a:pPr>
            <a:r>
              <a:rPr lang="en-US" sz="1300" dirty="0">
                <a:solidFill>
                  <a:srgbClr val="14213D"/>
                </a:solidFill>
                <a:latin typeface="Arial" pitchFamily="34" charset="0"/>
                <a:ea typeface="Arial" pitchFamily="34" charset="-122"/>
                <a:cs typeface="Arial" pitchFamily="34" charset="-120"/>
              </a:rPr>
              <a:t>The dashboard updates in real time, persists the event and plays a repeating siren.</a:t>
            </a:r>
            <a:endParaRPr lang="en-US" sz="1300" dirty="0"/>
          </a:p>
        </p:txBody>
      </p:sp>
      <p:sp>
        <p:nvSpPr>
          <p:cNvPr id="23" name="Shape 21"/>
          <p:cNvSpPr/>
          <p:nvPr/>
        </p:nvSpPr>
        <p:spPr>
          <a:xfrm>
            <a:off x="502920" y="4690872"/>
            <a:ext cx="10405872" cy="1207008"/>
          </a:xfrm>
          <a:prstGeom prst="roundRect">
            <a:avLst>
              <a:gd name="adj" fmla="val 6061"/>
            </a:avLst>
          </a:prstGeom>
          <a:solidFill>
            <a:srgbClr val="EEF3FA"/>
          </a:solidFill>
          <a:ln w="12700">
            <a:solidFill>
              <a:srgbClr val="C9D5E5"/>
            </a:solidFill>
            <a:prstDash val="solid"/>
          </a:ln>
        </p:spPr>
      </p:sp>
      <p:sp>
        <p:nvSpPr>
          <p:cNvPr id="24" name="Text 22"/>
          <p:cNvSpPr/>
          <p:nvPr/>
        </p:nvSpPr>
        <p:spPr>
          <a:xfrm>
            <a:off x="786384" y="4928616"/>
            <a:ext cx="1417320" cy="201168"/>
          </a:xfrm>
          <a:prstGeom prst="rect">
            <a:avLst/>
          </a:prstGeom>
          <a:noFill/>
          <a:ln/>
        </p:spPr>
        <p:txBody>
          <a:bodyPr wrap="square" lIns="0" tIns="0" rIns="0" bIns="0" rtlCol="0" anchor="ctr">
            <a:normAutofit/>
          </a:bodyPr>
          <a:lstStyle/>
          <a:p>
            <a:pPr indent="0" marL="0">
              <a:buNone/>
            </a:pPr>
            <a:r>
              <a:rPr lang="en-US" sz="850" b="1" spc="120" kern="0" dirty="0">
                <a:solidFill>
                  <a:srgbClr val="426EDC"/>
                </a:solidFill>
                <a:latin typeface="Arial" pitchFamily="34" charset="0"/>
                <a:ea typeface="Arial" pitchFamily="34" charset="-122"/>
                <a:cs typeface="Arial" pitchFamily="34" charset="-120"/>
              </a:rPr>
              <a:t>DESIGN PRINCIPLE</a:t>
            </a:r>
            <a:endParaRPr lang="en-US" sz="850" dirty="0"/>
          </a:p>
        </p:txBody>
      </p:sp>
      <p:sp>
        <p:nvSpPr>
          <p:cNvPr id="25" name="Text 23"/>
          <p:cNvSpPr/>
          <p:nvPr/>
        </p:nvSpPr>
        <p:spPr>
          <a:xfrm>
            <a:off x="2331720" y="4818888"/>
            <a:ext cx="2377440" cy="365760"/>
          </a:xfrm>
          <a:prstGeom prst="rect">
            <a:avLst/>
          </a:prstGeom>
          <a:noFill/>
          <a:ln/>
        </p:spPr>
        <p:txBody>
          <a:bodyPr wrap="square" lIns="0" tIns="0" rIns="0" bIns="0" rtlCol="0" anchor="ctr">
            <a:normAutofit/>
          </a:bodyPr>
          <a:lstStyle/>
          <a:p>
            <a:pPr indent="0" marL="0">
              <a:buNone/>
            </a:pPr>
            <a:r>
              <a:rPr lang="en-US" sz="1700" b="1" dirty="0">
                <a:solidFill>
                  <a:srgbClr val="14213D"/>
                </a:solidFill>
                <a:latin typeface="Arial" pitchFamily="34" charset="0"/>
                <a:ea typeface="Arial" pitchFamily="34" charset="-122"/>
                <a:cs typeface="Arial" pitchFamily="34" charset="-120"/>
              </a:rPr>
              <a:t>Local-first by default</a:t>
            </a:r>
            <a:endParaRPr lang="en-US" sz="1700" dirty="0"/>
          </a:p>
        </p:txBody>
      </p:sp>
      <p:sp>
        <p:nvSpPr>
          <p:cNvPr id="26" name="Text 24"/>
          <p:cNvSpPr/>
          <p:nvPr/>
        </p:nvSpPr>
        <p:spPr>
          <a:xfrm>
            <a:off x="4709160" y="4837176"/>
            <a:ext cx="5760720" cy="384048"/>
          </a:xfrm>
          <a:prstGeom prst="rect">
            <a:avLst/>
          </a:prstGeom>
          <a:noFill/>
          <a:ln/>
        </p:spPr>
        <p:txBody>
          <a:bodyPr wrap="square" lIns="0" tIns="0" rIns="0" bIns="0" rtlCol="0" anchor="ctr">
            <a:normAutofit/>
          </a:bodyPr>
          <a:lstStyle/>
          <a:p>
            <a:pPr indent="0" marL="0">
              <a:buNone/>
            </a:pPr>
            <a:r>
              <a:rPr lang="en-US" sz="1200" dirty="0">
                <a:solidFill>
                  <a:srgbClr val="5E708F"/>
                </a:solidFill>
                <a:latin typeface="Arial" pitchFamily="34" charset="0"/>
                <a:ea typeface="Arial" pitchFamily="34" charset="-122"/>
                <a:cs typeface="Arial" pitchFamily="34" charset="-120"/>
              </a:rPr>
              <a:t>No paid cloud, no custom mobile app and no silent fallback when MQTT is configured.</a:t>
            </a:r>
            <a:endParaRPr lang="en-US" sz="1200" dirty="0"/>
          </a:p>
        </p:txBody>
      </p:sp>
      <p:sp>
        <p:nvSpPr>
          <p:cNvPr id="27" name="Shape 25"/>
          <p:cNvSpPr/>
          <p:nvPr/>
        </p:nvSpPr>
        <p:spPr>
          <a:xfrm>
            <a:off x="2331720" y="5330952"/>
            <a:ext cx="1280160" cy="310896"/>
          </a:xfrm>
          <a:prstGeom prst="roundRect">
            <a:avLst>
              <a:gd name="adj" fmla="val 23529"/>
            </a:avLst>
          </a:prstGeom>
          <a:solidFill>
            <a:srgbClr val="EEF3FA"/>
          </a:solidFill>
          <a:ln w="12700">
            <a:solidFill>
              <a:srgbClr val="118AB2"/>
            </a:solidFill>
            <a:prstDash val="solid"/>
          </a:ln>
        </p:spPr>
      </p:sp>
      <p:sp>
        <p:nvSpPr>
          <p:cNvPr id="28" name="Text 26"/>
          <p:cNvSpPr/>
          <p:nvPr/>
        </p:nvSpPr>
        <p:spPr>
          <a:xfrm>
            <a:off x="2404872" y="5349240"/>
            <a:ext cx="1133856" cy="256032"/>
          </a:xfrm>
          <a:prstGeom prst="rect">
            <a:avLst/>
          </a:prstGeom>
          <a:noFill/>
          <a:ln/>
        </p:spPr>
        <p:txBody>
          <a:bodyPr wrap="square" lIns="0" tIns="0" rIns="0" bIns="0" rtlCol="0" anchor="ctr">
            <a:normAutofit/>
          </a:bodyPr>
          <a:lstStyle/>
          <a:p>
            <a:pPr algn="ctr" indent="0" marL="0">
              <a:buNone/>
            </a:pPr>
            <a:r>
              <a:rPr lang="en-US" sz="900" b="1" spc="70" kern="0" dirty="0">
                <a:solidFill>
                  <a:srgbClr val="118AB2"/>
                </a:solidFill>
                <a:latin typeface="Arial" pitchFamily="34" charset="0"/>
                <a:ea typeface="Arial" pitchFamily="34" charset="-122"/>
                <a:cs typeface="Arial" pitchFamily="34" charset="-120"/>
              </a:rPr>
              <a:t>MULTI-PHONE</a:t>
            </a:r>
            <a:endParaRPr lang="en-US" sz="900" dirty="0"/>
          </a:p>
        </p:txBody>
      </p:sp>
      <p:sp>
        <p:nvSpPr>
          <p:cNvPr id="29" name="Shape 27"/>
          <p:cNvSpPr/>
          <p:nvPr/>
        </p:nvSpPr>
        <p:spPr>
          <a:xfrm>
            <a:off x="3730752" y="5330952"/>
            <a:ext cx="1097280" cy="310896"/>
          </a:xfrm>
          <a:prstGeom prst="roundRect">
            <a:avLst>
              <a:gd name="adj" fmla="val 23529"/>
            </a:avLst>
          </a:prstGeom>
          <a:solidFill>
            <a:srgbClr val="EEF3FA"/>
          </a:solidFill>
          <a:ln w="12700">
            <a:solidFill>
              <a:srgbClr val="078F68"/>
            </a:solidFill>
            <a:prstDash val="solid"/>
          </a:ln>
        </p:spPr>
      </p:sp>
      <p:sp>
        <p:nvSpPr>
          <p:cNvPr id="30" name="Text 28"/>
          <p:cNvSpPr/>
          <p:nvPr/>
        </p:nvSpPr>
        <p:spPr>
          <a:xfrm>
            <a:off x="3803904" y="5349240"/>
            <a:ext cx="950976" cy="256032"/>
          </a:xfrm>
          <a:prstGeom prst="rect">
            <a:avLst/>
          </a:prstGeom>
          <a:noFill/>
          <a:ln/>
        </p:spPr>
        <p:txBody>
          <a:bodyPr wrap="square" lIns="0" tIns="0" rIns="0" bIns="0" rtlCol="0" anchor="ctr">
            <a:normAutofit/>
          </a:bodyPr>
          <a:lstStyle/>
          <a:p>
            <a:pPr algn="ctr" indent="0" marL="0">
              <a:buNone/>
            </a:pPr>
            <a:r>
              <a:rPr lang="en-US" sz="900" b="1" spc="70" kern="0" dirty="0">
                <a:solidFill>
                  <a:srgbClr val="078F68"/>
                </a:solidFill>
                <a:latin typeface="Arial" pitchFamily="34" charset="0"/>
                <a:ea typeface="Arial" pitchFamily="34" charset="-122"/>
                <a:cs typeface="Arial" pitchFamily="34" charset="-120"/>
              </a:rPr>
              <a:t>REAL-TIME</a:t>
            </a:r>
            <a:endParaRPr lang="en-US" sz="900" dirty="0"/>
          </a:p>
        </p:txBody>
      </p:sp>
      <p:sp>
        <p:nvSpPr>
          <p:cNvPr id="31" name="Shape 29"/>
          <p:cNvSpPr/>
          <p:nvPr/>
        </p:nvSpPr>
        <p:spPr>
          <a:xfrm>
            <a:off x="4956048" y="5330952"/>
            <a:ext cx="1097280" cy="310896"/>
          </a:xfrm>
          <a:prstGeom prst="roundRect">
            <a:avLst>
              <a:gd name="adj" fmla="val 23529"/>
            </a:avLst>
          </a:prstGeom>
          <a:solidFill>
            <a:srgbClr val="EEF3FA"/>
          </a:solidFill>
          <a:ln w="12700">
            <a:solidFill>
              <a:srgbClr val="B97912"/>
            </a:solidFill>
            <a:prstDash val="solid"/>
          </a:ln>
        </p:spPr>
      </p:sp>
      <p:sp>
        <p:nvSpPr>
          <p:cNvPr id="32" name="Text 30"/>
          <p:cNvSpPr/>
          <p:nvPr/>
        </p:nvSpPr>
        <p:spPr>
          <a:xfrm>
            <a:off x="5029200" y="5349240"/>
            <a:ext cx="950976" cy="256032"/>
          </a:xfrm>
          <a:prstGeom prst="rect">
            <a:avLst/>
          </a:prstGeom>
          <a:noFill/>
          <a:ln/>
        </p:spPr>
        <p:txBody>
          <a:bodyPr wrap="square" lIns="0" tIns="0" rIns="0" bIns="0" rtlCol="0" anchor="ctr">
            <a:normAutofit/>
          </a:bodyPr>
          <a:lstStyle/>
          <a:p>
            <a:pPr algn="ctr" indent="0" marL="0">
              <a:buNone/>
            </a:pPr>
            <a:r>
              <a:rPr lang="en-US" sz="900" b="1" spc="70" kern="0" dirty="0">
                <a:solidFill>
                  <a:srgbClr val="B97912"/>
                </a:solidFill>
                <a:latin typeface="Arial" pitchFamily="34" charset="0"/>
                <a:ea typeface="Arial" pitchFamily="34" charset="-122"/>
                <a:cs typeface="Arial" pitchFamily="34" charset="-120"/>
              </a:rPr>
              <a:t>AUDITABLE</a:t>
            </a:r>
            <a:endParaRPr lang="en-US" sz="900" dirty="0"/>
          </a:p>
        </p:txBody>
      </p:sp>
      <p:sp>
        <p:nvSpPr>
          <p:cNvPr id="25" name="Slide Number Placeholder 0"/>
          <p:cNvSpPr>
            <a:spLocks noGrp="1"/>
          </p:cNvSpPr>
          <p:nvPr>
            <p:ph type="sldNum" sz="quarter" idx="4294967295"/>
          </p:nvPr>
        </p:nvSpPr>
        <p:spPr>
          <a:xfrm>
            <a:off x="11384280" y="6446520"/>
            <a:ext cx="320040" cy="164592"/>
          </a:xfrm>
          <a:prstGeom prst="rect">
            <a:avLst/>
          </a:prstGeom>
          <a:extLst>
            <a:ext uri="{C572A759-6A51-4108-AA02-DFA0A04FC94B}">
              <ma14:wrappingTextBoxFlag xmlns:ma14="http://schemas.microsoft.com/office/mac/drawingml/2011/main" val="0"/>
            </a:ext>
          </a:extLst>
        </p:spPr>
        <p:txBody>
          <a:bodyPr/>
          <a:lstStyle>
            <a:lvl1pPr>
              <a:defRPr sz="800">
                <a:solidFill>
                  <a:srgbClr val="71819C"/>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02920" y="384048"/>
            <a:ext cx="384048" cy="274320"/>
          </a:xfrm>
          <a:prstGeom prst="rect">
            <a:avLst/>
          </a:prstGeom>
          <a:noFill/>
          <a:ln/>
        </p:spPr>
        <p:txBody>
          <a:bodyPr wrap="square" lIns="0" tIns="0" rIns="0" bIns="0" rtlCol="0" anchor="ctr">
            <a:normAutofit/>
          </a:bodyPr>
          <a:lstStyle/>
          <a:p>
            <a:pPr indent="0" marL="0">
              <a:buNone/>
            </a:pPr>
            <a:r>
              <a:rPr lang="en-US" sz="1000" b="1" spc="120" kern="0" dirty="0">
                <a:solidFill>
                  <a:srgbClr val="426EDC"/>
                </a:solidFill>
                <a:latin typeface="Arial" pitchFamily="34" charset="0"/>
                <a:ea typeface="Arial" pitchFamily="34" charset="-122"/>
                <a:cs typeface="Arial" pitchFamily="34" charset="-120"/>
              </a:rPr>
              <a:t>04</a:t>
            </a:r>
            <a:endParaRPr lang="en-US" sz="1000" dirty="0"/>
          </a:p>
        </p:txBody>
      </p:sp>
      <p:sp>
        <p:nvSpPr>
          <p:cNvPr id="3" name="Shape 1"/>
          <p:cNvSpPr/>
          <p:nvPr/>
        </p:nvSpPr>
        <p:spPr>
          <a:xfrm>
            <a:off x="896112" y="521208"/>
            <a:ext cx="502920" cy="0"/>
          </a:xfrm>
          <a:prstGeom prst="line">
            <a:avLst/>
          </a:prstGeom>
          <a:noFill/>
          <a:ln w="12700">
            <a:solidFill>
              <a:srgbClr val="C9D5E5"/>
            </a:solidFill>
            <a:prstDash val="solid"/>
            <a:headEnd type="none"/>
            <a:tailEnd type="none"/>
          </a:ln>
        </p:spPr>
      </p:sp>
      <p:sp>
        <p:nvSpPr>
          <p:cNvPr id="4" name="Text 2"/>
          <p:cNvSpPr/>
          <p:nvPr/>
        </p:nvSpPr>
        <p:spPr>
          <a:xfrm>
            <a:off x="1527048" y="365760"/>
            <a:ext cx="3291840" cy="292608"/>
          </a:xfrm>
          <a:prstGeom prst="rect">
            <a:avLst/>
          </a:prstGeom>
          <a:noFill/>
          <a:ln/>
        </p:spPr>
        <p:txBody>
          <a:bodyPr wrap="square" lIns="0" tIns="0" rIns="0" bIns="0" rtlCol="0" anchor="ctr">
            <a:normAutofit/>
          </a:bodyPr>
          <a:lstStyle/>
          <a:p>
            <a:pPr indent="0" marL="0">
              <a:buNone/>
            </a:pPr>
            <a:r>
              <a:rPr lang="en-US" sz="900" b="1" spc="150" kern="0" dirty="0">
                <a:solidFill>
                  <a:srgbClr val="426EDC"/>
                </a:solidFill>
                <a:latin typeface="Arial" pitchFamily="34" charset="0"/>
                <a:ea typeface="Arial" pitchFamily="34" charset="-122"/>
                <a:cs typeface="Arial" pitchFamily="34" charset="-120"/>
              </a:rPr>
              <a:t>SYSTEM ARCHITECTURE</a:t>
            </a:r>
            <a:endParaRPr lang="en-US" sz="900" dirty="0"/>
          </a:p>
        </p:txBody>
      </p:sp>
      <p:sp>
        <p:nvSpPr>
          <p:cNvPr id="5" name="Text 3"/>
          <p:cNvSpPr/>
          <p:nvPr/>
        </p:nvSpPr>
        <p:spPr>
          <a:xfrm>
            <a:off x="502920" y="804672"/>
            <a:ext cx="11064240" cy="502920"/>
          </a:xfrm>
          <a:prstGeom prst="rect">
            <a:avLst/>
          </a:prstGeom>
          <a:noFill/>
          <a:ln/>
        </p:spPr>
        <p:txBody>
          <a:bodyPr wrap="square" lIns="0" tIns="0" rIns="0" bIns="0" rtlCol="0" anchor="ctr">
            <a:normAutofit/>
          </a:bodyPr>
          <a:lstStyle/>
          <a:p>
            <a:pPr indent="0" marL="0">
              <a:buNone/>
            </a:pPr>
            <a:r>
              <a:rPr lang="en-US" sz="2700" b="1" dirty="0">
                <a:solidFill>
                  <a:srgbClr val="14213D"/>
                </a:solidFill>
                <a:latin typeface="Arial" pitchFamily="34" charset="0"/>
                <a:ea typeface="Arial" pitchFamily="34" charset="-122"/>
                <a:cs typeface="Arial" pitchFamily="34" charset="-120"/>
              </a:rPr>
              <a:t>A modular local IoT pipeline</a:t>
            </a:r>
            <a:endParaRPr lang="en-US" sz="2700" dirty="0"/>
          </a:p>
        </p:txBody>
      </p:sp>
      <p:sp>
        <p:nvSpPr>
          <p:cNvPr id="6" name="Text 4"/>
          <p:cNvSpPr/>
          <p:nvPr/>
        </p:nvSpPr>
        <p:spPr>
          <a:xfrm>
            <a:off x="502920" y="1353312"/>
            <a:ext cx="10881360" cy="365760"/>
          </a:xfrm>
          <a:prstGeom prst="rect">
            <a:avLst/>
          </a:prstGeom>
          <a:noFill/>
          <a:ln/>
        </p:spPr>
        <p:txBody>
          <a:bodyPr wrap="square" lIns="0" tIns="0" rIns="0" bIns="0" rtlCol="0" anchor="ctr">
            <a:normAutofit/>
          </a:bodyPr>
          <a:lstStyle/>
          <a:p>
            <a:pPr indent="0" marL="0">
              <a:buNone/>
            </a:pPr>
            <a:r>
              <a:rPr lang="en-US" sz="1150" dirty="0">
                <a:solidFill>
                  <a:srgbClr val="5E708F"/>
                </a:solidFill>
                <a:latin typeface="Arial" pitchFamily="34" charset="0"/>
                <a:ea typeface="Arial" pitchFamily="34" charset="-122"/>
                <a:cs typeface="Arial" pitchFamily="34" charset="-120"/>
              </a:rPr>
              <a:t>Typed messages separate collection, detection, persistence and presentation while one FastAPI process supervises the application.</a:t>
            </a:r>
            <a:endParaRPr lang="en-US" sz="1150" dirty="0"/>
          </a:p>
        </p:txBody>
      </p:sp>
      <p:sp>
        <p:nvSpPr>
          <p:cNvPr id="7" name="Text 5"/>
          <p:cNvSpPr/>
          <p:nvPr/>
        </p:nvSpPr>
        <p:spPr>
          <a:xfrm>
            <a:off x="502920" y="6446520"/>
            <a:ext cx="2011680" cy="164592"/>
          </a:xfrm>
          <a:prstGeom prst="rect">
            <a:avLst/>
          </a:prstGeom>
          <a:noFill/>
          <a:ln/>
        </p:spPr>
        <p:txBody>
          <a:bodyPr wrap="square" lIns="0" tIns="0" rIns="0" bIns="0" rtlCol="0" anchor="ctr">
            <a:normAutofit/>
          </a:bodyPr>
          <a:lstStyle/>
          <a:p>
            <a:pPr indent="0" marL="0">
              <a:buNone/>
            </a:pPr>
            <a:r>
              <a:rPr lang="en-US" sz="800" b="1" dirty="0">
                <a:solidFill>
                  <a:srgbClr val="71819C"/>
                </a:solidFill>
                <a:latin typeface="Arial" pitchFamily="34" charset="0"/>
                <a:ea typeface="Arial" pitchFamily="34" charset="-122"/>
                <a:cs typeface="Arial" pitchFamily="34" charset="-120"/>
              </a:rPr>
              <a:t>FailureAntyTheft</a:t>
            </a:r>
            <a:endParaRPr lang="en-US" sz="800" dirty="0"/>
          </a:p>
        </p:txBody>
      </p:sp>
      <p:sp>
        <p:nvSpPr>
          <p:cNvPr id="8" name="Text 6"/>
          <p:cNvSpPr/>
          <p:nvPr/>
        </p:nvSpPr>
        <p:spPr>
          <a:xfrm>
            <a:off x="502920" y="1892808"/>
            <a:ext cx="1371600" cy="210312"/>
          </a:xfrm>
          <a:prstGeom prst="rect">
            <a:avLst/>
          </a:prstGeom>
          <a:noFill/>
          <a:ln/>
        </p:spPr>
        <p:txBody>
          <a:bodyPr wrap="square" lIns="0" tIns="0" rIns="0" bIns="0" rtlCol="0" anchor="ctr">
            <a:normAutofit/>
          </a:bodyPr>
          <a:lstStyle/>
          <a:p>
            <a:pPr indent="0" marL="0">
              <a:buNone/>
            </a:pPr>
            <a:r>
              <a:rPr lang="en-US" sz="800" b="1" spc="110" kern="0" dirty="0">
                <a:solidFill>
                  <a:srgbClr val="118AB2"/>
                </a:solidFill>
                <a:latin typeface="Arial" pitchFamily="34" charset="0"/>
                <a:ea typeface="Arial" pitchFamily="34" charset="-122"/>
                <a:cs typeface="Arial" pitchFamily="34" charset="-120"/>
              </a:rPr>
              <a:t>SENSOR LAYER</a:t>
            </a:r>
            <a:endParaRPr lang="en-US" sz="800" dirty="0"/>
          </a:p>
        </p:txBody>
      </p:sp>
      <p:sp>
        <p:nvSpPr>
          <p:cNvPr id="9" name="Shape 7"/>
          <p:cNvSpPr/>
          <p:nvPr/>
        </p:nvSpPr>
        <p:spPr>
          <a:xfrm>
            <a:off x="658368" y="2331720"/>
            <a:ext cx="804672" cy="1481328"/>
          </a:xfrm>
          <a:prstGeom prst="roundRect">
            <a:avLst>
              <a:gd name="adj" fmla="val 9091"/>
            </a:avLst>
          </a:prstGeom>
          <a:solidFill>
            <a:srgbClr val="0B1424"/>
          </a:solidFill>
          <a:ln w="19050">
            <a:solidFill>
              <a:srgbClr val="118AB2"/>
            </a:solidFill>
            <a:prstDash val="solid"/>
          </a:ln>
          <a:effectLst>
            <a:outerShdw sx="100000" sy="100000" kx="0" ky="0" algn="bl" rotWithShape="0" blurRad="6145149000000" dist="8193532000000" dir="9720000000000000">
              <a:srgbClr val="356AE6">
                <a:alpha val="180000000000000"/>
              </a:srgbClr>
            </a:outerShdw>
          </a:effectLst>
        </p:spPr>
      </p:sp>
      <p:sp>
        <p:nvSpPr>
          <p:cNvPr id="10" name="Shape 8"/>
          <p:cNvSpPr/>
          <p:nvPr/>
        </p:nvSpPr>
        <p:spPr>
          <a:xfrm>
            <a:off x="777240" y="2651760"/>
            <a:ext cx="566928" cy="914400"/>
          </a:xfrm>
          <a:prstGeom prst="roundRect">
            <a:avLst>
              <a:gd name="adj" fmla="val 12903"/>
            </a:avLst>
          </a:prstGeom>
          <a:solidFill>
            <a:srgbClr val="111F35"/>
          </a:solidFill>
          <a:ln w="12700">
            <a:solidFill>
              <a:srgbClr val="253957"/>
            </a:solidFill>
            <a:prstDash val="solid"/>
          </a:ln>
        </p:spPr>
      </p:sp>
      <p:sp>
        <p:nvSpPr>
          <p:cNvPr id="11" name="Shape 9"/>
          <p:cNvSpPr/>
          <p:nvPr/>
        </p:nvSpPr>
        <p:spPr>
          <a:xfrm>
            <a:off x="923910" y="2450592"/>
            <a:ext cx="273588" cy="73152"/>
          </a:xfrm>
          <a:prstGeom prst="roundRect">
            <a:avLst>
              <a:gd name="adj" fmla="val 100000"/>
            </a:avLst>
          </a:prstGeom>
          <a:solidFill>
            <a:srgbClr val="118AB2"/>
          </a:solidFill>
          <a:ln w="12700">
            <a:solidFill>
              <a:srgbClr val="118AB2"/>
            </a:solidFill>
            <a:prstDash val="solid"/>
          </a:ln>
        </p:spPr>
      </p:sp>
      <p:sp>
        <p:nvSpPr>
          <p:cNvPr id="12" name="Shape 10"/>
          <p:cNvSpPr/>
          <p:nvPr/>
        </p:nvSpPr>
        <p:spPr>
          <a:xfrm>
            <a:off x="996696" y="3630168"/>
            <a:ext cx="128016" cy="128016"/>
          </a:xfrm>
          <a:prstGeom prst="ellipse">
            <a:avLst/>
          </a:prstGeom>
          <a:solidFill>
            <a:srgbClr val="118AB2">
              <a:alpha val="95000"/>
            </a:srgbClr>
          </a:solidFill>
          <a:ln w="12700">
            <a:solidFill>
              <a:srgbClr val="118AB2">
                <a:alpha val="95000"/>
              </a:srgbClr>
            </a:solidFill>
            <a:prstDash val="solid"/>
          </a:ln>
        </p:spPr>
      </p:sp>
      <p:sp>
        <p:nvSpPr>
          <p:cNvPr id="13" name="Shape 11"/>
          <p:cNvSpPr/>
          <p:nvPr/>
        </p:nvSpPr>
        <p:spPr>
          <a:xfrm>
            <a:off x="886968" y="3220517"/>
            <a:ext cx="144841" cy="-137160"/>
          </a:xfrm>
          <a:prstGeom prst="line">
            <a:avLst/>
          </a:prstGeom>
          <a:noFill/>
          <a:ln w="19050">
            <a:solidFill>
              <a:srgbClr val="078F68"/>
            </a:solidFill>
            <a:prstDash val="solid"/>
            <a:headEnd type="none"/>
            <a:tailEnd type="none"/>
          </a:ln>
        </p:spPr>
      </p:sp>
      <p:sp>
        <p:nvSpPr>
          <p:cNvPr id="14" name="Shape 12"/>
          <p:cNvSpPr/>
          <p:nvPr/>
        </p:nvSpPr>
        <p:spPr>
          <a:xfrm>
            <a:off x="1004377" y="2998318"/>
            <a:ext cx="144841" cy="201168"/>
          </a:xfrm>
          <a:prstGeom prst="line">
            <a:avLst/>
          </a:prstGeom>
          <a:noFill/>
          <a:ln w="19050">
            <a:solidFill>
              <a:srgbClr val="078F68"/>
            </a:solidFill>
            <a:prstDash val="solid"/>
            <a:headEnd type="none"/>
            <a:tailEnd type="none"/>
          </a:ln>
        </p:spPr>
      </p:sp>
      <p:sp>
        <p:nvSpPr>
          <p:cNvPr id="15" name="Shape 13"/>
          <p:cNvSpPr/>
          <p:nvPr/>
        </p:nvSpPr>
        <p:spPr>
          <a:xfrm>
            <a:off x="1149218" y="3324210"/>
            <a:ext cx="144841" cy="-320040"/>
          </a:xfrm>
          <a:prstGeom prst="line">
            <a:avLst/>
          </a:prstGeom>
          <a:noFill/>
          <a:ln w="19050">
            <a:solidFill>
              <a:srgbClr val="078F68"/>
            </a:solidFill>
            <a:prstDash val="solid"/>
            <a:headEnd type="none"/>
            <a:tailEnd type="none"/>
          </a:ln>
        </p:spPr>
      </p:sp>
      <p:sp>
        <p:nvSpPr>
          <p:cNvPr id="16" name="Shape 14"/>
          <p:cNvSpPr/>
          <p:nvPr/>
        </p:nvSpPr>
        <p:spPr>
          <a:xfrm>
            <a:off x="1143000" y="3063240"/>
            <a:ext cx="804672" cy="1481328"/>
          </a:xfrm>
          <a:prstGeom prst="roundRect">
            <a:avLst>
              <a:gd name="adj" fmla="val 9091"/>
            </a:avLst>
          </a:prstGeom>
          <a:solidFill>
            <a:srgbClr val="0B1424"/>
          </a:solidFill>
          <a:ln w="19050">
            <a:solidFill>
              <a:srgbClr val="356AE6"/>
            </a:solidFill>
            <a:prstDash val="solid"/>
          </a:ln>
          <a:effectLst>
            <a:outerShdw sx="100000" sy="100000" kx="0" ky="0" algn="bl" rotWithShape="0" blurRad="78043392300000000" dist="104057856400000000" dir="583200000000000000000">
              <a:srgbClr val="356AE6">
                <a:alpha val="18000000000000000000"/>
              </a:srgbClr>
            </a:outerShdw>
          </a:effectLst>
        </p:spPr>
      </p:sp>
      <p:sp>
        <p:nvSpPr>
          <p:cNvPr id="17" name="Shape 15"/>
          <p:cNvSpPr/>
          <p:nvPr/>
        </p:nvSpPr>
        <p:spPr>
          <a:xfrm>
            <a:off x="1261872" y="3383280"/>
            <a:ext cx="566928" cy="914400"/>
          </a:xfrm>
          <a:prstGeom prst="roundRect">
            <a:avLst>
              <a:gd name="adj" fmla="val 12903"/>
            </a:avLst>
          </a:prstGeom>
          <a:solidFill>
            <a:srgbClr val="111F35"/>
          </a:solidFill>
          <a:ln w="12700">
            <a:solidFill>
              <a:srgbClr val="253957"/>
            </a:solidFill>
            <a:prstDash val="solid"/>
          </a:ln>
        </p:spPr>
      </p:sp>
      <p:sp>
        <p:nvSpPr>
          <p:cNvPr id="18" name="Shape 16"/>
          <p:cNvSpPr/>
          <p:nvPr/>
        </p:nvSpPr>
        <p:spPr>
          <a:xfrm>
            <a:off x="1408542" y="3182112"/>
            <a:ext cx="273588" cy="73152"/>
          </a:xfrm>
          <a:prstGeom prst="roundRect">
            <a:avLst>
              <a:gd name="adj" fmla="val 100000"/>
            </a:avLst>
          </a:prstGeom>
          <a:solidFill>
            <a:srgbClr val="356AE6"/>
          </a:solidFill>
          <a:ln w="12700">
            <a:solidFill>
              <a:srgbClr val="356AE6"/>
            </a:solidFill>
            <a:prstDash val="solid"/>
          </a:ln>
        </p:spPr>
      </p:sp>
      <p:sp>
        <p:nvSpPr>
          <p:cNvPr id="19" name="Shape 17"/>
          <p:cNvSpPr/>
          <p:nvPr/>
        </p:nvSpPr>
        <p:spPr>
          <a:xfrm>
            <a:off x="1481328" y="4361688"/>
            <a:ext cx="128016" cy="128016"/>
          </a:xfrm>
          <a:prstGeom prst="ellipse">
            <a:avLst/>
          </a:prstGeom>
          <a:solidFill>
            <a:srgbClr val="356AE6">
              <a:alpha val="95000"/>
            </a:srgbClr>
          </a:solidFill>
          <a:ln w="12700">
            <a:solidFill>
              <a:srgbClr val="356AE6">
                <a:alpha val="95000"/>
              </a:srgbClr>
            </a:solidFill>
            <a:prstDash val="solid"/>
          </a:ln>
        </p:spPr>
      </p:sp>
      <p:sp>
        <p:nvSpPr>
          <p:cNvPr id="20" name="Shape 18"/>
          <p:cNvSpPr/>
          <p:nvPr/>
        </p:nvSpPr>
        <p:spPr>
          <a:xfrm>
            <a:off x="1371600" y="3952037"/>
            <a:ext cx="144841" cy="-137160"/>
          </a:xfrm>
          <a:prstGeom prst="line">
            <a:avLst/>
          </a:prstGeom>
          <a:noFill/>
          <a:ln w="19050">
            <a:solidFill>
              <a:srgbClr val="078F68"/>
            </a:solidFill>
            <a:prstDash val="solid"/>
            <a:headEnd type="none"/>
            <a:tailEnd type="none"/>
          </a:ln>
        </p:spPr>
      </p:sp>
      <p:sp>
        <p:nvSpPr>
          <p:cNvPr id="21" name="Shape 19"/>
          <p:cNvSpPr/>
          <p:nvPr/>
        </p:nvSpPr>
        <p:spPr>
          <a:xfrm>
            <a:off x="1489009" y="3729838"/>
            <a:ext cx="144841" cy="201168"/>
          </a:xfrm>
          <a:prstGeom prst="line">
            <a:avLst/>
          </a:prstGeom>
          <a:noFill/>
          <a:ln w="19050">
            <a:solidFill>
              <a:srgbClr val="078F68"/>
            </a:solidFill>
            <a:prstDash val="solid"/>
            <a:headEnd type="none"/>
            <a:tailEnd type="none"/>
          </a:ln>
        </p:spPr>
      </p:sp>
      <p:sp>
        <p:nvSpPr>
          <p:cNvPr id="22" name="Shape 20"/>
          <p:cNvSpPr/>
          <p:nvPr/>
        </p:nvSpPr>
        <p:spPr>
          <a:xfrm>
            <a:off x="1633850" y="4055730"/>
            <a:ext cx="144841" cy="-320040"/>
          </a:xfrm>
          <a:prstGeom prst="line">
            <a:avLst/>
          </a:prstGeom>
          <a:noFill/>
          <a:ln w="19050">
            <a:solidFill>
              <a:srgbClr val="078F68"/>
            </a:solidFill>
            <a:prstDash val="solid"/>
            <a:headEnd type="none"/>
            <a:tailEnd type="none"/>
          </a:ln>
        </p:spPr>
      </p:sp>
      <p:sp>
        <p:nvSpPr>
          <p:cNvPr id="23" name="Text 21"/>
          <p:cNvSpPr/>
          <p:nvPr/>
        </p:nvSpPr>
        <p:spPr>
          <a:xfrm>
            <a:off x="502920" y="4754880"/>
            <a:ext cx="1737360" cy="256032"/>
          </a:xfrm>
          <a:prstGeom prst="rect">
            <a:avLst/>
          </a:prstGeom>
          <a:noFill/>
          <a:ln/>
        </p:spPr>
        <p:txBody>
          <a:bodyPr wrap="square" lIns="0" tIns="0" rIns="0" bIns="0" rtlCol="0" anchor="ctr">
            <a:normAutofit/>
          </a:bodyPr>
          <a:lstStyle/>
          <a:p>
            <a:pPr algn="ctr" indent="0" marL="0">
              <a:buNone/>
            </a:pPr>
            <a:r>
              <a:rPr lang="en-US" sz="1200" b="1" dirty="0">
                <a:solidFill>
                  <a:srgbClr val="14213D"/>
                </a:solidFill>
                <a:latin typeface="Arial" pitchFamily="34" charset="0"/>
                <a:ea typeface="Arial" pitchFamily="34" charset="-122"/>
                <a:cs typeface="Arial" pitchFamily="34" charset="-120"/>
              </a:rPr>
              <a:t>Phones + Phyphox</a:t>
            </a:r>
            <a:endParaRPr lang="en-US" sz="1200" dirty="0"/>
          </a:p>
        </p:txBody>
      </p:sp>
      <p:sp>
        <p:nvSpPr>
          <p:cNvPr id="24" name="Text 22"/>
          <p:cNvSpPr/>
          <p:nvPr/>
        </p:nvSpPr>
        <p:spPr>
          <a:xfrm>
            <a:off x="502920" y="5029200"/>
            <a:ext cx="1737360" cy="219456"/>
          </a:xfrm>
          <a:prstGeom prst="rect">
            <a:avLst/>
          </a:prstGeom>
          <a:noFill/>
          <a:ln/>
        </p:spPr>
        <p:txBody>
          <a:bodyPr wrap="square" lIns="0" tIns="0" rIns="0" bIns="0" rtlCol="0" anchor="ctr">
            <a:normAutofit/>
          </a:bodyPr>
          <a:lstStyle/>
          <a:p>
            <a:pPr algn="ctr" indent="0" marL="0">
              <a:buNone/>
            </a:pPr>
            <a:r>
              <a:rPr lang="en-US" sz="900" dirty="0">
                <a:solidFill>
                  <a:srgbClr val="5E708F"/>
                </a:solidFill>
                <a:latin typeface="Arial" pitchFamily="34" charset="0"/>
                <a:ea typeface="Arial" pitchFamily="34" charset="-122"/>
                <a:cs typeface="Arial" pitchFamily="34" charset="-120"/>
              </a:rPr>
              <a:t>HTTP /get polling</a:t>
            </a:r>
            <a:endParaRPr lang="en-US" sz="900" dirty="0"/>
          </a:p>
        </p:txBody>
      </p:sp>
      <p:sp>
        <p:nvSpPr>
          <p:cNvPr id="25" name="Shape 23"/>
          <p:cNvSpPr/>
          <p:nvPr/>
        </p:nvSpPr>
        <p:spPr>
          <a:xfrm>
            <a:off x="2057400" y="3355848"/>
            <a:ext cx="576072" cy="0"/>
          </a:xfrm>
          <a:prstGeom prst="line">
            <a:avLst/>
          </a:prstGeom>
          <a:noFill/>
          <a:ln w="25400">
            <a:solidFill>
              <a:srgbClr val="356AE6"/>
            </a:solidFill>
            <a:prstDash val="solid"/>
            <a:headEnd type="none"/>
            <a:tailEnd type="triangle"/>
          </a:ln>
        </p:spPr>
      </p:sp>
      <p:sp>
        <p:nvSpPr>
          <p:cNvPr id="26" name="Shape 24"/>
          <p:cNvSpPr/>
          <p:nvPr/>
        </p:nvSpPr>
        <p:spPr>
          <a:xfrm>
            <a:off x="2679192" y="2651760"/>
            <a:ext cx="1691640" cy="1417320"/>
          </a:xfrm>
          <a:prstGeom prst="roundRect">
            <a:avLst>
              <a:gd name="adj" fmla="val 5161"/>
            </a:avLst>
          </a:prstGeom>
          <a:solidFill>
            <a:srgbClr val="FFFFFF"/>
          </a:solidFill>
          <a:ln w="12700">
            <a:solidFill>
              <a:srgbClr val="C9D5E5"/>
            </a:solidFill>
            <a:prstDash val="solid"/>
          </a:ln>
          <a:effectLst>
            <a:outerShdw sx="100000" sy="100000" kx="0" ky="0" algn="bl" rotWithShape="0" blurRad="1.0657517203310059e+29" dist="2.1315034406620118e+29" dir="1.259712e+35">
              <a:srgbClr val="000000">
                <a:alpha val="1.2e+34"/>
              </a:srgbClr>
            </a:outerShdw>
          </a:effectLst>
        </p:spPr>
      </p:sp>
      <p:sp>
        <p:nvSpPr>
          <p:cNvPr id="27" name="Shape 25"/>
          <p:cNvSpPr/>
          <p:nvPr/>
        </p:nvSpPr>
        <p:spPr>
          <a:xfrm>
            <a:off x="2880360" y="2880360"/>
            <a:ext cx="402336" cy="402336"/>
          </a:xfrm>
          <a:prstGeom prst="ellipse">
            <a:avLst/>
          </a:prstGeom>
          <a:solidFill>
            <a:srgbClr val="118AB2">
              <a:alpha val="18000"/>
            </a:srgbClr>
          </a:solidFill>
          <a:ln w="12700">
            <a:solidFill>
              <a:srgbClr val="118AB2">
                <a:alpha val="18000"/>
              </a:srgbClr>
            </a:solidFill>
            <a:prstDash val="solid"/>
          </a:ln>
        </p:spPr>
      </p:sp>
      <p:sp>
        <p:nvSpPr>
          <p:cNvPr id="28" name="Text 26"/>
          <p:cNvSpPr/>
          <p:nvPr/>
        </p:nvSpPr>
        <p:spPr>
          <a:xfrm>
            <a:off x="2880360" y="2880360"/>
            <a:ext cx="402336" cy="402336"/>
          </a:xfrm>
          <a:prstGeom prst="rect">
            <a:avLst/>
          </a:prstGeom>
          <a:noFill/>
          <a:ln/>
        </p:spPr>
        <p:txBody>
          <a:bodyPr wrap="square" lIns="0" tIns="0" rIns="0" bIns="0" rtlCol="0" anchor="ctr">
            <a:normAutofit/>
          </a:bodyPr>
          <a:lstStyle/>
          <a:p>
            <a:pPr algn="ctr" indent="0" marL="0">
              <a:buNone/>
            </a:pPr>
            <a:r>
              <a:rPr lang="en-US" sz="1600" b="1" dirty="0">
                <a:solidFill>
                  <a:srgbClr val="118AB2"/>
                </a:solidFill>
                <a:latin typeface="Arial" pitchFamily="34" charset="0"/>
                <a:ea typeface="Arial" pitchFamily="34" charset="-122"/>
                <a:cs typeface="Arial" pitchFamily="34" charset="-120"/>
              </a:rPr>
              <a:t>⇣</a:t>
            </a:r>
            <a:endParaRPr lang="en-US" sz="1600" dirty="0"/>
          </a:p>
        </p:txBody>
      </p:sp>
      <p:sp>
        <p:nvSpPr>
          <p:cNvPr id="29" name="Text 27"/>
          <p:cNvSpPr/>
          <p:nvPr/>
        </p:nvSpPr>
        <p:spPr>
          <a:xfrm>
            <a:off x="3392424" y="2816352"/>
            <a:ext cx="813816" cy="310896"/>
          </a:xfrm>
          <a:prstGeom prst="rect">
            <a:avLst/>
          </a:prstGeom>
          <a:noFill/>
          <a:ln/>
        </p:spPr>
        <p:txBody>
          <a:bodyPr wrap="square" lIns="0" tIns="0" rIns="0" bIns="0" rtlCol="0" anchor="ctr">
            <a:normAutofit/>
          </a:bodyPr>
          <a:lstStyle/>
          <a:p>
            <a:pPr indent="0" marL="0">
              <a:buNone/>
            </a:pPr>
            <a:r>
              <a:rPr lang="en-US" sz="1300" b="1" dirty="0">
                <a:solidFill>
                  <a:srgbClr val="14213D"/>
                </a:solidFill>
                <a:latin typeface="Arial" pitchFamily="34" charset="0"/>
                <a:ea typeface="Arial" pitchFamily="34" charset="-122"/>
                <a:cs typeface="Arial" pitchFamily="34" charset="-120"/>
              </a:rPr>
              <a:t>Collector</a:t>
            </a:r>
            <a:endParaRPr lang="en-US" sz="1300" dirty="0"/>
          </a:p>
        </p:txBody>
      </p:sp>
      <p:sp>
        <p:nvSpPr>
          <p:cNvPr id="30" name="Text 28"/>
          <p:cNvSpPr/>
          <p:nvPr/>
        </p:nvSpPr>
        <p:spPr>
          <a:xfrm>
            <a:off x="3392424" y="3154680"/>
            <a:ext cx="813816" cy="795528"/>
          </a:xfrm>
          <a:prstGeom prst="rect">
            <a:avLst/>
          </a:prstGeom>
          <a:noFill/>
          <a:ln/>
        </p:spPr>
        <p:txBody>
          <a:bodyPr wrap="square" lIns="0" tIns="0" rIns="0" bIns="0" rtlCol="0" anchor="t">
            <a:normAutofit/>
          </a:bodyPr>
          <a:lstStyle/>
          <a:p>
            <a:pPr indent="0" marL="0">
              <a:buNone/>
            </a:pPr>
            <a:r>
              <a:rPr lang="en-US" sz="950" dirty="0">
                <a:solidFill>
                  <a:srgbClr val="5E708F"/>
                </a:solidFill>
                <a:latin typeface="Arial" pitchFamily="34" charset="0"/>
                <a:ea typeface="Arial" pitchFamily="34" charset="-122"/>
                <a:cs typeface="Arial" pitchFamily="34" charset="-120"/>
              </a:rPr>
              <a:t>Validate LAN URL</a:t>
            </a:r>
            <a:endParaRPr lang="en-US" sz="950" dirty="0"/>
          </a:p>
          <a:p>
            <a:pPr indent="0" marL="0">
              <a:buNone/>
            </a:pPr>
            <a:r>
              <a:rPr lang="en-US" sz="950" dirty="0">
                <a:solidFill>
                  <a:srgbClr val="5E708F"/>
                </a:solidFill>
                <a:latin typeface="Arial" pitchFamily="34" charset="0"/>
                <a:ea typeface="Arial" pitchFamily="34" charset="-122"/>
                <a:cs typeface="Arial" pitchFamily="34" charset="-120"/>
              </a:rPr>
              <a:t>Cursor + deduplication</a:t>
            </a:r>
            <a:endParaRPr lang="en-US" sz="950" dirty="0"/>
          </a:p>
          <a:p>
            <a:pPr indent="0" marL="0">
              <a:buNone/>
            </a:pPr>
            <a:r>
              <a:rPr lang="en-US" sz="950" dirty="0">
                <a:solidFill>
                  <a:srgbClr val="5E708F"/>
                </a:solidFill>
                <a:latin typeface="Arial" pitchFamily="34" charset="0"/>
                <a:ea typeface="Arial" pitchFamily="34" charset="-122"/>
                <a:cs typeface="Arial" pitchFamily="34" charset="-120"/>
              </a:rPr>
              <a:t>Normalize telemetry</a:t>
            </a:r>
            <a:endParaRPr lang="en-US" sz="950" dirty="0"/>
          </a:p>
        </p:txBody>
      </p:sp>
      <p:sp>
        <p:nvSpPr>
          <p:cNvPr id="31" name="Shape 29"/>
          <p:cNvSpPr/>
          <p:nvPr/>
        </p:nvSpPr>
        <p:spPr>
          <a:xfrm>
            <a:off x="4443984" y="3355848"/>
            <a:ext cx="521208" cy="0"/>
          </a:xfrm>
          <a:prstGeom prst="line">
            <a:avLst/>
          </a:prstGeom>
          <a:noFill/>
          <a:ln w="25400">
            <a:solidFill>
              <a:srgbClr val="356AE6"/>
            </a:solidFill>
            <a:prstDash val="solid"/>
            <a:headEnd type="none"/>
            <a:tailEnd type="triangle"/>
          </a:ln>
        </p:spPr>
      </p:sp>
      <p:sp>
        <p:nvSpPr>
          <p:cNvPr id="32" name="Shape 30"/>
          <p:cNvSpPr/>
          <p:nvPr/>
        </p:nvSpPr>
        <p:spPr>
          <a:xfrm>
            <a:off x="5001768" y="2542032"/>
            <a:ext cx="1517904" cy="1627632"/>
          </a:xfrm>
          <a:prstGeom prst="hexagon">
            <a:avLst/>
          </a:prstGeom>
          <a:solidFill>
            <a:srgbClr val="7048CA">
              <a:alpha val="20000"/>
            </a:srgbClr>
          </a:solidFill>
          <a:ln w="20320">
            <a:solidFill>
              <a:srgbClr val="7048CA"/>
            </a:solidFill>
            <a:prstDash val="solid"/>
          </a:ln>
          <a:effectLst>
            <a:outerShdw sx="100000" sy="100000" kx="0" ky="0" algn="bl" rotWithShape="0" blurRad="991151082210000000000" dist="1.32153477628e+21" dir="3.4992e+25">
              <a:srgbClr val="356AE6">
                <a:alpha val="1.8e+24"/>
              </a:srgbClr>
            </a:outerShdw>
          </a:effectLst>
        </p:spPr>
      </p:sp>
      <p:sp>
        <p:nvSpPr>
          <p:cNvPr id="33" name="Text 31"/>
          <p:cNvSpPr/>
          <p:nvPr/>
        </p:nvSpPr>
        <p:spPr>
          <a:xfrm>
            <a:off x="5212080" y="2889504"/>
            <a:ext cx="1097280" cy="320040"/>
          </a:xfrm>
          <a:prstGeom prst="rect">
            <a:avLst/>
          </a:prstGeom>
          <a:noFill/>
          <a:ln/>
        </p:spPr>
        <p:txBody>
          <a:bodyPr wrap="square" lIns="0" tIns="0" rIns="0" bIns="0" rtlCol="0" anchor="ctr">
            <a:normAutofit/>
          </a:bodyPr>
          <a:lstStyle/>
          <a:p>
            <a:pPr algn="ctr" indent="0" marL="0">
              <a:buNone/>
            </a:pPr>
            <a:r>
              <a:rPr lang="en-US" sz="1800" b="1" dirty="0">
                <a:solidFill>
                  <a:srgbClr val="7048CA"/>
                </a:solidFill>
                <a:latin typeface="Arial" pitchFamily="34" charset="0"/>
                <a:ea typeface="Arial" pitchFamily="34" charset="-122"/>
                <a:cs typeface="Arial" pitchFamily="34" charset="-120"/>
              </a:rPr>
              <a:t>MQTT</a:t>
            </a:r>
            <a:endParaRPr lang="en-US" sz="1800" dirty="0"/>
          </a:p>
        </p:txBody>
      </p:sp>
      <p:sp>
        <p:nvSpPr>
          <p:cNvPr id="34" name="Text 32"/>
          <p:cNvSpPr/>
          <p:nvPr/>
        </p:nvSpPr>
        <p:spPr>
          <a:xfrm>
            <a:off x="5230368" y="3273552"/>
            <a:ext cx="1060704" cy="530352"/>
          </a:xfrm>
          <a:prstGeom prst="rect">
            <a:avLst/>
          </a:prstGeom>
          <a:noFill/>
          <a:ln/>
        </p:spPr>
        <p:txBody>
          <a:bodyPr wrap="square" lIns="0" tIns="0" rIns="0" bIns="0" rtlCol="0" anchor="ctr">
            <a:normAutofit/>
          </a:bodyPr>
          <a:lstStyle/>
          <a:p>
            <a:pPr algn="ctr" indent="0" marL="0">
              <a:buNone/>
            </a:pPr>
            <a:r>
              <a:rPr lang="en-US" sz="900" dirty="0">
                <a:solidFill>
                  <a:srgbClr val="5E708F"/>
                </a:solidFill>
                <a:latin typeface="Arial" pitchFamily="34" charset="0"/>
                <a:ea typeface="Arial" pitchFamily="34" charset="-122"/>
                <a:cs typeface="Arial" pitchFamily="34" charset="-120"/>
              </a:rPr>
              <a:t>Mosquitto</a:t>
            </a:r>
            <a:endParaRPr lang="en-US" sz="900" dirty="0"/>
          </a:p>
          <a:p>
            <a:pPr algn="ctr" indent="0" marL="0">
              <a:buNone/>
            </a:pPr>
            <a:r>
              <a:rPr lang="en-US" sz="900" dirty="0">
                <a:solidFill>
                  <a:srgbClr val="5E708F"/>
                </a:solidFill>
                <a:latin typeface="Arial" pitchFamily="34" charset="0"/>
                <a:ea typeface="Arial" pitchFamily="34" charset="-122"/>
                <a:cs typeface="Arial" pitchFamily="34" charset="-120"/>
              </a:rPr>
              <a:t>typed topics</a:t>
            </a:r>
            <a:endParaRPr lang="en-US" sz="900" dirty="0"/>
          </a:p>
        </p:txBody>
      </p:sp>
      <p:sp>
        <p:nvSpPr>
          <p:cNvPr id="35" name="Shape 33"/>
          <p:cNvSpPr/>
          <p:nvPr/>
        </p:nvSpPr>
        <p:spPr>
          <a:xfrm>
            <a:off x="6528816" y="3355848"/>
            <a:ext cx="512064" cy="0"/>
          </a:xfrm>
          <a:prstGeom prst="line">
            <a:avLst/>
          </a:prstGeom>
          <a:noFill/>
          <a:ln w="25400">
            <a:solidFill>
              <a:srgbClr val="356AE6"/>
            </a:solidFill>
            <a:prstDash val="solid"/>
            <a:headEnd type="none"/>
            <a:tailEnd type="triangle"/>
          </a:ln>
        </p:spPr>
      </p:sp>
      <p:sp>
        <p:nvSpPr>
          <p:cNvPr id="36" name="Shape 34"/>
          <p:cNvSpPr/>
          <p:nvPr/>
        </p:nvSpPr>
        <p:spPr>
          <a:xfrm>
            <a:off x="7095744" y="2258568"/>
            <a:ext cx="2011680" cy="2194560"/>
          </a:xfrm>
          <a:prstGeom prst="roundRect">
            <a:avLst>
              <a:gd name="adj" fmla="val 3636"/>
            </a:avLst>
          </a:prstGeom>
          <a:solidFill>
            <a:srgbClr val="FFFFFF"/>
          </a:solidFill>
          <a:ln w="12700">
            <a:solidFill>
              <a:srgbClr val="C9D5E5"/>
            </a:solidFill>
            <a:prstDash val="solid"/>
          </a:ln>
          <a:effectLst>
            <a:outerShdw sx="100000" sy="100000" kx="0" ky="0" algn="bl" rotWithShape="0" blurRad="1.3535046848203775e+33" dist="2.707009369640755e+33" dir="7.558272e+39">
              <a:srgbClr val="000000">
                <a:alpha val="1.1999999999999999e+39"/>
              </a:srgbClr>
            </a:outerShdw>
          </a:effectLst>
        </p:spPr>
      </p:sp>
      <p:sp>
        <p:nvSpPr>
          <p:cNvPr id="37" name="Shape 35"/>
          <p:cNvSpPr/>
          <p:nvPr/>
        </p:nvSpPr>
        <p:spPr>
          <a:xfrm>
            <a:off x="7296912" y="2487168"/>
            <a:ext cx="402336" cy="402336"/>
          </a:xfrm>
          <a:prstGeom prst="ellipse">
            <a:avLst/>
          </a:prstGeom>
          <a:solidFill>
            <a:srgbClr val="078F68">
              <a:alpha val="18000"/>
            </a:srgbClr>
          </a:solidFill>
          <a:ln w="12700">
            <a:solidFill>
              <a:srgbClr val="078F68">
                <a:alpha val="18000"/>
              </a:srgbClr>
            </a:solidFill>
            <a:prstDash val="solid"/>
          </a:ln>
        </p:spPr>
      </p:sp>
      <p:sp>
        <p:nvSpPr>
          <p:cNvPr id="38" name="Text 36"/>
          <p:cNvSpPr/>
          <p:nvPr/>
        </p:nvSpPr>
        <p:spPr>
          <a:xfrm>
            <a:off x="7296912" y="2487168"/>
            <a:ext cx="402336" cy="402336"/>
          </a:xfrm>
          <a:prstGeom prst="rect">
            <a:avLst/>
          </a:prstGeom>
          <a:noFill/>
          <a:ln/>
        </p:spPr>
        <p:txBody>
          <a:bodyPr wrap="square" lIns="0" tIns="0" rIns="0" bIns="0" rtlCol="0" anchor="ctr">
            <a:normAutofit/>
          </a:bodyPr>
          <a:lstStyle/>
          <a:p>
            <a:pPr algn="ctr" indent="0" marL="0">
              <a:buNone/>
            </a:pPr>
            <a:r>
              <a:rPr lang="en-US" sz="1600" b="1" dirty="0">
                <a:solidFill>
                  <a:srgbClr val="078F68"/>
                </a:solidFill>
                <a:latin typeface="Arial" pitchFamily="34" charset="0"/>
                <a:ea typeface="Arial" pitchFamily="34" charset="-122"/>
                <a:cs typeface="Arial" pitchFamily="34" charset="-120"/>
              </a:rPr>
              <a:t>◆</a:t>
            </a:r>
            <a:endParaRPr lang="en-US" sz="1600" dirty="0"/>
          </a:p>
        </p:txBody>
      </p:sp>
      <p:sp>
        <p:nvSpPr>
          <p:cNvPr id="39" name="Text 37"/>
          <p:cNvSpPr/>
          <p:nvPr/>
        </p:nvSpPr>
        <p:spPr>
          <a:xfrm>
            <a:off x="7808976" y="2423160"/>
            <a:ext cx="1133856" cy="310896"/>
          </a:xfrm>
          <a:prstGeom prst="rect">
            <a:avLst/>
          </a:prstGeom>
          <a:noFill/>
          <a:ln/>
        </p:spPr>
        <p:txBody>
          <a:bodyPr wrap="square" lIns="0" tIns="0" rIns="0" bIns="0" rtlCol="0" anchor="ctr">
            <a:normAutofit/>
          </a:bodyPr>
          <a:lstStyle/>
          <a:p>
            <a:pPr indent="0" marL="0">
              <a:buNone/>
            </a:pPr>
            <a:r>
              <a:rPr lang="en-US" sz="1300" b="1" dirty="0">
                <a:solidFill>
                  <a:srgbClr val="14213D"/>
                </a:solidFill>
                <a:latin typeface="Arial" pitchFamily="34" charset="0"/>
                <a:ea typeface="Arial" pitchFamily="34" charset="-122"/>
                <a:cs typeface="Arial" pitchFamily="34" charset="-120"/>
              </a:rPr>
              <a:t>Per-device runtime</a:t>
            </a:r>
            <a:endParaRPr lang="en-US" sz="1300" dirty="0"/>
          </a:p>
        </p:txBody>
      </p:sp>
      <p:sp>
        <p:nvSpPr>
          <p:cNvPr id="40" name="Text 38"/>
          <p:cNvSpPr/>
          <p:nvPr/>
        </p:nvSpPr>
        <p:spPr>
          <a:xfrm>
            <a:off x="7808976" y="2761488"/>
            <a:ext cx="1133856" cy="1572768"/>
          </a:xfrm>
          <a:prstGeom prst="rect">
            <a:avLst/>
          </a:prstGeom>
          <a:noFill/>
          <a:ln/>
        </p:spPr>
        <p:txBody>
          <a:bodyPr wrap="square" lIns="0" tIns="0" rIns="0" bIns="0" rtlCol="0" anchor="t">
            <a:normAutofit/>
          </a:bodyPr>
          <a:lstStyle/>
          <a:p>
            <a:pPr indent="0" marL="0">
              <a:buNone/>
            </a:pPr>
            <a:r>
              <a:rPr lang="en-US" sz="950" dirty="0">
                <a:solidFill>
                  <a:srgbClr val="5E708F"/>
                </a:solidFill>
                <a:latin typeface="Arial" pitchFamily="34" charset="0"/>
                <a:ea typeface="Arial" pitchFamily="34" charset="-122"/>
                <a:cs typeface="Arial" pitchFamily="34" charset="-120"/>
              </a:rPr>
              <a:t>Ordered inbox</a:t>
            </a:r>
            <a:endParaRPr lang="en-US" sz="950" dirty="0"/>
          </a:p>
          <a:p>
            <a:pPr indent="0" marL="0">
              <a:buNone/>
            </a:pPr>
            <a:r>
              <a:rPr lang="en-US" sz="950" dirty="0">
                <a:solidFill>
                  <a:srgbClr val="5E708F"/>
                </a:solidFill>
                <a:latin typeface="Arial" pitchFamily="34" charset="0"/>
                <a:ea typeface="Arial" pitchFamily="34" charset="-122"/>
                <a:cs typeface="Arial" pitchFamily="34" charset="-120"/>
              </a:rPr>
              <a:t>Pure detector</a:t>
            </a:r>
            <a:endParaRPr lang="en-US" sz="950" dirty="0"/>
          </a:p>
          <a:p>
            <a:pPr indent="0" marL="0">
              <a:buNone/>
            </a:pPr>
            <a:r>
              <a:rPr lang="en-US" sz="950" dirty="0">
                <a:solidFill>
                  <a:srgbClr val="5E708F"/>
                </a:solidFill>
                <a:latin typeface="Arial" pitchFamily="34" charset="0"/>
                <a:ea typeface="Arial" pitchFamily="34" charset="-122"/>
                <a:cs typeface="Arial" pitchFamily="34" charset="-120"/>
              </a:rPr>
              <a:t>State transitions</a:t>
            </a:r>
            <a:endParaRPr lang="en-US" sz="950" dirty="0"/>
          </a:p>
          <a:p>
            <a:pPr indent="0" marL="0">
              <a:buNone/>
            </a:pPr>
            <a:r>
              <a:rPr lang="en-US" sz="950" dirty="0">
                <a:solidFill>
                  <a:srgbClr val="5E708F"/>
                </a:solidFill>
                <a:latin typeface="Arial" pitchFamily="34" charset="0"/>
                <a:ea typeface="Arial" pitchFamily="34" charset="-122"/>
                <a:cs typeface="Arial" pitchFamily="34" charset="-120"/>
              </a:rPr>
              <a:t>Alert publication</a:t>
            </a:r>
            <a:endParaRPr lang="en-US" sz="950" dirty="0"/>
          </a:p>
        </p:txBody>
      </p:sp>
      <p:sp>
        <p:nvSpPr>
          <p:cNvPr id="41" name="Shape 39"/>
          <p:cNvSpPr/>
          <p:nvPr/>
        </p:nvSpPr>
        <p:spPr>
          <a:xfrm>
            <a:off x="9107424" y="2852928"/>
            <a:ext cx="621792" cy="-502920"/>
          </a:xfrm>
          <a:prstGeom prst="line">
            <a:avLst/>
          </a:prstGeom>
          <a:noFill/>
          <a:ln w="20320">
            <a:solidFill>
              <a:srgbClr val="078F68"/>
            </a:solidFill>
            <a:prstDash val="solid"/>
            <a:headEnd type="none"/>
            <a:tailEnd type="triangle"/>
          </a:ln>
        </p:spPr>
      </p:sp>
      <p:sp>
        <p:nvSpPr>
          <p:cNvPr id="42" name="Shape 40"/>
          <p:cNvSpPr/>
          <p:nvPr/>
        </p:nvSpPr>
        <p:spPr>
          <a:xfrm>
            <a:off x="9107424" y="3822192"/>
            <a:ext cx="621792" cy="530352"/>
          </a:xfrm>
          <a:prstGeom prst="line">
            <a:avLst/>
          </a:prstGeom>
          <a:noFill/>
          <a:ln w="20320">
            <a:solidFill>
              <a:srgbClr val="B97912"/>
            </a:solidFill>
            <a:prstDash val="solid"/>
            <a:headEnd type="none"/>
            <a:tailEnd type="triangle"/>
          </a:ln>
        </p:spPr>
      </p:sp>
      <p:sp>
        <p:nvSpPr>
          <p:cNvPr id="43" name="Shape 41"/>
          <p:cNvSpPr/>
          <p:nvPr/>
        </p:nvSpPr>
        <p:spPr>
          <a:xfrm>
            <a:off x="9774936" y="1847088"/>
            <a:ext cx="1901952" cy="1225296"/>
          </a:xfrm>
          <a:prstGeom prst="roundRect">
            <a:avLst>
              <a:gd name="adj" fmla="val 5970"/>
            </a:avLst>
          </a:prstGeom>
          <a:solidFill>
            <a:srgbClr val="FFFFFF"/>
          </a:solidFill>
          <a:ln w="12700">
            <a:solidFill>
              <a:srgbClr val="C9D5E5"/>
            </a:solidFill>
            <a:prstDash val="solid"/>
          </a:ln>
          <a:effectLst>
            <a:outerShdw sx="100000" sy="100000" kx="0" ky="0" algn="bl" rotWithShape="0" blurRad="1.7189509497218795e+37" dist="3.437901899443759e+37" dir="4.5349632000000006e+44">
              <a:srgbClr val="000000">
                <a:alpha val="1.1999999999999999e+44"/>
              </a:srgbClr>
            </a:outerShdw>
          </a:effectLst>
        </p:spPr>
      </p:sp>
      <p:sp>
        <p:nvSpPr>
          <p:cNvPr id="44" name="Shape 42"/>
          <p:cNvSpPr/>
          <p:nvPr/>
        </p:nvSpPr>
        <p:spPr>
          <a:xfrm>
            <a:off x="9976104" y="2075688"/>
            <a:ext cx="402336" cy="402336"/>
          </a:xfrm>
          <a:prstGeom prst="ellipse">
            <a:avLst/>
          </a:prstGeom>
          <a:solidFill>
            <a:srgbClr val="356AE6">
              <a:alpha val="18000"/>
            </a:srgbClr>
          </a:solidFill>
          <a:ln w="12700">
            <a:solidFill>
              <a:srgbClr val="356AE6">
                <a:alpha val="18000"/>
              </a:srgbClr>
            </a:solidFill>
            <a:prstDash val="solid"/>
          </a:ln>
        </p:spPr>
      </p:sp>
      <p:sp>
        <p:nvSpPr>
          <p:cNvPr id="45" name="Text 43"/>
          <p:cNvSpPr/>
          <p:nvPr/>
        </p:nvSpPr>
        <p:spPr>
          <a:xfrm>
            <a:off x="9976104" y="2075688"/>
            <a:ext cx="402336" cy="402336"/>
          </a:xfrm>
          <a:prstGeom prst="rect">
            <a:avLst/>
          </a:prstGeom>
          <a:noFill/>
          <a:ln/>
        </p:spPr>
        <p:txBody>
          <a:bodyPr wrap="square" lIns="0" tIns="0" rIns="0" bIns="0" rtlCol="0" anchor="ctr">
            <a:normAutofit/>
          </a:bodyPr>
          <a:lstStyle/>
          <a:p>
            <a:pPr algn="ctr" indent="0" marL="0">
              <a:buNone/>
            </a:pPr>
            <a:r>
              <a:rPr lang="en-US" sz="1600" b="1" dirty="0">
                <a:solidFill>
                  <a:srgbClr val="356AE6"/>
                </a:solidFill>
                <a:latin typeface="Arial" pitchFamily="34" charset="0"/>
                <a:ea typeface="Arial" pitchFamily="34" charset="-122"/>
                <a:cs typeface="Arial" pitchFamily="34" charset="-120"/>
              </a:rPr>
              <a:t>↯</a:t>
            </a:r>
            <a:endParaRPr lang="en-US" sz="1600" dirty="0"/>
          </a:p>
        </p:txBody>
      </p:sp>
      <p:sp>
        <p:nvSpPr>
          <p:cNvPr id="46" name="Text 44"/>
          <p:cNvSpPr/>
          <p:nvPr/>
        </p:nvSpPr>
        <p:spPr>
          <a:xfrm>
            <a:off x="10488168" y="2011680"/>
            <a:ext cx="1024128" cy="310896"/>
          </a:xfrm>
          <a:prstGeom prst="rect">
            <a:avLst/>
          </a:prstGeom>
          <a:noFill/>
          <a:ln/>
        </p:spPr>
        <p:txBody>
          <a:bodyPr wrap="square" lIns="0" tIns="0" rIns="0" bIns="0" rtlCol="0" anchor="ctr">
            <a:normAutofit/>
          </a:bodyPr>
          <a:lstStyle/>
          <a:p>
            <a:pPr indent="0" marL="0">
              <a:buNone/>
            </a:pPr>
            <a:r>
              <a:rPr lang="en-US" sz="1300" b="1" dirty="0">
                <a:solidFill>
                  <a:srgbClr val="14213D"/>
                </a:solidFill>
                <a:latin typeface="Arial" pitchFamily="34" charset="0"/>
                <a:ea typeface="Arial" pitchFamily="34" charset="-122"/>
                <a:cs typeface="Arial" pitchFamily="34" charset="-120"/>
              </a:rPr>
              <a:t>FastAPI + WS</a:t>
            </a:r>
            <a:endParaRPr lang="en-US" sz="1300" dirty="0"/>
          </a:p>
        </p:txBody>
      </p:sp>
      <p:sp>
        <p:nvSpPr>
          <p:cNvPr id="47" name="Text 45"/>
          <p:cNvSpPr/>
          <p:nvPr/>
        </p:nvSpPr>
        <p:spPr>
          <a:xfrm>
            <a:off x="10488168" y="2350008"/>
            <a:ext cx="1024128" cy="603504"/>
          </a:xfrm>
          <a:prstGeom prst="rect">
            <a:avLst/>
          </a:prstGeom>
          <a:noFill/>
          <a:ln/>
        </p:spPr>
        <p:txBody>
          <a:bodyPr wrap="square" lIns="0" tIns="0" rIns="0" bIns="0" rtlCol="0" anchor="t">
            <a:normAutofit/>
          </a:bodyPr>
          <a:lstStyle/>
          <a:p>
            <a:pPr indent="0" marL="0">
              <a:buNone/>
            </a:pPr>
            <a:r>
              <a:rPr lang="en-US" sz="950" dirty="0">
                <a:solidFill>
                  <a:srgbClr val="5E708F"/>
                </a:solidFill>
                <a:latin typeface="Arial" pitchFamily="34" charset="0"/>
                <a:ea typeface="Arial" pitchFamily="34" charset="-122"/>
                <a:cs typeface="Arial" pitchFamily="34" charset="-120"/>
              </a:rPr>
              <a:t>Commands and live UI</a:t>
            </a:r>
            <a:endParaRPr lang="en-US" sz="950" dirty="0"/>
          </a:p>
        </p:txBody>
      </p:sp>
      <p:sp>
        <p:nvSpPr>
          <p:cNvPr id="48" name="Shape 46"/>
          <p:cNvSpPr/>
          <p:nvPr/>
        </p:nvSpPr>
        <p:spPr>
          <a:xfrm>
            <a:off x="9774936" y="4041648"/>
            <a:ext cx="1901952" cy="1225296"/>
          </a:xfrm>
          <a:prstGeom prst="roundRect">
            <a:avLst>
              <a:gd name="adj" fmla="val 5970"/>
            </a:avLst>
          </a:prstGeom>
          <a:solidFill>
            <a:srgbClr val="FFFFFF"/>
          </a:solidFill>
          <a:ln w="12700">
            <a:solidFill>
              <a:srgbClr val="C9D5E5"/>
            </a:solidFill>
            <a:prstDash val="solid"/>
          </a:ln>
          <a:effectLst>
            <a:outerShdw sx="100000" sy="100000" kx="0" ky="0" algn="bl" rotWithShape="0" blurRad="2.183067706146787e+41" dist="4.366135412293574e+41" dir="2.72097792e+49">
              <a:srgbClr val="000000">
                <a:alpha val="1.2e+49"/>
              </a:srgbClr>
            </a:outerShdw>
          </a:effectLst>
        </p:spPr>
      </p:sp>
      <p:sp>
        <p:nvSpPr>
          <p:cNvPr id="49" name="Shape 47"/>
          <p:cNvSpPr/>
          <p:nvPr/>
        </p:nvSpPr>
        <p:spPr>
          <a:xfrm>
            <a:off x="9976104" y="4270248"/>
            <a:ext cx="402336" cy="402336"/>
          </a:xfrm>
          <a:prstGeom prst="ellipse">
            <a:avLst/>
          </a:prstGeom>
          <a:solidFill>
            <a:srgbClr val="B97912">
              <a:alpha val="18000"/>
            </a:srgbClr>
          </a:solidFill>
          <a:ln w="12700">
            <a:solidFill>
              <a:srgbClr val="B97912">
                <a:alpha val="18000"/>
              </a:srgbClr>
            </a:solidFill>
            <a:prstDash val="solid"/>
          </a:ln>
        </p:spPr>
      </p:sp>
      <p:sp>
        <p:nvSpPr>
          <p:cNvPr id="50" name="Text 48"/>
          <p:cNvSpPr/>
          <p:nvPr/>
        </p:nvSpPr>
        <p:spPr>
          <a:xfrm>
            <a:off x="9976104" y="4270248"/>
            <a:ext cx="402336" cy="402336"/>
          </a:xfrm>
          <a:prstGeom prst="rect">
            <a:avLst/>
          </a:prstGeom>
          <a:noFill/>
          <a:ln/>
        </p:spPr>
        <p:txBody>
          <a:bodyPr wrap="square" lIns="0" tIns="0" rIns="0" bIns="0" rtlCol="0" anchor="ctr">
            <a:normAutofit/>
          </a:bodyPr>
          <a:lstStyle/>
          <a:p>
            <a:pPr algn="ctr" indent="0" marL="0">
              <a:buNone/>
            </a:pPr>
            <a:r>
              <a:rPr lang="en-US" sz="1600" b="1" dirty="0">
                <a:solidFill>
                  <a:srgbClr val="B97912"/>
                </a:solidFill>
                <a:latin typeface="Arial" pitchFamily="34" charset="0"/>
                <a:ea typeface="Arial" pitchFamily="34" charset="-122"/>
                <a:cs typeface="Arial" pitchFamily="34" charset="-120"/>
              </a:rPr>
              <a:t>▤</a:t>
            </a:r>
            <a:endParaRPr lang="en-US" sz="1600" dirty="0"/>
          </a:p>
        </p:txBody>
      </p:sp>
      <p:sp>
        <p:nvSpPr>
          <p:cNvPr id="51" name="Text 49"/>
          <p:cNvSpPr/>
          <p:nvPr/>
        </p:nvSpPr>
        <p:spPr>
          <a:xfrm>
            <a:off x="10488168" y="4206240"/>
            <a:ext cx="1024128" cy="310896"/>
          </a:xfrm>
          <a:prstGeom prst="rect">
            <a:avLst/>
          </a:prstGeom>
          <a:noFill/>
          <a:ln/>
        </p:spPr>
        <p:txBody>
          <a:bodyPr wrap="square" lIns="0" tIns="0" rIns="0" bIns="0" rtlCol="0" anchor="ctr">
            <a:normAutofit/>
          </a:bodyPr>
          <a:lstStyle/>
          <a:p>
            <a:pPr indent="0" marL="0">
              <a:buNone/>
            </a:pPr>
            <a:r>
              <a:rPr lang="en-US" sz="1300" b="1" dirty="0">
                <a:solidFill>
                  <a:srgbClr val="14213D"/>
                </a:solidFill>
                <a:latin typeface="Arial" pitchFamily="34" charset="0"/>
                <a:ea typeface="Arial" pitchFamily="34" charset="-122"/>
                <a:cs typeface="Arial" pitchFamily="34" charset="-120"/>
              </a:rPr>
              <a:t>SQLite</a:t>
            </a:r>
            <a:endParaRPr lang="en-US" sz="1300" dirty="0"/>
          </a:p>
        </p:txBody>
      </p:sp>
      <p:sp>
        <p:nvSpPr>
          <p:cNvPr id="52" name="Text 50"/>
          <p:cNvSpPr/>
          <p:nvPr/>
        </p:nvSpPr>
        <p:spPr>
          <a:xfrm>
            <a:off x="10488168" y="4544568"/>
            <a:ext cx="1024128" cy="603504"/>
          </a:xfrm>
          <a:prstGeom prst="rect">
            <a:avLst/>
          </a:prstGeom>
          <a:noFill/>
          <a:ln/>
        </p:spPr>
        <p:txBody>
          <a:bodyPr wrap="square" lIns="0" tIns="0" rIns="0" bIns="0" rtlCol="0" anchor="t">
            <a:normAutofit/>
          </a:bodyPr>
          <a:lstStyle/>
          <a:p>
            <a:pPr indent="0" marL="0">
              <a:buNone/>
            </a:pPr>
            <a:r>
              <a:rPr lang="en-US" sz="950" dirty="0">
                <a:solidFill>
                  <a:srgbClr val="5E708F"/>
                </a:solidFill>
                <a:latin typeface="Arial" pitchFamily="34" charset="0"/>
                <a:ea typeface="Arial" pitchFamily="34" charset="-122"/>
                <a:cs typeface="Arial" pitchFamily="34" charset="-120"/>
              </a:rPr>
              <a:t>Devices, state, events</a:t>
            </a:r>
            <a:endParaRPr lang="en-US" sz="950" dirty="0"/>
          </a:p>
        </p:txBody>
      </p:sp>
      <p:sp>
        <p:nvSpPr>
          <p:cNvPr id="53" name="Shape 51"/>
          <p:cNvSpPr/>
          <p:nvPr/>
        </p:nvSpPr>
        <p:spPr>
          <a:xfrm>
            <a:off x="10716768" y="3072384"/>
            <a:ext cx="0" cy="795528"/>
          </a:xfrm>
          <a:prstGeom prst="line">
            <a:avLst/>
          </a:prstGeom>
          <a:noFill/>
          <a:ln w="17780">
            <a:solidFill>
              <a:srgbClr val="426EDC"/>
            </a:solidFill>
            <a:prstDash val="solid"/>
            <a:headEnd type="none"/>
            <a:tailEnd type="triangle"/>
          </a:ln>
        </p:spPr>
      </p:sp>
      <p:sp>
        <p:nvSpPr>
          <p:cNvPr id="54" name="Text 52"/>
          <p:cNvSpPr/>
          <p:nvPr/>
        </p:nvSpPr>
        <p:spPr>
          <a:xfrm rot="5400000">
            <a:off x="10844784" y="3364992"/>
            <a:ext cx="685800" cy="182880"/>
          </a:xfrm>
          <a:prstGeom prst="rect">
            <a:avLst/>
          </a:prstGeom>
          <a:noFill/>
          <a:ln/>
        </p:spPr>
        <p:txBody>
          <a:bodyPr wrap="square" lIns="0" tIns="0" rIns="0" bIns="0" rtlCol="0" anchor="ctr">
            <a:normAutofit/>
          </a:bodyPr>
          <a:lstStyle/>
          <a:p>
            <a:pPr algn="ctr" indent="0" marL="0">
              <a:buNone/>
            </a:pPr>
            <a:r>
              <a:rPr lang="en-US" sz="750" dirty="0">
                <a:solidFill>
                  <a:srgbClr val="5E708F"/>
                </a:solidFill>
                <a:latin typeface="Arial" pitchFamily="34" charset="0"/>
                <a:ea typeface="Arial" pitchFamily="34" charset="-122"/>
                <a:cs typeface="Arial" pitchFamily="34" charset="-120"/>
              </a:rPr>
              <a:t>HTTP queries</a:t>
            </a:r>
            <a:endParaRPr lang="en-US" sz="750" dirty="0"/>
          </a:p>
        </p:txBody>
      </p:sp>
      <p:sp>
        <p:nvSpPr>
          <p:cNvPr id="55" name="Shape 53"/>
          <p:cNvSpPr/>
          <p:nvPr/>
        </p:nvSpPr>
        <p:spPr>
          <a:xfrm>
            <a:off x="3913632" y="5166360"/>
            <a:ext cx="4736592" cy="676656"/>
          </a:xfrm>
          <a:prstGeom prst="roundRect">
            <a:avLst>
              <a:gd name="adj" fmla="val 10811"/>
            </a:avLst>
          </a:prstGeom>
          <a:solidFill>
            <a:srgbClr val="EEF3FA"/>
          </a:solidFill>
          <a:ln w="12700">
            <a:solidFill>
              <a:srgbClr val="C9D5E5"/>
            </a:solidFill>
            <a:prstDash val="solid"/>
          </a:ln>
        </p:spPr>
      </p:sp>
      <p:sp>
        <p:nvSpPr>
          <p:cNvPr id="56" name="Text 54"/>
          <p:cNvSpPr/>
          <p:nvPr/>
        </p:nvSpPr>
        <p:spPr>
          <a:xfrm>
            <a:off x="4160520" y="5330952"/>
            <a:ext cx="1417320" cy="228600"/>
          </a:xfrm>
          <a:prstGeom prst="rect">
            <a:avLst/>
          </a:prstGeom>
          <a:noFill/>
          <a:ln/>
        </p:spPr>
        <p:txBody>
          <a:bodyPr wrap="square" lIns="0" tIns="0" rIns="0" bIns="0" rtlCol="0" anchor="ctr">
            <a:normAutofit/>
          </a:bodyPr>
          <a:lstStyle/>
          <a:p>
            <a:pPr indent="0" marL="0">
              <a:buNone/>
            </a:pPr>
            <a:r>
              <a:rPr lang="en-US" sz="1200" b="1" dirty="0">
                <a:solidFill>
                  <a:srgbClr val="14213D"/>
                </a:solidFill>
                <a:latin typeface="Arial" pitchFamily="34" charset="0"/>
                <a:ea typeface="Arial" pitchFamily="34" charset="-122"/>
                <a:cs typeface="Arial" pitchFamily="34" charset="-120"/>
              </a:rPr>
              <a:t>Browser dashboard</a:t>
            </a:r>
            <a:endParaRPr lang="en-US" sz="1200" dirty="0"/>
          </a:p>
        </p:txBody>
      </p:sp>
      <p:sp>
        <p:nvSpPr>
          <p:cNvPr id="57" name="Text 55"/>
          <p:cNvSpPr/>
          <p:nvPr/>
        </p:nvSpPr>
        <p:spPr>
          <a:xfrm>
            <a:off x="5623560" y="5330952"/>
            <a:ext cx="2724912" cy="228600"/>
          </a:xfrm>
          <a:prstGeom prst="rect">
            <a:avLst/>
          </a:prstGeom>
          <a:noFill/>
          <a:ln/>
        </p:spPr>
        <p:txBody>
          <a:bodyPr wrap="square" lIns="0" tIns="0" rIns="0" bIns="0" rtlCol="0" anchor="ctr">
            <a:normAutofit/>
          </a:bodyPr>
          <a:lstStyle/>
          <a:p>
            <a:pPr algn="r" indent="0" marL="0">
              <a:buNone/>
            </a:pPr>
            <a:r>
              <a:rPr lang="en-US" sz="1000" dirty="0">
                <a:solidFill>
                  <a:srgbClr val="5E708F"/>
                </a:solidFill>
                <a:latin typeface="Arial" pitchFamily="34" charset="0"/>
                <a:ea typeface="Arial" pitchFamily="34" charset="-122"/>
                <a:cs typeface="Arial" pitchFamily="34" charset="-120"/>
              </a:rPr>
              <a:t>Live chart  •  controls  •  siren  •  event history</a:t>
            </a:r>
            <a:endParaRPr lang="en-US" sz="1000" dirty="0"/>
          </a:p>
        </p:txBody>
      </p:sp>
      <p:sp>
        <p:nvSpPr>
          <p:cNvPr id="58" name="Shape 56"/>
          <p:cNvSpPr/>
          <p:nvPr/>
        </p:nvSpPr>
        <p:spPr>
          <a:xfrm>
            <a:off x="9774936" y="2459736"/>
            <a:ext cx="-1097280" cy="2807208"/>
          </a:xfrm>
          <a:prstGeom prst="line">
            <a:avLst/>
          </a:prstGeom>
          <a:noFill/>
          <a:ln w="21590">
            <a:solidFill>
              <a:srgbClr val="356AE6"/>
            </a:solidFill>
            <a:prstDash val="solid"/>
            <a:headEnd type="none"/>
            <a:tailEnd type="triangle"/>
          </a:ln>
        </p:spPr>
      </p:sp>
      <p:sp>
        <p:nvSpPr>
          <p:cNvPr id="59" name="Shape 57"/>
          <p:cNvSpPr/>
          <p:nvPr/>
        </p:nvSpPr>
        <p:spPr>
          <a:xfrm>
            <a:off x="4069080" y="5166360"/>
            <a:ext cx="1005840" cy="-1060704"/>
          </a:xfrm>
          <a:prstGeom prst="line">
            <a:avLst/>
          </a:prstGeom>
          <a:noFill/>
          <a:ln w="16510">
            <a:solidFill>
              <a:srgbClr val="356AE6"/>
            </a:solidFill>
            <a:prstDash val="solid"/>
            <a:headEnd type="none"/>
            <a:tailEnd type="triangle"/>
          </a:ln>
        </p:spPr>
      </p:sp>
      <p:sp>
        <p:nvSpPr>
          <p:cNvPr id="60" name="Text 58"/>
          <p:cNvSpPr/>
          <p:nvPr/>
        </p:nvSpPr>
        <p:spPr>
          <a:xfrm>
            <a:off x="4160520" y="4398264"/>
            <a:ext cx="2194560" cy="210312"/>
          </a:xfrm>
          <a:prstGeom prst="rect">
            <a:avLst/>
          </a:prstGeom>
          <a:noFill/>
          <a:ln/>
        </p:spPr>
        <p:txBody>
          <a:bodyPr wrap="square" lIns="0" tIns="0" rIns="0" bIns="0" rtlCol="0" anchor="ctr">
            <a:normAutofit/>
          </a:bodyPr>
          <a:lstStyle/>
          <a:p>
            <a:pPr indent="0" marL="0">
              <a:buNone/>
            </a:pPr>
            <a:r>
              <a:rPr lang="en-US" sz="800" dirty="0">
                <a:solidFill>
                  <a:srgbClr val="426EDC"/>
                </a:solidFill>
                <a:latin typeface="Arial" pitchFamily="34" charset="0"/>
                <a:ea typeface="Arial" pitchFamily="34" charset="-122"/>
                <a:cs typeface="Arial" pitchFamily="34" charset="-120"/>
              </a:rPr>
              <a:t>arm / disarm / acknowledge</a:t>
            </a:r>
            <a:endParaRPr lang="en-US" sz="800" dirty="0"/>
          </a:p>
        </p:txBody>
      </p:sp>
      <p:sp>
        <p:nvSpPr>
          <p:cNvPr id="25" name="Slide Number Placeholder 0"/>
          <p:cNvSpPr>
            <a:spLocks noGrp="1"/>
          </p:cNvSpPr>
          <p:nvPr>
            <p:ph type="sldNum" sz="quarter" idx="4294967295"/>
          </p:nvPr>
        </p:nvSpPr>
        <p:spPr>
          <a:xfrm>
            <a:off x="11384280" y="6446520"/>
            <a:ext cx="320040" cy="164592"/>
          </a:xfrm>
          <a:prstGeom prst="rect">
            <a:avLst/>
          </a:prstGeom>
          <a:extLst>
            <a:ext uri="{C572A759-6A51-4108-AA02-DFA0A04FC94B}">
              <ma14:wrappingTextBoxFlag xmlns:ma14="http://schemas.microsoft.com/office/mac/drawingml/2011/main" val="0"/>
            </a:ext>
          </a:extLst>
        </p:spPr>
        <p:txBody>
          <a:bodyPr/>
          <a:lstStyle>
            <a:lvl1pPr>
              <a:defRPr sz="800">
                <a:solidFill>
                  <a:srgbClr val="71819C"/>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02920" y="384048"/>
            <a:ext cx="384048" cy="274320"/>
          </a:xfrm>
          <a:prstGeom prst="rect">
            <a:avLst/>
          </a:prstGeom>
          <a:noFill/>
          <a:ln/>
        </p:spPr>
        <p:txBody>
          <a:bodyPr wrap="square" lIns="0" tIns="0" rIns="0" bIns="0" rtlCol="0" anchor="ctr">
            <a:normAutofit/>
          </a:bodyPr>
          <a:lstStyle/>
          <a:p>
            <a:pPr indent="0" marL="0">
              <a:buNone/>
            </a:pPr>
            <a:r>
              <a:rPr lang="en-US" sz="1000" b="1" spc="120" kern="0" dirty="0">
                <a:solidFill>
                  <a:srgbClr val="426EDC"/>
                </a:solidFill>
                <a:latin typeface="Arial" pitchFamily="34" charset="0"/>
                <a:ea typeface="Arial" pitchFamily="34" charset="-122"/>
                <a:cs typeface="Arial" pitchFamily="34" charset="-120"/>
              </a:rPr>
              <a:t>05</a:t>
            </a:r>
            <a:endParaRPr lang="en-US" sz="1000" dirty="0"/>
          </a:p>
        </p:txBody>
      </p:sp>
      <p:sp>
        <p:nvSpPr>
          <p:cNvPr id="3" name="Shape 1"/>
          <p:cNvSpPr/>
          <p:nvPr/>
        </p:nvSpPr>
        <p:spPr>
          <a:xfrm>
            <a:off x="896112" y="521208"/>
            <a:ext cx="502920" cy="0"/>
          </a:xfrm>
          <a:prstGeom prst="line">
            <a:avLst/>
          </a:prstGeom>
          <a:noFill/>
          <a:ln w="12700">
            <a:solidFill>
              <a:srgbClr val="C9D5E5"/>
            </a:solidFill>
            <a:prstDash val="solid"/>
            <a:headEnd type="none"/>
            <a:tailEnd type="none"/>
          </a:ln>
        </p:spPr>
      </p:sp>
      <p:sp>
        <p:nvSpPr>
          <p:cNvPr id="4" name="Text 2"/>
          <p:cNvSpPr/>
          <p:nvPr/>
        </p:nvSpPr>
        <p:spPr>
          <a:xfrm>
            <a:off x="1527048" y="365760"/>
            <a:ext cx="3291840" cy="292608"/>
          </a:xfrm>
          <a:prstGeom prst="rect">
            <a:avLst/>
          </a:prstGeom>
          <a:noFill/>
          <a:ln/>
        </p:spPr>
        <p:txBody>
          <a:bodyPr wrap="square" lIns="0" tIns="0" rIns="0" bIns="0" rtlCol="0" anchor="ctr">
            <a:normAutofit/>
          </a:bodyPr>
          <a:lstStyle/>
          <a:p>
            <a:pPr indent="0" marL="0">
              <a:buNone/>
            </a:pPr>
            <a:r>
              <a:rPr lang="en-US" sz="900" b="1" spc="150" kern="0" dirty="0">
                <a:solidFill>
                  <a:srgbClr val="426EDC"/>
                </a:solidFill>
                <a:latin typeface="Arial" pitchFamily="34" charset="0"/>
                <a:ea typeface="Arial" pitchFamily="34" charset="-122"/>
                <a:cs typeface="Arial" pitchFamily="34" charset="-120"/>
              </a:rPr>
              <a:t>SENSOR-TO-ALERT FLOW</a:t>
            </a:r>
            <a:endParaRPr lang="en-US" sz="900" dirty="0"/>
          </a:p>
        </p:txBody>
      </p:sp>
      <p:sp>
        <p:nvSpPr>
          <p:cNvPr id="5" name="Text 3"/>
          <p:cNvSpPr/>
          <p:nvPr/>
        </p:nvSpPr>
        <p:spPr>
          <a:xfrm>
            <a:off x="502920" y="804672"/>
            <a:ext cx="11064240" cy="502920"/>
          </a:xfrm>
          <a:prstGeom prst="rect">
            <a:avLst/>
          </a:prstGeom>
          <a:noFill/>
          <a:ln/>
        </p:spPr>
        <p:txBody>
          <a:bodyPr wrap="square" lIns="0" tIns="0" rIns="0" bIns="0" rtlCol="0" anchor="ctr">
            <a:normAutofit/>
          </a:bodyPr>
          <a:lstStyle/>
          <a:p>
            <a:pPr indent="0" marL="0">
              <a:buNone/>
            </a:pPr>
            <a:r>
              <a:rPr lang="en-US" sz="2700" b="1" dirty="0">
                <a:solidFill>
                  <a:srgbClr val="14213D"/>
                </a:solidFill>
                <a:latin typeface="Arial" pitchFamily="34" charset="0"/>
                <a:ea typeface="Arial" pitchFamily="34" charset="-122"/>
                <a:cs typeface="Arial" pitchFamily="34" charset="-120"/>
              </a:rPr>
              <a:t>What happens after the phone moves?</a:t>
            </a:r>
            <a:endParaRPr lang="en-US" sz="2700" dirty="0"/>
          </a:p>
        </p:txBody>
      </p:sp>
      <p:sp>
        <p:nvSpPr>
          <p:cNvPr id="6" name="Text 4"/>
          <p:cNvSpPr/>
          <p:nvPr/>
        </p:nvSpPr>
        <p:spPr>
          <a:xfrm>
            <a:off x="502920" y="1353312"/>
            <a:ext cx="10881360" cy="365760"/>
          </a:xfrm>
          <a:prstGeom prst="rect">
            <a:avLst/>
          </a:prstGeom>
          <a:noFill/>
          <a:ln/>
        </p:spPr>
        <p:txBody>
          <a:bodyPr wrap="square" lIns="0" tIns="0" rIns="0" bIns="0" rtlCol="0" anchor="ctr">
            <a:normAutofit/>
          </a:bodyPr>
          <a:lstStyle/>
          <a:p>
            <a:pPr indent="0" marL="0">
              <a:buNone/>
            </a:pPr>
            <a:r>
              <a:rPr lang="en-US" sz="1150" dirty="0">
                <a:solidFill>
                  <a:srgbClr val="5E708F"/>
                </a:solidFill>
                <a:latin typeface="Arial" pitchFamily="34" charset="0"/>
                <a:ea typeface="Arial" pitchFamily="34" charset="-122"/>
                <a:cs typeface="Arial" pitchFamily="34" charset="-120"/>
              </a:rPr>
              <a:t>Every stage removes ambiguity before the operator is interrupted.</a:t>
            </a:r>
            <a:endParaRPr lang="en-US" sz="1150" dirty="0"/>
          </a:p>
        </p:txBody>
      </p:sp>
      <p:sp>
        <p:nvSpPr>
          <p:cNvPr id="7" name="Text 5"/>
          <p:cNvSpPr/>
          <p:nvPr/>
        </p:nvSpPr>
        <p:spPr>
          <a:xfrm>
            <a:off x="502920" y="6446520"/>
            <a:ext cx="2011680" cy="164592"/>
          </a:xfrm>
          <a:prstGeom prst="rect">
            <a:avLst/>
          </a:prstGeom>
          <a:noFill/>
          <a:ln/>
        </p:spPr>
        <p:txBody>
          <a:bodyPr wrap="square" lIns="0" tIns="0" rIns="0" bIns="0" rtlCol="0" anchor="ctr">
            <a:normAutofit/>
          </a:bodyPr>
          <a:lstStyle/>
          <a:p>
            <a:pPr indent="0" marL="0">
              <a:buNone/>
            </a:pPr>
            <a:r>
              <a:rPr lang="en-US" sz="800" b="1" dirty="0">
                <a:solidFill>
                  <a:srgbClr val="71819C"/>
                </a:solidFill>
                <a:latin typeface="Arial" pitchFamily="34" charset="0"/>
                <a:ea typeface="Arial" pitchFamily="34" charset="-122"/>
                <a:cs typeface="Arial" pitchFamily="34" charset="-120"/>
              </a:rPr>
              <a:t>FailureAntyTheft</a:t>
            </a:r>
            <a:endParaRPr lang="en-US" sz="800" dirty="0"/>
          </a:p>
        </p:txBody>
      </p:sp>
      <p:sp>
        <p:nvSpPr>
          <p:cNvPr id="8" name="Shape 6"/>
          <p:cNvSpPr/>
          <p:nvPr/>
        </p:nvSpPr>
        <p:spPr>
          <a:xfrm>
            <a:off x="987552" y="2075688"/>
            <a:ext cx="566928" cy="566928"/>
          </a:xfrm>
          <a:prstGeom prst="ellipse">
            <a:avLst/>
          </a:prstGeom>
          <a:solidFill>
            <a:srgbClr val="118AB2">
              <a:alpha val="20000"/>
            </a:srgbClr>
          </a:solidFill>
          <a:ln w="12700">
            <a:solidFill>
              <a:srgbClr val="118AB2">
                <a:alpha val="20000"/>
              </a:srgbClr>
            </a:solidFill>
            <a:prstDash val="solid"/>
          </a:ln>
        </p:spPr>
      </p:sp>
      <p:sp>
        <p:nvSpPr>
          <p:cNvPr id="9" name="Text 7"/>
          <p:cNvSpPr/>
          <p:nvPr/>
        </p:nvSpPr>
        <p:spPr>
          <a:xfrm>
            <a:off x="987552" y="2075688"/>
            <a:ext cx="566928" cy="566928"/>
          </a:xfrm>
          <a:prstGeom prst="rect">
            <a:avLst/>
          </a:prstGeom>
          <a:noFill/>
          <a:ln/>
        </p:spPr>
        <p:txBody>
          <a:bodyPr wrap="square" lIns="0" tIns="0" rIns="0" bIns="0" rtlCol="0" anchor="ctr">
            <a:normAutofit/>
          </a:bodyPr>
          <a:lstStyle/>
          <a:p>
            <a:pPr algn="ctr" indent="0" marL="0">
              <a:buNone/>
            </a:pPr>
            <a:r>
              <a:rPr lang="en-US" sz="1300" b="1" dirty="0">
                <a:solidFill>
                  <a:srgbClr val="118AB2"/>
                </a:solidFill>
                <a:latin typeface="Arial" pitchFamily="34" charset="0"/>
                <a:ea typeface="Arial" pitchFamily="34" charset="-122"/>
                <a:cs typeface="Arial" pitchFamily="34" charset="-120"/>
              </a:rPr>
              <a:t>01</a:t>
            </a:r>
            <a:endParaRPr lang="en-US" sz="1300" dirty="0"/>
          </a:p>
        </p:txBody>
      </p:sp>
      <p:sp>
        <p:nvSpPr>
          <p:cNvPr id="10" name="Shape 8"/>
          <p:cNvSpPr/>
          <p:nvPr/>
        </p:nvSpPr>
        <p:spPr>
          <a:xfrm>
            <a:off x="1581912" y="2359152"/>
            <a:ext cx="749808" cy="0"/>
          </a:xfrm>
          <a:prstGeom prst="line">
            <a:avLst/>
          </a:prstGeom>
          <a:noFill/>
          <a:ln w="20320">
            <a:solidFill>
              <a:srgbClr val="C9D5E5"/>
            </a:solidFill>
            <a:prstDash val="solid"/>
            <a:headEnd type="none"/>
            <a:tailEnd type="triangle"/>
          </a:ln>
        </p:spPr>
      </p:sp>
      <p:sp>
        <p:nvSpPr>
          <p:cNvPr id="11" name="Text 9"/>
          <p:cNvSpPr/>
          <p:nvPr/>
        </p:nvSpPr>
        <p:spPr>
          <a:xfrm>
            <a:off x="539496" y="2834640"/>
            <a:ext cx="1463040" cy="274320"/>
          </a:xfrm>
          <a:prstGeom prst="rect">
            <a:avLst/>
          </a:prstGeom>
          <a:noFill/>
          <a:ln/>
        </p:spPr>
        <p:txBody>
          <a:bodyPr wrap="square" lIns="0" tIns="0" rIns="0" bIns="0" rtlCol="0" anchor="ctr">
            <a:normAutofit/>
          </a:bodyPr>
          <a:lstStyle/>
          <a:p>
            <a:pPr algn="ctr" indent="0" marL="0">
              <a:buNone/>
            </a:pPr>
            <a:r>
              <a:rPr lang="en-US" sz="1400" b="1" dirty="0">
                <a:solidFill>
                  <a:srgbClr val="14213D"/>
                </a:solidFill>
                <a:latin typeface="Arial" pitchFamily="34" charset="0"/>
                <a:ea typeface="Arial" pitchFamily="34" charset="-122"/>
                <a:cs typeface="Arial" pitchFamily="34" charset="-120"/>
              </a:rPr>
              <a:t>Sample</a:t>
            </a:r>
            <a:endParaRPr lang="en-US" sz="1400" dirty="0"/>
          </a:p>
        </p:txBody>
      </p:sp>
      <p:sp>
        <p:nvSpPr>
          <p:cNvPr id="12" name="Text 10"/>
          <p:cNvSpPr/>
          <p:nvPr/>
        </p:nvSpPr>
        <p:spPr>
          <a:xfrm>
            <a:off x="484632" y="3182112"/>
            <a:ext cx="1609344" cy="685800"/>
          </a:xfrm>
          <a:prstGeom prst="rect">
            <a:avLst/>
          </a:prstGeom>
          <a:noFill/>
          <a:ln/>
        </p:spPr>
        <p:txBody>
          <a:bodyPr wrap="square" lIns="0" tIns="0" rIns="0" bIns="0" rtlCol="0" anchor="t">
            <a:normAutofit/>
          </a:bodyPr>
          <a:lstStyle/>
          <a:p>
            <a:pPr algn="ctr" indent="0" marL="0">
              <a:buNone/>
            </a:pPr>
            <a:r>
              <a:rPr lang="en-US" sz="950" dirty="0">
                <a:solidFill>
                  <a:srgbClr val="5E708F"/>
                </a:solidFill>
                <a:latin typeface="Arial" pitchFamily="34" charset="0"/>
                <a:ea typeface="Arial" pitchFamily="34" charset="-122"/>
                <a:cs typeface="Arial" pitchFamily="34" charset="-120"/>
              </a:rPr>
              <a:t>Phyphox emits time + X/Y/Z</a:t>
            </a:r>
            <a:endParaRPr lang="en-US" sz="950" dirty="0"/>
          </a:p>
        </p:txBody>
      </p:sp>
      <p:sp>
        <p:nvSpPr>
          <p:cNvPr id="13" name="Shape 11"/>
          <p:cNvSpPr/>
          <p:nvPr/>
        </p:nvSpPr>
        <p:spPr>
          <a:xfrm>
            <a:off x="2862072" y="2075688"/>
            <a:ext cx="566928" cy="566928"/>
          </a:xfrm>
          <a:prstGeom prst="ellipse">
            <a:avLst/>
          </a:prstGeom>
          <a:solidFill>
            <a:srgbClr val="356AE6">
              <a:alpha val="20000"/>
            </a:srgbClr>
          </a:solidFill>
          <a:ln w="12700">
            <a:solidFill>
              <a:srgbClr val="356AE6">
                <a:alpha val="20000"/>
              </a:srgbClr>
            </a:solidFill>
            <a:prstDash val="solid"/>
          </a:ln>
        </p:spPr>
      </p:sp>
      <p:sp>
        <p:nvSpPr>
          <p:cNvPr id="14" name="Text 12"/>
          <p:cNvSpPr/>
          <p:nvPr/>
        </p:nvSpPr>
        <p:spPr>
          <a:xfrm>
            <a:off x="2862072" y="2075688"/>
            <a:ext cx="566928" cy="566928"/>
          </a:xfrm>
          <a:prstGeom prst="rect">
            <a:avLst/>
          </a:prstGeom>
          <a:noFill/>
          <a:ln/>
        </p:spPr>
        <p:txBody>
          <a:bodyPr wrap="square" lIns="0" tIns="0" rIns="0" bIns="0" rtlCol="0" anchor="ctr">
            <a:normAutofit/>
          </a:bodyPr>
          <a:lstStyle/>
          <a:p>
            <a:pPr algn="ctr" indent="0" marL="0">
              <a:buNone/>
            </a:pPr>
            <a:r>
              <a:rPr lang="en-US" sz="1300" b="1" dirty="0">
                <a:solidFill>
                  <a:srgbClr val="356AE6"/>
                </a:solidFill>
                <a:latin typeface="Arial" pitchFamily="34" charset="0"/>
                <a:ea typeface="Arial" pitchFamily="34" charset="-122"/>
                <a:cs typeface="Arial" pitchFamily="34" charset="-120"/>
              </a:rPr>
              <a:t>02</a:t>
            </a:r>
            <a:endParaRPr lang="en-US" sz="1300" dirty="0"/>
          </a:p>
        </p:txBody>
      </p:sp>
      <p:sp>
        <p:nvSpPr>
          <p:cNvPr id="15" name="Shape 13"/>
          <p:cNvSpPr/>
          <p:nvPr/>
        </p:nvSpPr>
        <p:spPr>
          <a:xfrm>
            <a:off x="3456432" y="2359152"/>
            <a:ext cx="749808" cy="0"/>
          </a:xfrm>
          <a:prstGeom prst="line">
            <a:avLst/>
          </a:prstGeom>
          <a:noFill/>
          <a:ln w="20320">
            <a:solidFill>
              <a:srgbClr val="C9D5E5"/>
            </a:solidFill>
            <a:prstDash val="solid"/>
            <a:headEnd type="none"/>
            <a:tailEnd type="triangle"/>
          </a:ln>
        </p:spPr>
      </p:sp>
      <p:sp>
        <p:nvSpPr>
          <p:cNvPr id="16" name="Text 14"/>
          <p:cNvSpPr/>
          <p:nvPr/>
        </p:nvSpPr>
        <p:spPr>
          <a:xfrm>
            <a:off x="2414016" y="2834640"/>
            <a:ext cx="1463040" cy="274320"/>
          </a:xfrm>
          <a:prstGeom prst="rect">
            <a:avLst/>
          </a:prstGeom>
          <a:noFill/>
          <a:ln/>
        </p:spPr>
        <p:txBody>
          <a:bodyPr wrap="square" lIns="0" tIns="0" rIns="0" bIns="0" rtlCol="0" anchor="ctr">
            <a:normAutofit/>
          </a:bodyPr>
          <a:lstStyle/>
          <a:p>
            <a:pPr algn="ctr" indent="0" marL="0">
              <a:buNone/>
            </a:pPr>
            <a:r>
              <a:rPr lang="en-US" sz="1400" b="1" dirty="0">
                <a:solidFill>
                  <a:srgbClr val="14213D"/>
                </a:solidFill>
                <a:latin typeface="Arial" pitchFamily="34" charset="0"/>
                <a:ea typeface="Arial" pitchFamily="34" charset="-122"/>
                <a:cs typeface="Arial" pitchFamily="34" charset="-120"/>
              </a:rPr>
              <a:t>Collect</a:t>
            </a:r>
            <a:endParaRPr lang="en-US" sz="1400" dirty="0"/>
          </a:p>
        </p:txBody>
      </p:sp>
      <p:sp>
        <p:nvSpPr>
          <p:cNvPr id="17" name="Text 15"/>
          <p:cNvSpPr/>
          <p:nvPr/>
        </p:nvSpPr>
        <p:spPr>
          <a:xfrm>
            <a:off x="2359152" y="3182112"/>
            <a:ext cx="1609344" cy="685800"/>
          </a:xfrm>
          <a:prstGeom prst="rect">
            <a:avLst/>
          </a:prstGeom>
          <a:noFill/>
          <a:ln/>
        </p:spPr>
        <p:txBody>
          <a:bodyPr wrap="square" lIns="0" tIns="0" rIns="0" bIns="0" rtlCol="0" anchor="t">
            <a:normAutofit/>
          </a:bodyPr>
          <a:lstStyle/>
          <a:p>
            <a:pPr algn="ctr" indent="0" marL="0">
              <a:buNone/>
            </a:pPr>
            <a:r>
              <a:rPr lang="en-US" sz="950" dirty="0">
                <a:solidFill>
                  <a:srgbClr val="5E708F"/>
                </a:solidFill>
                <a:latin typeface="Arial" pitchFamily="34" charset="0"/>
                <a:ea typeface="Arial" pitchFamily="34" charset="-122"/>
                <a:cs typeface="Arial" pitchFamily="34" charset="-120"/>
              </a:rPr>
              <a:t>Poll, validate and deduplicate</a:t>
            </a:r>
            <a:endParaRPr lang="en-US" sz="950" dirty="0"/>
          </a:p>
        </p:txBody>
      </p:sp>
      <p:sp>
        <p:nvSpPr>
          <p:cNvPr id="18" name="Shape 16"/>
          <p:cNvSpPr/>
          <p:nvPr/>
        </p:nvSpPr>
        <p:spPr>
          <a:xfrm>
            <a:off x="4736592" y="2075688"/>
            <a:ext cx="566928" cy="566928"/>
          </a:xfrm>
          <a:prstGeom prst="ellipse">
            <a:avLst/>
          </a:prstGeom>
          <a:solidFill>
            <a:srgbClr val="7048CA">
              <a:alpha val="20000"/>
            </a:srgbClr>
          </a:solidFill>
          <a:ln w="12700">
            <a:solidFill>
              <a:srgbClr val="7048CA">
                <a:alpha val="20000"/>
              </a:srgbClr>
            </a:solidFill>
            <a:prstDash val="solid"/>
          </a:ln>
        </p:spPr>
      </p:sp>
      <p:sp>
        <p:nvSpPr>
          <p:cNvPr id="19" name="Text 17"/>
          <p:cNvSpPr/>
          <p:nvPr/>
        </p:nvSpPr>
        <p:spPr>
          <a:xfrm>
            <a:off x="4736592" y="2075688"/>
            <a:ext cx="566928" cy="566928"/>
          </a:xfrm>
          <a:prstGeom prst="rect">
            <a:avLst/>
          </a:prstGeom>
          <a:noFill/>
          <a:ln/>
        </p:spPr>
        <p:txBody>
          <a:bodyPr wrap="square" lIns="0" tIns="0" rIns="0" bIns="0" rtlCol="0" anchor="ctr">
            <a:normAutofit/>
          </a:bodyPr>
          <a:lstStyle/>
          <a:p>
            <a:pPr algn="ctr" indent="0" marL="0">
              <a:buNone/>
            </a:pPr>
            <a:r>
              <a:rPr lang="en-US" sz="1300" b="1" dirty="0">
                <a:solidFill>
                  <a:srgbClr val="7048CA"/>
                </a:solidFill>
                <a:latin typeface="Arial" pitchFamily="34" charset="0"/>
                <a:ea typeface="Arial" pitchFamily="34" charset="-122"/>
                <a:cs typeface="Arial" pitchFamily="34" charset="-120"/>
              </a:rPr>
              <a:t>03</a:t>
            </a:r>
            <a:endParaRPr lang="en-US" sz="1300" dirty="0"/>
          </a:p>
        </p:txBody>
      </p:sp>
      <p:sp>
        <p:nvSpPr>
          <p:cNvPr id="20" name="Shape 18"/>
          <p:cNvSpPr/>
          <p:nvPr/>
        </p:nvSpPr>
        <p:spPr>
          <a:xfrm>
            <a:off x="5330952" y="2359152"/>
            <a:ext cx="749808" cy="0"/>
          </a:xfrm>
          <a:prstGeom prst="line">
            <a:avLst/>
          </a:prstGeom>
          <a:noFill/>
          <a:ln w="20320">
            <a:solidFill>
              <a:srgbClr val="C9D5E5"/>
            </a:solidFill>
            <a:prstDash val="solid"/>
            <a:headEnd type="none"/>
            <a:tailEnd type="triangle"/>
          </a:ln>
        </p:spPr>
      </p:sp>
      <p:sp>
        <p:nvSpPr>
          <p:cNvPr id="21" name="Text 19"/>
          <p:cNvSpPr/>
          <p:nvPr/>
        </p:nvSpPr>
        <p:spPr>
          <a:xfrm>
            <a:off x="4288536" y="2834640"/>
            <a:ext cx="1463040" cy="274320"/>
          </a:xfrm>
          <a:prstGeom prst="rect">
            <a:avLst/>
          </a:prstGeom>
          <a:noFill/>
          <a:ln/>
        </p:spPr>
        <p:txBody>
          <a:bodyPr wrap="square" lIns="0" tIns="0" rIns="0" bIns="0" rtlCol="0" anchor="ctr">
            <a:normAutofit/>
          </a:bodyPr>
          <a:lstStyle/>
          <a:p>
            <a:pPr algn="ctr" indent="0" marL="0">
              <a:buNone/>
            </a:pPr>
            <a:r>
              <a:rPr lang="en-US" sz="1400" b="1" dirty="0">
                <a:solidFill>
                  <a:srgbClr val="14213D"/>
                </a:solidFill>
                <a:latin typeface="Arial" pitchFamily="34" charset="0"/>
                <a:ea typeface="Arial" pitchFamily="34" charset="-122"/>
                <a:cs typeface="Arial" pitchFamily="34" charset="-120"/>
              </a:rPr>
              <a:t>Normalize</a:t>
            </a:r>
            <a:endParaRPr lang="en-US" sz="1400" dirty="0"/>
          </a:p>
        </p:txBody>
      </p:sp>
      <p:sp>
        <p:nvSpPr>
          <p:cNvPr id="22" name="Text 20"/>
          <p:cNvSpPr/>
          <p:nvPr/>
        </p:nvSpPr>
        <p:spPr>
          <a:xfrm>
            <a:off x="4233672" y="3182112"/>
            <a:ext cx="1609344" cy="685800"/>
          </a:xfrm>
          <a:prstGeom prst="rect">
            <a:avLst/>
          </a:prstGeom>
          <a:noFill/>
          <a:ln/>
        </p:spPr>
        <p:txBody>
          <a:bodyPr wrap="square" lIns="0" tIns="0" rIns="0" bIns="0" rtlCol="0" anchor="t">
            <a:normAutofit/>
          </a:bodyPr>
          <a:lstStyle/>
          <a:p>
            <a:pPr algn="ctr" indent="0" marL="0">
              <a:buNone/>
            </a:pPr>
            <a:r>
              <a:rPr lang="en-US" sz="950" dirty="0">
                <a:solidFill>
                  <a:srgbClr val="5E708F"/>
                </a:solidFill>
                <a:latin typeface="Arial" pitchFamily="34" charset="0"/>
                <a:ea typeface="Arial" pitchFamily="34" charset="-122"/>
                <a:cs typeface="Arial" pitchFamily="34" charset="-120"/>
              </a:rPr>
              <a:t>Publish typed telemetry</a:t>
            </a:r>
            <a:endParaRPr lang="en-US" sz="950" dirty="0"/>
          </a:p>
        </p:txBody>
      </p:sp>
      <p:sp>
        <p:nvSpPr>
          <p:cNvPr id="23" name="Shape 21"/>
          <p:cNvSpPr/>
          <p:nvPr/>
        </p:nvSpPr>
        <p:spPr>
          <a:xfrm>
            <a:off x="6611112" y="2075688"/>
            <a:ext cx="566928" cy="566928"/>
          </a:xfrm>
          <a:prstGeom prst="ellipse">
            <a:avLst/>
          </a:prstGeom>
          <a:solidFill>
            <a:srgbClr val="078F68">
              <a:alpha val="20000"/>
            </a:srgbClr>
          </a:solidFill>
          <a:ln w="12700">
            <a:solidFill>
              <a:srgbClr val="078F68">
                <a:alpha val="20000"/>
              </a:srgbClr>
            </a:solidFill>
            <a:prstDash val="solid"/>
          </a:ln>
        </p:spPr>
      </p:sp>
      <p:sp>
        <p:nvSpPr>
          <p:cNvPr id="24" name="Text 22"/>
          <p:cNvSpPr/>
          <p:nvPr/>
        </p:nvSpPr>
        <p:spPr>
          <a:xfrm>
            <a:off x="6611112" y="2075688"/>
            <a:ext cx="566928" cy="566928"/>
          </a:xfrm>
          <a:prstGeom prst="rect">
            <a:avLst/>
          </a:prstGeom>
          <a:noFill/>
          <a:ln/>
        </p:spPr>
        <p:txBody>
          <a:bodyPr wrap="square" lIns="0" tIns="0" rIns="0" bIns="0" rtlCol="0" anchor="ctr">
            <a:normAutofit/>
          </a:bodyPr>
          <a:lstStyle/>
          <a:p>
            <a:pPr algn="ctr" indent="0" marL="0">
              <a:buNone/>
            </a:pPr>
            <a:r>
              <a:rPr lang="en-US" sz="1300" b="1" dirty="0">
                <a:solidFill>
                  <a:srgbClr val="078F68"/>
                </a:solidFill>
                <a:latin typeface="Arial" pitchFamily="34" charset="0"/>
                <a:ea typeface="Arial" pitchFamily="34" charset="-122"/>
                <a:cs typeface="Arial" pitchFamily="34" charset="-120"/>
              </a:rPr>
              <a:t>04</a:t>
            </a:r>
            <a:endParaRPr lang="en-US" sz="1300" dirty="0"/>
          </a:p>
        </p:txBody>
      </p:sp>
      <p:sp>
        <p:nvSpPr>
          <p:cNvPr id="25" name="Shape 23"/>
          <p:cNvSpPr/>
          <p:nvPr/>
        </p:nvSpPr>
        <p:spPr>
          <a:xfrm>
            <a:off x="7205472" y="2359152"/>
            <a:ext cx="749808" cy="0"/>
          </a:xfrm>
          <a:prstGeom prst="line">
            <a:avLst/>
          </a:prstGeom>
          <a:noFill/>
          <a:ln w="20320">
            <a:solidFill>
              <a:srgbClr val="C9D5E5"/>
            </a:solidFill>
            <a:prstDash val="solid"/>
            <a:headEnd type="none"/>
            <a:tailEnd type="triangle"/>
          </a:ln>
        </p:spPr>
      </p:sp>
      <p:sp>
        <p:nvSpPr>
          <p:cNvPr id="26" name="Text 24"/>
          <p:cNvSpPr/>
          <p:nvPr/>
        </p:nvSpPr>
        <p:spPr>
          <a:xfrm>
            <a:off x="6163056" y="2834640"/>
            <a:ext cx="1463040" cy="274320"/>
          </a:xfrm>
          <a:prstGeom prst="rect">
            <a:avLst/>
          </a:prstGeom>
          <a:noFill/>
          <a:ln/>
        </p:spPr>
        <p:txBody>
          <a:bodyPr wrap="square" lIns="0" tIns="0" rIns="0" bIns="0" rtlCol="0" anchor="ctr">
            <a:normAutofit/>
          </a:bodyPr>
          <a:lstStyle/>
          <a:p>
            <a:pPr algn="ctr" indent="0" marL="0">
              <a:buNone/>
            </a:pPr>
            <a:r>
              <a:rPr lang="en-US" sz="1400" b="1" dirty="0">
                <a:solidFill>
                  <a:srgbClr val="14213D"/>
                </a:solidFill>
                <a:latin typeface="Arial" pitchFamily="34" charset="0"/>
                <a:ea typeface="Arial" pitchFamily="34" charset="-122"/>
                <a:cs typeface="Arial" pitchFamily="34" charset="-120"/>
              </a:rPr>
              <a:t>Score</a:t>
            </a:r>
            <a:endParaRPr lang="en-US" sz="1400" dirty="0"/>
          </a:p>
        </p:txBody>
      </p:sp>
      <p:sp>
        <p:nvSpPr>
          <p:cNvPr id="27" name="Text 25"/>
          <p:cNvSpPr/>
          <p:nvPr/>
        </p:nvSpPr>
        <p:spPr>
          <a:xfrm>
            <a:off x="6108192" y="3182112"/>
            <a:ext cx="1609344" cy="685800"/>
          </a:xfrm>
          <a:prstGeom prst="rect">
            <a:avLst/>
          </a:prstGeom>
          <a:noFill/>
          <a:ln/>
        </p:spPr>
        <p:txBody>
          <a:bodyPr wrap="square" lIns="0" tIns="0" rIns="0" bIns="0" rtlCol="0" anchor="t">
            <a:normAutofit/>
          </a:bodyPr>
          <a:lstStyle/>
          <a:p>
            <a:pPr algn="ctr" indent="0" marL="0">
              <a:buNone/>
            </a:pPr>
            <a:r>
              <a:rPr lang="en-US" sz="950" dirty="0">
                <a:solidFill>
                  <a:srgbClr val="5E708F"/>
                </a:solidFill>
                <a:latin typeface="Arial" pitchFamily="34" charset="0"/>
                <a:ea typeface="Arial" pitchFamily="34" charset="-122"/>
                <a:cs typeface="Arial" pitchFamily="34" charset="-120"/>
              </a:rPr>
              <a:t>Magnitude → EMA → baseline delta</a:t>
            </a:r>
            <a:endParaRPr lang="en-US" sz="950" dirty="0"/>
          </a:p>
        </p:txBody>
      </p:sp>
      <p:sp>
        <p:nvSpPr>
          <p:cNvPr id="28" name="Shape 26"/>
          <p:cNvSpPr/>
          <p:nvPr/>
        </p:nvSpPr>
        <p:spPr>
          <a:xfrm>
            <a:off x="8485632" y="2075688"/>
            <a:ext cx="566928" cy="566928"/>
          </a:xfrm>
          <a:prstGeom prst="ellipse">
            <a:avLst/>
          </a:prstGeom>
          <a:solidFill>
            <a:srgbClr val="B97912">
              <a:alpha val="20000"/>
            </a:srgbClr>
          </a:solidFill>
          <a:ln w="12700">
            <a:solidFill>
              <a:srgbClr val="B97912">
                <a:alpha val="20000"/>
              </a:srgbClr>
            </a:solidFill>
            <a:prstDash val="solid"/>
          </a:ln>
        </p:spPr>
      </p:sp>
      <p:sp>
        <p:nvSpPr>
          <p:cNvPr id="29" name="Text 27"/>
          <p:cNvSpPr/>
          <p:nvPr/>
        </p:nvSpPr>
        <p:spPr>
          <a:xfrm>
            <a:off x="8485632" y="2075688"/>
            <a:ext cx="566928" cy="566928"/>
          </a:xfrm>
          <a:prstGeom prst="rect">
            <a:avLst/>
          </a:prstGeom>
          <a:noFill/>
          <a:ln/>
        </p:spPr>
        <p:txBody>
          <a:bodyPr wrap="square" lIns="0" tIns="0" rIns="0" bIns="0" rtlCol="0" anchor="ctr">
            <a:normAutofit/>
          </a:bodyPr>
          <a:lstStyle/>
          <a:p>
            <a:pPr algn="ctr" indent="0" marL="0">
              <a:buNone/>
            </a:pPr>
            <a:r>
              <a:rPr lang="en-US" sz="1300" b="1" dirty="0">
                <a:solidFill>
                  <a:srgbClr val="B97912"/>
                </a:solidFill>
                <a:latin typeface="Arial" pitchFamily="34" charset="0"/>
                <a:ea typeface="Arial" pitchFamily="34" charset="-122"/>
                <a:cs typeface="Arial" pitchFamily="34" charset="-120"/>
              </a:rPr>
              <a:t>05</a:t>
            </a:r>
            <a:endParaRPr lang="en-US" sz="1300" dirty="0"/>
          </a:p>
        </p:txBody>
      </p:sp>
      <p:sp>
        <p:nvSpPr>
          <p:cNvPr id="30" name="Shape 28"/>
          <p:cNvSpPr/>
          <p:nvPr/>
        </p:nvSpPr>
        <p:spPr>
          <a:xfrm>
            <a:off x="9079992" y="2359152"/>
            <a:ext cx="749808" cy="0"/>
          </a:xfrm>
          <a:prstGeom prst="line">
            <a:avLst/>
          </a:prstGeom>
          <a:noFill/>
          <a:ln w="20320">
            <a:solidFill>
              <a:srgbClr val="C9D5E5"/>
            </a:solidFill>
            <a:prstDash val="solid"/>
            <a:headEnd type="none"/>
            <a:tailEnd type="triangle"/>
          </a:ln>
        </p:spPr>
      </p:sp>
      <p:sp>
        <p:nvSpPr>
          <p:cNvPr id="31" name="Text 29"/>
          <p:cNvSpPr/>
          <p:nvPr/>
        </p:nvSpPr>
        <p:spPr>
          <a:xfrm>
            <a:off x="8037576" y="2834640"/>
            <a:ext cx="1463040" cy="274320"/>
          </a:xfrm>
          <a:prstGeom prst="rect">
            <a:avLst/>
          </a:prstGeom>
          <a:noFill/>
          <a:ln/>
        </p:spPr>
        <p:txBody>
          <a:bodyPr wrap="square" lIns="0" tIns="0" rIns="0" bIns="0" rtlCol="0" anchor="ctr">
            <a:normAutofit/>
          </a:bodyPr>
          <a:lstStyle/>
          <a:p>
            <a:pPr algn="ctr" indent="0" marL="0">
              <a:buNone/>
            </a:pPr>
            <a:r>
              <a:rPr lang="en-US" sz="1400" b="1" dirty="0">
                <a:solidFill>
                  <a:srgbClr val="14213D"/>
                </a:solidFill>
                <a:latin typeface="Arial" pitchFamily="34" charset="0"/>
                <a:ea typeface="Arial" pitchFamily="34" charset="-122"/>
                <a:cs typeface="Arial" pitchFamily="34" charset="-120"/>
              </a:rPr>
              <a:t>Confirm</a:t>
            </a:r>
            <a:endParaRPr lang="en-US" sz="1400" dirty="0"/>
          </a:p>
        </p:txBody>
      </p:sp>
      <p:sp>
        <p:nvSpPr>
          <p:cNvPr id="32" name="Text 30"/>
          <p:cNvSpPr/>
          <p:nvPr/>
        </p:nvSpPr>
        <p:spPr>
          <a:xfrm>
            <a:off x="7982712" y="3182112"/>
            <a:ext cx="1609344" cy="685800"/>
          </a:xfrm>
          <a:prstGeom prst="rect">
            <a:avLst/>
          </a:prstGeom>
          <a:noFill/>
          <a:ln/>
        </p:spPr>
        <p:txBody>
          <a:bodyPr wrap="square" lIns="0" tIns="0" rIns="0" bIns="0" rtlCol="0" anchor="t">
            <a:normAutofit/>
          </a:bodyPr>
          <a:lstStyle/>
          <a:p>
            <a:pPr algn="ctr" indent="0" marL="0">
              <a:buNone/>
            </a:pPr>
            <a:r>
              <a:rPr lang="en-US" sz="950" dirty="0">
                <a:solidFill>
                  <a:srgbClr val="5E708F"/>
                </a:solidFill>
                <a:latin typeface="Arial" pitchFamily="34" charset="0"/>
                <a:ea typeface="Arial" pitchFamily="34" charset="-122"/>
                <a:cs typeface="Arial" pitchFamily="34" charset="-120"/>
              </a:rPr>
              <a:t>3 crossings inside 0.5 s</a:t>
            </a:r>
            <a:endParaRPr lang="en-US" sz="950" dirty="0"/>
          </a:p>
        </p:txBody>
      </p:sp>
      <p:sp>
        <p:nvSpPr>
          <p:cNvPr id="33" name="Shape 31"/>
          <p:cNvSpPr/>
          <p:nvPr/>
        </p:nvSpPr>
        <p:spPr>
          <a:xfrm>
            <a:off x="10360152" y="2075688"/>
            <a:ext cx="566928" cy="566928"/>
          </a:xfrm>
          <a:prstGeom prst="ellipse">
            <a:avLst/>
          </a:prstGeom>
          <a:solidFill>
            <a:srgbClr val="D64255">
              <a:alpha val="20000"/>
            </a:srgbClr>
          </a:solidFill>
          <a:ln w="12700">
            <a:solidFill>
              <a:srgbClr val="D64255">
                <a:alpha val="20000"/>
              </a:srgbClr>
            </a:solidFill>
            <a:prstDash val="solid"/>
          </a:ln>
        </p:spPr>
      </p:sp>
      <p:sp>
        <p:nvSpPr>
          <p:cNvPr id="34" name="Text 32"/>
          <p:cNvSpPr/>
          <p:nvPr/>
        </p:nvSpPr>
        <p:spPr>
          <a:xfrm>
            <a:off x="10360152" y="2075688"/>
            <a:ext cx="566928" cy="566928"/>
          </a:xfrm>
          <a:prstGeom prst="rect">
            <a:avLst/>
          </a:prstGeom>
          <a:noFill/>
          <a:ln/>
        </p:spPr>
        <p:txBody>
          <a:bodyPr wrap="square" lIns="0" tIns="0" rIns="0" bIns="0" rtlCol="0" anchor="ctr">
            <a:normAutofit/>
          </a:bodyPr>
          <a:lstStyle/>
          <a:p>
            <a:pPr algn="ctr" indent="0" marL="0">
              <a:buNone/>
            </a:pPr>
            <a:r>
              <a:rPr lang="en-US" sz="1300" b="1" dirty="0">
                <a:solidFill>
                  <a:srgbClr val="D64255"/>
                </a:solidFill>
                <a:latin typeface="Arial" pitchFamily="34" charset="0"/>
                <a:ea typeface="Arial" pitchFamily="34" charset="-122"/>
                <a:cs typeface="Arial" pitchFamily="34" charset="-120"/>
              </a:rPr>
              <a:t>06</a:t>
            </a:r>
            <a:endParaRPr lang="en-US" sz="1300" dirty="0"/>
          </a:p>
        </p:txBody>
      </p:sp>
      <p:sp>
        <p:nvSpPr>
          <p:cNvPr id="35" name="Text 33"/>
          <p:cNvSpPr/>
          <p:nvPr/>
        </p:nvSpPr>
        <p:spPr>
          <a:xfrm>
            <a:off x="9912096" y="2834640"/>
            <a:ext cx="1463040" cy="274320"/>
          </a:xfrm>
          <a:prstGeom prst="rect">
            <a:avLst/>
          </a:prstGeom>
          <a:noFill/>
          <a:ln/>
        </p:spPr>
        <p:txBody>
          <a:bodyPr wrap="square" lIns="0" tIns="0" rIns="0" bIns="0" rtlCol="0" anchor="ctr">
            <a:normAutofit/>
          </a:bodyPr>
          <a:lstStyle/>
          <a:p>
            <a:pPr algn="ctr" indent="0" marL="0">
              <a:buNone/>
            </a:pPr>
            <a:r>
              <a:rPr lang="en-US" sz="1400" b="1" dirty="0">
                <a:solidFill>
                  <a:srgbClr val="14213D"/>
                </a:solidFill>
                <a:latin typeface="Arial" pitchFamily="34" charset="0"/>
                <a:ea typeface="Arial" pitchFamily="34" charset="-122"/>
                <a:cs typeface="Arial" pitchFamily="34" charset="-120"/>
              </a:rPr>
              <a:t>Alert</a:t>
            </a:r>
            <a:endParaRPr lang="en-US" sz="1400" dirty="0"/>
          </a:p>
        </p:txBody>
      </p:sp>
      <p:sp>
        <p:nvSpPr>
          <p:cNvPr id="36" name="Text 34"/>
          <p:cNvSpPr/>
          <p:nvPr/>
        </p:nvSpPr>
        <p:spPr>
          <a:xfrm>
            <a:off x="9857232" y="3182112"/>
            <a:ext cx="1609344" cy="685800"/>
          </a:xfrm>
          <a:prstGeom prst="rect">
            <a:avLst/>
          </a:prstGeom>
          <a:noFill/>
          <a:ln/>
        </p:spPr>
        <p:txBody>
          <a:bodyPr wrap="square" lIns="0" tIns="0" rIns="0" bIns="0" rtlCol="0" anchor="t">
            <a:normAutofit/>
          </a:bodyPr>
          <a:lstStyle/>
          <a:p>
            <a:pPr algn="ctr" indent="0" marL="0">
              <a:buNone/>
            </a:pPr>
            <a:r>
              <a:rPr lang="en-US" sz="950" dirty="0">
                <a:solidFill>
                  <a:srgbClr val="5E708F"/>
                </a:solidFill>
                <a:latin typeface="Arial" pitchFamily="34" charset="0"/>
                <a:ea typeface="Arial" pitchFamily="34" charset="-122"/>
                <a:cs typeface="Arial" pitchFamily="34" charset="-120"/>
              </a:rPr>
              <a:t>Persist, push UI and sound siren</a:t>
            </a:r>
            <a:endParaRPr lang="en-US" sz="950" dirty="0"/>
          </a:p>
        </p:txBody>
      </p:sp>
      <p:sp>
        <p:nvSpPr>
          <p:cNvPr id="37" name="Shape 35"/>
          <p:cNvSpPr/>
          <p:nvPr/>
        </p:nvSpPr>
        <p:spPr>
          <a:xfrm>
            <a:off x="502920" y="4251960"/>
            <a:ext cx="10936224" cy="1325880"/>
          </a:xfrm>
          <a:prstGeom prst="roundRect">
            <a:avLst>
              <a:gd name="adj" fmla="val 5517"/>
            </a:avLst>
          </a:prstGeom>
          <a:solidFill>
            <a:srgbClr val="FFFFFF"/>
          </a:solidFill>
          <a:ln w="12700">
            <a:solidFill>
              <a:srgbClr val="C9D5E5"/>
            </a:solidFill>
            <a:prstDash val="solid"/>
          </a:ln>
          <a:effectLst>
            <a:outerShdw sx="100000" sy="100000" kx="0" ky="0" algn="bl" rotWithShape="0" blurRad="2.7724959868064195e+45" dist="5.544991973612839e+45" dir="1.6325867520000003e+54">
              <a:srgbClr val="000000">
                <a:alpha val="1.2e+54"/>
              </a:srgbClr>
            </a:outerShdw>
          </a:effectLst>
        </p:spPr>
      </p:sp>
      <p:sp>
        <p:nvSpPr>
          <p:cNvPr id="38" name="Text 36"/>
          <p:cNvSpPr/>
          <p:nvPr/>
        </p:nvSpPr>
        <p:spPr>
          <a:xfrm>
            <a:off x="777240" y="4507992"/>
            <a:ext cx="1828800" cy="210312"/>
          </a:xfrm>
          <a:prstGeom prst="rect">
            <a:avLst/>
          </a:prstGeom>
          <a:noFill/>
          <a:ln/>
        </p:spPr>
        <p:txBody>
          <a:bodyPr wrap="square" lIns="0" tIns="0" rIns="0" bIns="0" rtlCol="0" anchor="ctr">
            <a:normAutofit/>
          </a:bodyPr>
          <a:lstStyle/>
          <a:p>
            <a:pPr indent="0" marL="0">
              <a:buNone/>
            </a:pPr>
            <a:r>
              <a:rPr lang="en-US" sz="850" b="1" spc="100" kern="0" dirty="0">
                <a:solidFill>
                  <a:srgbClr val="426EDC"/>
                </a:solidFill>
                <a:latin typeface="Arial" pitchFamily="34" charset="0"/>
                <a:ea typeface="Arial" pitchFamily="34" charset="-122"/>
                <a:cs typeface="Arial" pitchFamily="34" charset="-120"/>
              </a:rPr>
              <a:t>WHY DEVICE TIME MATTERS</a:t>
            </a:r>
            <a:endParaRPr lang="en-US" sz="850" dirty="0"/>
          </a:p>
        </p:txBody>
      </p:sp>
      <p:sp>
        <p:nvSpPr>
          <p:cNvPr id="39" name="Text 37"/>
          <p:cNvSpPr/>
          <p:nvPr/>
        </p:nvSpPr>
        <p:spPr>
          <a:xfrm>
            <a:off x="777240" y="4818888"/>
            <a:ext cx="5852160" cy="411480"/>
          </a:xfrm>
          <a:prstGeom prst="rect">
            <a:avLst/>
          </a:prstGeom>
          <a:noFill/>
          <a:ln/>
        </p:spPr>
        <p:txBody>
          <a:bodyPr wrap="square" lIns="0" tIns="0" rIns="0" bIns="0" rtlCol="0" anchor="ctr">
            <a:normAutofit/>
          </a:bodyPr>
          <a:lstStyle/>
          <a:p>
            <a:pPr indent="0" marL="0">
              <a:buNone/>
            </a:pPr>
            <a:r>
              <a:rPr lang="en-US" sz="1600" b="1" dirty="0">
                <a:solidFill>
                  <a:srgbClr val="14213D"/>
                </a:solidFill>
                <a:latin typeface="Arial" pitchFamily="34" charset="0"/>
                <a:ea typeface="Arial" pitchFamily="34" charset="-122"/>
                <a:cs typeface="Arial" pitchFamily="34" charset="-120"/>
              </a:rPr>
              <a:t>Buffered samples are judged by the phone’s sample time—not by clustered HTTP arrival time.</a:t>
            </a:r>
            <a:endParaRPr lang="en-US" sz="1600" dirty="0"/>
          </a:p>
        </p:txBody>
      </p:sp>
      <p:sp>
        <p:nvSpPr>
          <p:cNvPr id="40" name="Text 38"/>
          <p:cNvSpPr/>
          <p:nvPr/>
        </p:nvSpPr>
        <p:spPr>
          <a:xfrm>
            <a:off x="6967728" y="4608576"/>
            <a:ext cx="4023360" cy="594360"/>
          </a:xfrm>
          <a:prstGeom prst="rect">
            <a:avLst/>
          </a:prstGeom>
          <a:noFill/>
          <a:ln/>
        </p:spPr>
        <p:txBody>
          <a:bodyPr wrap="square" lIns="0" tIns="0" rIns="0" bIns="0" rtlCol="0" anchor="ctr">
            <a:normAutofit/>
          </a:bodyPr>
          <a:lstStyle/>
          <a:p>
            <a:pPr indent="0" marL="0">
              <a:buNone/>
            </a:pPr>
            <a:r>
              <a:rPr lang="en-US" sz="1100" dirty="0">
                <a:solidFill>
                  <a:srgbClr val="5E708F"/>
                </a:solidFill>
                <a:latin typeface="Arial" pitchFamily="34" charset="0"/>
                <a:ea typeface="Arial" pitchFamily="34" charset="-122"/>
                <a:cs typeface="Arial" pitchFamily="34" charset="-120"/>
              </a:rPr>
              <a:t>This preserves the sustained-movement rule and prevents network timing from changing the detector’s decision.</a:t>
            </a:r>
            <a:endParaRPr lang="en-US" sz="1100" dirty="0"/>
          </a:p>
        </p:txBody>
      </p:sp>
      <p:sp>
        <p:nvSpPr>
          <p:cNvPr id="25" name="Slide Number Placeholder 0"/>
          <p:cNvSpPr>
            <a:spLocks noGrp="1"/>
          </p:cNvSpPr>
          <p:nvPr>
            <p:ph type="sldNum" sz="quarter" idx="4294967295"/>
          </p:nvPr>
        </p:nvSpPr>
        <p:spPr>
          <a:xfrm>
            <a:off x="11384280" y="6446520"/>
            <a:ext cx="320040" cy="164592"/>
          </a:xfrm>
          <a:prstGeom prst="rect">
            <a:avLst/>
          </a:prstGeom>
          <a:extLst>
            <a:ext uri="{C572A759-6A51-4108-AA02-DFA0A04FC94B}">
              <ma14:wrappingTextBoxFlag xmlns:ma14="http://schemas.microsoft.com/office/mac/drawingml/2011/main" val="0"/>
            </a:ext>
          </a:extLst>
        </p:spPr>
        <p:txBody>
          <a:bodyPr/>
          <a:lstStyle>
            <a:lvl1pPr>
              <a:defRPr sz="800">
                <a:solidFill>
                  <a:srgbClr val="71819C"/>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02920" y="384048"/>
            <a:ext cx="384048" cy="274320"/>
          </a:xfrm>
          <a:prstGeom prst="rect">
            <a:avLst/>
          </a:prstGeom>
          <a:noFill/>
          <a:ln/>
        </p:spPr>
        <p:txBody>
          <a:bodyPr wrap="square" lIns="0" tIns="0" rIns="0" bIns="0" rtlCol="0" anchor="ctr">
            <a:normAutofit/>
          </a:bodyPr>
          <a:lstStyle/>
          <a:p>
            <a:pPr indent="0" marL="0">
              <a:buNone/>
            </a:pPr>
            <a:r>
              <a:rPr lang="en-US" sz="1000" b="1" spc="120" kern="0" dirty="0">
                <a:solidFill>
                  <a:srgbClr val="426EDC"/>
                </a:solidFill>
                <a:latin typeface="Arial" pitchFamily="34" charset="0"/>
                <a:ea typeface="Arial" pitchFamily="34" charset="-122"/>
                <a:cs typeface="Arial" pitchFamily="34" charset="-120"/>
              </a:rPr>
              <a:t>06</a:t>
            </a:r>
            <a:endParaRPr lang="en-US" sz="1000" dirty="0"/>
          </a:p>
        </p:txBody>
      </p:sp>
      <p:sp>
        <p:nvSpPr>
          <p:cNvPr id="3" name="Shape 1"/>
          <p:cNvSpPr/>
          <p:nvPr/>
        </p:nvSpPr>
        <p:spPr>
          <a:xfrm>
            <a:off x="896112" y="521208"/>
            <a:ext cx="502920" cy="0"/>
          </a:xfrm>
          <a:prstGeom prst="line">
            <a:avLst/>
          </a:prstGeom>
          <a:noFill/>
          <a:ln w="12700">
            <a:solidFill>
              <a:srgbClr val="C9D5E5"/>
            </a:solidFill>
            <a:prstDash val="solid"/>
            <a:headEnd type="none"/>
            <a:tailEnd type="none"/>
          </a:ln>
        </p:spPr>
      </p:sp>
      <p:sp>
        <p:nvSpPr>
          <p:cNvPr id="4" name="Text 2"/>
          <p:cNvSpPr/>
          <p:nvPr/>
        </p:nvSpPr>
        <p:spPr>
          <a:xfrm>
            <a:off x="1527048" y="365760"/>
            <a:ext cx="3291840" cy="292608"/>
          </a:xfrm>
          <a:prstGeom prst="rect">
            <a:avLst/>
          </a:prstGeom>
          <a:noFill/>
          <a:ln/>
        </p:spPr>
        <p:txBody>
          <a:bodyPr wrap="square" lIns="0" tIns="0" rIns="0" bIns="0" rtlCol="0" anchor="ctr">
            <a:normAutofit/>
          </a:bodyPr>
          <a:lstStyle/>
          <a:p>
            <a:pPr indent="0" marL="0">
              <a:buNone/>
            </a:pPr>
            <a:r>
              <a:rPr lang="en-US" sz="900" b="1" spc="150" kern="0" dirty="0">
                <a:solidFill>
                  <a:srgbClr val="426EDC"/>
                </a:solidFill>
                <a:latin typeface="Arial" pitchFamily="34" charset="0"/>
                <a:ea typeface="Arial" pitchFamily="34" charset="-122"/>
                <a:cs typeface="Arial" pitchFamily="34" charset="-120"/>
              </a:rPr>
              <a:t>DETECTION LOGIC</a:t>
            </a:r>
            <a:endParaRPr lang="en-US" sz="900" dirty="0"/>
          </a:p>
        </p:txBody>
      </p:sp>
      <p:sp>
        <p:nvSpPr>
          <p:cNvPr id="5" name="Text 3"/>
          <p:cNvSpPr/>
          <p:nvPr/>
        </p:nvSpPr>
        <p:spPr>
          <a:xfrm>
            <a:off x="502920" y="804672"/>
            <a:ext cx="11064240" cy="502920"/>
          </a:xfrm>
          <a:prstGeom prst="rect">
            <a:avLst/>
          </a:prstGeom>
          <a:noFill/>
          <a:ln/>
        </p:spPr>
        <p:txBody>
          <a:bodyPr wrap="square" lIns="0" tIns="0" rIns="0" bIns="0" rtlCol="0" anchor="ctr">
            <a:normAutofit/>
          </a:bodyPr>
          <a:lstStyle/>
          <a:p>
            <a:pPr indent="0" marL="0">
              <a:buNone/>
            </a:pPr>
            <a:r>
              <a:rPr lang="en-US" sz="2700" b="1" dirty="0">
                <a:solidFill>
                  <a:srgbClr val="14213D"/>
                </a:solidFill>
                <a:latin typeface="Arial" pitchFamily="34" charset="0"/>
                <a:ea typeface="Arial" pitchFamily="34" charset="-122"/>
                <a:cs typeface="Arial" pitchFamily="34" charset="-120"/>
              </a:rPr>
              <a:t>Calibrate first. Filter noise. Confirm sustained movement.</a:t>
            </a:r>
            <a:endParaRPr lang="en-US" sz="2700" dirty="0"/>
          </a:p>
        </p:txBody>
      </p:sp>
      <p:sp>
        <p:nvSpPr>
          <p:cNvPr id="6" name="Text 4"/>
          <p:cNvSpPr/>
          <p:nvPr/>
        </p:nvSpPr>
        <p:spPr>
          <a:xfrm>
            <a:off x="502920" y="1353312"/>
            <a:ext cx="10881360" cy="365760"/>
          </a:xfrm>
          <a:prstGeom prst="rect">
            <a:avLst/>
          </a:prstGeom>
          <a:noFill/>
          <a:ln/>
        </p:spPr>
        <p:txBody>
          <a:bodyPr wrap="square" lIns="0" tIns="0" rIns="0" bIns="0" rtlCol="0" anchor="ctr">
            <a:normAutofit/>
          </a:bodyPr>
          <a:lstStyle/>
          <a:p>
            <a:pPr indent="0" marL="0">
              <a:buNone/>
            </a:pPr>
            <a:r>
              <a:rPr lang="en-US" sz="1150" dirty="0">
                <a:solidFill>
                  <a:srgbClr val="5E708F"/>
                </a:solidFill>
                <a:latin typeface="Arial" pitchFamily="34" charset="0"/>
                <a:ea typeface="Arial" pitchFamily="34" charset="-122"/>
                <a:cs typeface="Arial" pitchFamily="34" charset="-120"/>
              </a:rPr>
              <a:t>The detector is a pure, replayable state machine with no network, database or clock dependencies.</a:t>
            </a:r>
            <a:endParaRPr lang="en-US" sz="1150" dirty="0"/>
          </a:p>
        </p:txBody>
      </p:sp>
      <p:sp>
        <p:nvSpPr>
          <p:cNvPr id="7" name="Text 5"/>
          <p:cNvSpPr/>
          <p:nvPr/>
        </p:nvSpPr>
        <p:spPr>
          <a:xfrm>
            <a:off x="502920" y="6446520"/>
            <a:ext cx="2011680" cy="164592"/>
          </a:xfrm>
          <a:prstGeom prst="rect">
            <a:avLst/>
          </a:prstGeom>
          <a:noFill/>
          <a:ln/>
        </p:spPr>
        <p:txBody>
          <a:bodyPr wrap="square" lIns="0" tIns="0" rIns="0" bIns="0" rtlCol="0" anchor="ctr">
            <a:normAutofit/>
          </a:bodyPr>
          <a:lstStyle/>
          <a:p>
            <a:pPr indent="0" marL="0">
              <a:buNone/>
            </a:pPr>
            <a:r>
              <a:rPr lang="en-US" sz="800" b="1" dirty="0">
                <a:solidFill>
                  <a:srgbClr val="71819C"/>
                </a:solidFill>
                <a:latin typeface="Arial" pitchFamily="34" charset="0"/>
                <a:ea typeface="Arial" pitchFamily="34" charset="-122"/>
                <a:cs typeface="Arial" pitchFamily="34" charset="-120"/>
              </a:rPr>
              <a:t>FailureAntyTheft</a:t>
            </a:r>
            <a:endParaRPr lang="en-US" sz="800" dirty="0"/>
          </a:p>
        </p:txBody>
      </p:sp>
      <p:sp>
        <p:nvSpPr>
          <p:cNvPr id="8" name="Shape 6"/>
          <p:cNvSpPr/>
          <p:nvPr/>
        </p:nvSpPr>
        <p:spPr>
          <a:xfrm>
            <a:off x="594360" y="2139696"/>
            <a:ext cx="1325880" cy="786384"/>
          </a:xfrm>
          <a:prstGeom prst="roundRect">
            <a:avLst>
              <a:gd name="adj" fmla="val 9302"/>
            </a:avLst>
          </a:prstGeom>
          <a:solidFill>
            <a:srgbClr val="FFFFFF"/>
          </a:solidFill>
          <a:ln w="17780">
            <a:solidFill>
              <a:srgbClr val="5E708F"/>
            </a:solidFill>
            <a:prstDash val="solid"/>
          </a:ln>
        </p:spPr>
      </p:sp>
      <p:sp>
        <p:nvSpPr>
          <p:cNvPr id="9" name="Shape 7"/>
          <p:cNvSpPr/>
          <p:nvPr/>
        </p:nvSpPr>
        <p:spPr>
          <a:xfrm>
            <a:off x="740664" y="2441448"/>
            <a:ext cx="182880" cy="182880"/>
          </a:xfrm>
          <a:prstGeom prst="ellipse">
            <a:avLst/>
          </a:prstGeom>
          <a:solidFill>
            <a:srgbClr val="5E708F"/>
          </a:solidFill>
          <a:ln w="12700">
            <a:solidFill>
              <a:srgbClr val="5E708F"/>
            </a:solidFill>
            <a:prstDash val="solid"/>
          </a:ln>
        </p:spPr>
      </p:sp>
      <p:sp>
        <p:nvSpPr>
          <p:cNvPr id="10" name="Text 8"/>
          <p:cNvSpPr/>
          <p:nvPr/>
        </p:nvSpPr>
        <p:spPr>
          <a:xfrm>
            <a:off x="987552" y="2322576"/>
            <a:ext cx="850392" cy="420624"/>
          </a:xfrm>
          <a:prstGeom prst="rect">
            <a:avLst/>
          </a:prstGeom>
          <a:noFill/>
          <a:ln/>
        </p:spPr>
        <p:txBody>
          <a:bodyPr wrap="square" lIns="0" tIns="0" rIns="0" bIns="0" rtlCol="0" anchor="ctr">
            <a:normAutofit/>
          </a:bodyPr>
          <a:lstStyle/>
          <a:p>
            <a:pPr algn="ctr" indent="0" marL="0">
              <a:buNone/>
            </a:pPr>
            <a:r>
              <a:rPr lang="en-US" sz="1020" b="1" dirty="0">
                <a:solidFill>
                  <a:srgbClr val="5E708F"/>
                </a:solidFill>
                <a:latin typeface="Arial" pitchFamily="34" charset="0"/>
                <a:ea typeface="Arial" pitchFamily="34" charset="-122"/>
                <a:cs typeface="Arial" pitchFamily="34" charset="-120"/>
              </a:rPr>
              <a:t>OFFLINE</a:t>
            </a:r>
            <a:endParaRPr lang="en-US" sz="1020" dirty="0"/>
          </a:p>
        </p:txBody>
      </p:sp>
      <p:sp>
        <p:nvSpPr>
          <p:cNvPr id="11" name="Shape 9"/>
          <p:cNvSpPr/>
          <p:nvPr/>
        </p:nvSpPr>
        <p:spPr>
          <a:xfrm>
            <a:off x="1920240" y="2532888"/>
            <a:ext cx="411480" cy="0"/>
          </a:xfrm>
          <a:prstGeom prst="line">
            <a:avLst/>
          </a:prstGeom>
          <a:noFill/>
          <a:ln w="20320">
            <a:solidFill>
              <a:srgbClr val="C9D5E5"/>
            </a:solidFill>
            <a:prstDash val="solid"/>
            <a:headEnd type="none"/>
            <a:tailEnd type="triangle"/>
          </a:ln>
        </p:spPr>
      </p:sp>
      <p:sp>
        <p:nvSpPr>
          <p:cNvPr id="12" name="Shape 10"/>
          <p:cNvSpPr/>
          <p:nvPr/>
        </p:nvSpPr>
        <p:spPr>
          <a:xfrm>
            <a:off x="2331720" y="2139696"/>
            <a:ext cx="1417320" cy="786384"/>
          </a:xfrm>
          <a:prstGeom prst="roundRect">
            <a:avLst>
              <a:gd name="adj" fmla="val 9302"/>
            </a:avLst>
          </a:prstGeom>
          <a:solidFill>
            <a:srgbClr val="FFFFFF"/>
          </a:solidFill>
          <a:ln w="17780">
            <a:solidFill>
              <a:srgbClr val="426EDC"/>
            </a:solidFill>
            <a:prstDash val="solid"/>
          </a:ln>
        </p:spPr>
      </p:sp>
      <p:sp>
        <p:nvSpPr>
          <p:cNvPr id="13" name="Shape 11"/>
          <p:cNvSpPr/>
          <p:nvPr/>
        </p:nvSpPr>
        <p:spPr>
          <a:xfrm>
            <a:off x="2478024" y="2441448"/>
            <a:ext cx="182880" cy="182880"/>
          </a:xfrm>
          <a:prstGeom prst="ellipse">
            <a:avLst/>
          </a:prstGeom>
          <a:solidFill>
            <a:srgbClr val="426EDC"/>
          </a:solidFill>
          <a:ln w="12700">
            <a:solidFill>
              <a:srgbClr val="426EDC"/>
            </a:solidFill>
            <a:prstDash val="solid"/>
          </a:ln>
        </p:spPr>
      </p:sp>
      <p:sp>
        <p:nvSpPr>
          <p:cNvPr id="14" name="Text 12"/>
          <p:cNvSpPr/>
          <p:nvPr/>
        </p:nvSpPr>
        <p:spPr>
          <a:xfrm>
            <a:off x="2724912" y="2322576"/>
            <a:ext cx="941832" cy="420624"/>
          </a:xfrm>
          <a:prstGeom prst="rect">
            <a:avLst/>
          </a:prstGeom>
          <a:noFill/>
          <a:ln/>
        </p:spPr>
        <p:txBody>
          <a:bodyPr wrap="square" lIns="0" tIns="0" rIns="0" bIns="0" rtlCol="0" anchor="ctr">
            <a:normAutofit/>
          </a:bodyPr>
          <a:lstStyle/>
          <a:p>
            <a:pPr algn="ctr" indent="0" marL="0">
              <a:buNone/>
            </a:pPr>
            <a:r>
              <a:rPr lang="en-US" sz="1020" b="1" dirty="0">
                <a:solidFill>
                  <a:srgbClr val="426EDC"/>
                </a:solidFill>
                <a:latin typeface="Arial" pitchFamily="34" charset="0"/>
                <a:ea typeface="Arial" pitchFamily="34" charset="-122"/>
                <a:cs typeface="Arial" pitchFamily="34" charset="-120"/>
              </a:rPr>
              <a:t>DISARMED</a:t>
            </a:r>
            <a:endParaRPr lang="en-US" sz="1020" dirty="0"/>
          </a:p>
        </p:txBody>
      </p:sp>
      <p:sp>
        <p:nvSpPr>
          <p:cNvPr id="15" name="Shape 13"/>
          <p:cNvSpPr/>
          <p:nvPr/>
        </p:nvSpPr>
        <p:spPr>
          <a:xfrm>
            <a:off x="3749040" y="2532888"/>
            <a:ext cx="411480" cy="0"/>
          </a:xfrm>
          <a:prstGeom prst="line">
            <a:avLst/>
          </a:prstGeom>
          <a:noFill/>
          <a:ln w="20320">
            <a:solidFill>
              <a:srgbClr val="C9D5E5"/>
            </a:solidFill>
            <a:prstDash val="solid"/>
            <a:headEnd type="none"/>
            <a:tailEnd type="triangle"/>
          </a:ln>
        </p:spPr>
      </p:sp>
      <p:sp>
        <p:nvSpPr>
          <p:cNvPr id="16" name="Shape 14"/>
          <p:cNvSpPr/>
          <p:nvPr/>
        </p:nvSpPr>
        <p:spPr>
          <a:xfrm>
            <a:off x="4160520" y="2139696"/>
            <a:ext cx="1554480" cy="786384"/>
          </a:xfrm>
          <a:prstGeom prst="roundRect">
            <a:avLst>
              <a:gd name="adj" fmla="val 9302"/>
            </a:avLst>
          </a:prstGeom>
          <a:solidFill>
            <a:srgbClr val="FFFFFF"/>
          </a:solidFill>
          <a:ln w="17780">
            <a:solidFill>
              <a:srgbClr val="7048CA"/>
            </a:solidFill>
            <a:prstDash val="solid"/>
          </a:ln>
        </p:spPr>
      </p:sp>
      <p:sp>
        <p:nvSpPr>
          <p:cNvPr id="17" name="Shape 15"/>
          <p:cNvSpPr/>
          <p:nvPr/>
        </p:nvSpPr>
        <p:spPr>
          <a:xfrm>
            <a:off x="4306824" y="2441448"/>
            <a:ext cx="182880" cy="182880"/>
          </a:xfrm>
          <a:prstGeom prst="ellipse">
            <a:avLst/>
          </a:prstGeom>
          <a:solidFill>
            <a:srgbClr val="7048CA"/>
          </a:solidFill>
          <a:ln w="12700">
            <a:solidFill>
              <a:srgbClr val="7048CA"/>
            </a:solidFill>
            <a:prstDash val="solid"/>
          </a:ln>
        </p:spPr>
      </p:sp>
      <p:sp>
        <p:nvSpPr>
          <p:cNvPr id="18" name="Text 16"/>
          <p:cNvSpPr/>
          <p:nvPr/>
        </p:nvSpPr>
        <p:spPr>
          <a:xfrm>
            <a:off x="4553712" y="2322576"/>
            <a:ext cx="1078992" cy="420624"/>
          </a:xfrm>
          <a:prstGeom prst="rect">
            <a:avLst/>
          </a:prstGeom>
          <a:noFill/>
          <a:ln/>
        </p:spPr>
        <p:txBody>
          <a:bodyPr wrap="square" lIns="0" tIns="0" rIns="0" bIns="0" rtlCol="0" anchor="ctr">
            <a:normAutofit/>
          </a:bodyPr>
          <a:lstStyle/>
          <a:p>
            <a:pPr algn="ctr" indent="0" marL="0">
              <a:buNone/>
            </a:pPr>
            <a:r>
              <a:rPr lang="en-US" sz="1020" b="1" dirty="0">
                <a:solidFill>
                  <a:srgbClr val="7048CA"/>
                </a:solidFill>
                <a:latin typeface="Arial" pitchFamily="34" charset="0"/>
                <a:ea typeface="Arial" pitchFamily="34" charset="-122"/>
                <a:cs typeface="Arial" pitchFamily="34" charset="-120"/>
              </a:rPr>
              <a:t>CALIBRATING</a:t>
            </a:r>
            <a:endParaRPr lang="en-US" sz="1020" dirty="0"/>
          </a:p>
        </p:txBody>
      </p:sp>
      <p:sp>
        <p:nvSpPr>
          <p:cNvPr id="19" name="Shape 17"/>
          <p:cNvSpPr/>
          <p:nvPr/>
        </p:nvSpPr>
        <p:spPr>
          <a:xfrm>
            <a:off x="5715000" y="2532888"/>
            <a:ext cx="429768" cy="0"/>
          </a:xfrm>
          <a:prstGeom prst="line">
            <a:avLst/>
          </a:prstGeom>
          <a:noFill/>
          <a:ln w="20320">
            <a:solidFill>
              <a:srgbClr val="C9D5E5"/>
            </a:solidFill>
            <a:prstDash val="solid"/>
            <a:headEnd type="none"/>
            <a:tailEnd type="triangle"/>
          </a:ln>
        </p:spPr>
      </p:sp>
      <p:sp>
        <p:nvSpPr>
          <p:cNvPr id="20" name="Shape 18"/>
          <p:cNvSpPr/>
          <p:nvPr/>
        </p:nvSpPr>
        <p:spPr>
          <a:xfrm>
            <a:off x="6144768" y="2139696"/>
            <a:ext cx="1280160" cy="786384"/>
          </a:xfrm>
          <a:prstGeom prst="roundRect">
            <a:avLst>
              <a:gd name="adj" fmla="val 9302"/>
            </a:avLst>
          </a:prstGeom>
          <a:solidFill>
            <a:srgbClr val="FFFFFF"/>
          </a:solidFill>
          <a:ln w="17780">
            <a:solidFill>
              <a:srgbClr val="078F68"/>
            </a:solidFill>
            <a:prstDash val="solid"/>
          </a:ln>
        </p:spPr>
      </p:sp>
      <p:sp>
        <p:nvSpPr>
          <p:cNvPr id="21" name="Shape 19"/>
          <p:cNvSpPr/>
          <p:nvPr/>
        </p:nvSpPr>
        <p:spPr>
          <a:xfrm>
            <a:off x="6291072" y="2441448"/>
            <a:ext cx="182880" cy="182880"/>
          </a:xfrm>
          <a:prstGeom prst="ellipse">
            <a:avLst/>
          </a:prstGeom>
          <a:solidFill>
            <a:srgbClr val="078F68"/>
          </a:solidFill>
          <a:ln w="12700">
            <a:solidFill>
              <a:srgbClr val="078F68"/>
            </a:solidFill>
            <a:prstDash val="solid"/>
          </a:ln>
        </p:spPr>
      </p:sp>
      <p:sp>
        <p:nvSpPr>
          <p:cNvPr id="22" name="Text 20"/>
          <p:cNvSpPr/>
          <p:nvPr/>
        </p:nvSpPr>
        <p:spPr>
          <a:xfrm>
            <a:off x="6537960" y="2322576"/>
            <a:ext cx="804672" cy="420624"/>
          </a:xfrm>
          <a:prstGeom prst="rect">
            <a:avLst/>
          </a:prstGeom>
          <a:noFill/>
          <a:ln/>
        </p:spPr>
        <p:txBody>
          <a:bodyPr wrap="square" lIns="0" tIns="0" rIns="0" bIns="0" rtlCol="0" anchor="ctr">
            <a:normAutofit/>
          </a:bodyPr>
          <a:lstStyle/>
          <a:p>
            <a:pPr algn="ctr" indent="0" marL="0">
              <a:buNone/>
            </a:pPr>
            <a:r>
              <a:rPr lang="en-US" sz="1020" b="1" dirty="0">
                <a:solidFill>
                  <a:srgbClr val="078F68"/>
                </a:solidFill>
                <a:latin typeface="Arial" pitchFamily="34" charset="0"/>
                <a:ea typeface="Arial" pitchFamily="34" charset="-122"/>
                <a:cs typeface="Arial" pitchFamily="34" charset="-120"/>
              </a:rPr>
              <a:t>ARMED</a:t>
            </a:r>
            <a:endParaRPr lang="en-US" sz="1020" dirty="0"/>
          </a:p>
        </p:txBody>
      </p:sp>
      <p:sp>
        <p:nvSpPr>
          <p:cNvPr id="23" name="Shape 21"/>
          <p:cNvSpPr/>
          <p:nvPr/>
        </p:nvSpPr>
        <p:spPr>
          <a:xfrm>
            <a:off x="7424928" y="2532888"/>
            <a:ext cx="411480" cy="0"/>
          </a:xfrm>
          <a:prstGeom prst="line">
            <a:avLst/>
          </a:prstGeom>
          <a:noFill/>
          <a:ln w="20320">
            <a:solidFill>
              <a:srgbClr val="C9D5E5"/>
            </a:solidFill>
            <a:prstDash val="solid"/>
            <a:headEnd type="none"/>
            <a:tailEnd type="triangle"/>
          </a:ln>
        </p:spPr>
      </p:sp>
      <p:sp>
        <p:nvSpPr>
          <p:cNvPr id="24" name="Shape 22"/>
          <p:cNvSpPr/>
          <p:nvPr/>
        </p:nvSpPr>
        <p:spPr>
          <a:xfrm>
            <a:off x="7836408" y="2139696"/>
            <a:ext cx="1572768" cy="786384"/>
          </a:xfrm>
          <a:prstGeom prst="roundRect">
            <a:avLst>
              <a:gd name="adj" fmla="val 9302"/>
            </a:avLst>
          </a:prstGeom>
          <a:solidFill>
            <a:srgbClr val="FFFFFF"/>
          </a:solidFill>
          <a:ln w="17780">
            <a:solidFill>
              <a:srgbClr val="B97912"/>
            </a:solidFill>
            <a:prstDash val="solid"/>
          </a:ln>
        </p:spPr>
      </p:sp>
      <p:sp>
        <p:nvSpPr>
          <p:cNvPr id="25" name="Shape 23"/>
          <p:cNvSpPr/>
          <p:nvPr/>
        </p:nvSpPr>
        <p:spPr>
          <a:xfrm>
            <a:off x="7982712" y="2441448"/>
            <a:ext cx="182880" cy="182880"/>
          </a:xfrm>
          <a:prstGeom prst="ellipse">
            <a:avLst/>
          </a:prstGeom>
          <a:solidFill>
            <a:srgbClr val="B97912"/>
          </a:solidFill>
          <a:ln w="12700">
            <a:solidFill>
              <a:srgbClr val="B97912"/>
            </a:solidFill>
            <a:prstDash val="solid"/>
          </a:ln>
        </p:spPr>
      </p:sp>
      <p:sp>
        <p:nvSpPr>
          <p:cNvPr id="26" name="Text 24"/>
          <p:cNvSpPr/>
          <p:nvPr/>
        </p:nvSpPr>
        <p:spPr>
          <a:xfrm>
            <a:off x="8229600" y="2322576"/>
            <a:ext cx="1097280" cy="420624"/>
          </a:xfrm>
          <a:prstGeom prst="rect">
            <a:avLst/>
          </a:prstGeom>
          <a:noFill/>
          <a:ln/>
        </p:spPr>
        <p:txBody>
          <a:bodyPr wrap="square" lIns="0" tIns="0" rIns="0" bIns="0" rtlCol="0" anchor="ctr">
            <a:normAutofit/>
          </a:bodyPr>
          <a:lstStyle/>
          <a:p>
            <a:pPr algn="ctr" indent="0" marL="0">
              <a:buNone/>
            </a:pPr>
            <a:r>
              <a:rPr lang="en-US" sz="1020" b="1" dirty="0">
                <a:solidFill>
                  <a:srgbClr val="B97912"/>
                </a:solidFill>
                <a:latin typeface="Arial" pitchFamily="34" charset="0"/>
                <a:ea typeface="Arial" pitchFamily="34" charset="-122"/>
                <a:cs typeface="Arial" pitchFamily="34" charset="-120"/>
              </a:rPr>
              <a:t>SUSPICIOUS</a:t>
            </a:r>
            <a:endParaRPr lang="en-US" sz="1020" dirty="0"/>
          </a:p>
        </p:txBody>
      </p:sp>
      <p:sp>
        <p:nvSpPr>
          <p:cNvPr id="27" name="Shape 25"/>
          <p:cNvSpPr/>
          <p:nvPr/>
        </p:nvSpPr>
        <p:spPr>
          <a:xfrm>
            <a:off x="9409176" y="2532888"/>
            <a:ext cx="420624" cy="0"/>
          </a:xfrm>
          <a:prstGeom prst="line">
            <a:avLst/>
          </a:prstGeom>
          <a:noFill/>
          <a:ln w="20320">
            <a:solidFill>
              <a:srgbClr val="C9D5E5"/>
            </a:solidFill>
            <a:prstDash val="solid"/>
            <a:headEnd type="none"/>
            <a:tailEnd type="triangle"/>
          </a:ln>
        </p:spPr>
      </p:sp>
      <p:sp>
        <p:nvSpPr>
          <p:cNvPr id="28" name="Shape 26"/>
          <p:cNvSpPr/>
          <p:nvPr/>
        </p:nvSpPr>
        <p:spPr>
          <a:xfrm>
            <a:off x="9829800" y="2139696"/>
            <a:ext cx="1389888" cy="786384"/>
          </a:xfrm>
          <a:prstGeom prst="roundRect">
            <a:avLst>
              <a:gd name="adj" fmla="val 9302"/>
            </a:avLst>
          </a:prstGeom>
          <a:solidFill>
            <a:srgbClr val="FFFFFF"/>
          </a:solidFill>
          <a:ln w="17780">
            <a:solidFill>
              <a:srgbClr val="D64255"/>
            </a:solidFill>
            <a:prstDash val="solid"/>
          </a:ln>
        </p:spPr>
      </p:sp>
      <p:sp>
        <p:nvSpPr>
          <p:cNvPr id="29" name="Shape 27"/>
          <p:cNvSpPr/>
          <p:nvPr/>
        </p:nvSpPr>
        <p:spPr>
          <a:xfrm>
            <a:off x="9976104" y="2441448"/>
            <a:ext cx="182880" cy="182880"/>
          </a:xfrm>
          <a:prstGeom prst="ellipse">
            <a:avLst/>
          </a:prstGeom>
          <a:solidFill>
            <a:srgbClr val="D64255"/>
          </a:solidFill>
          <a:ln w="12700">
            <a:solidFill>
              <a:srgbClr val="D64255"/>
            </a:solidFill>
            <a:prstDash val="solid"/>
          </a:ln>
        </p:spPr>
      </p:sp>
      <p:sp>
        <p:nvSpPr>
          <p:cNvPr id="30" name="Text 28"/>
          <p:cNvSpPr/>
          <p:nvPr/>
        </p:nvSpPr>
        <p:spPr>
          <a:xfrm>
            <a:off x="10222992" y="2322576"/>
            <a:ext cx="914400" cy="420624"/>
          </a:xfrm>
          <a:prstGeom prst="rect">
            <a:avLst/>
          </a:prstGeom>
          <a:noFill/>
          <a:ln/>
        </p:spPr>
        <p:txBody>
          <a:bodyPr wrap="square" lIns="0" tIns="0" rIns="0" bIns="0" rtlCol="0" anchor="ctr">
            <a:normAutofit/>
          </a:bodyPr>
          <a:lstStyle/>
          <a:p>
            <a:pPr algn="ctr" indent="0" marL="0">
              <a:buNone/>
            </a:pPr>
            <a:r>
              <a:rPr lang="en-US" sz="1020" b="1" dirty="0">
                <a:solidFill>
                  <a:srgbClr val="D64255"/>
                </a:solidFill>
                <a:latin typeface="Arial" pitchFamily="34" charset="0"/>
                <a:ea typeface="Arial" pitchFamily="34" charset="-122"/>
                <a:cs typeface="Arial" pitchFamily="34" charset="-120"/>
              </a:rPr>
              <a:t>ALARM</a:t>
            </a:r>
            <a:endParaRPr lang="en-US" sz="1020" dirty="0"/>
          </a:p>
        </p:txBody>
      </p:sp>
      <p:sp>
        <p:nvSpPr>
          <p:cNvPr id="31" name="Text 29"/>
          <p:cNvSpPr/>
          <p:nvPr/>
        </p:nvSpPr>
        <p:spPr>
          <a:xfrm>
            <a:off x="1591056" y="1810512"/>
            <a:ext cx="1005840" cy="182880"/>
          </a:xfrm>
          <a:prstGeom prst="rect">
            <a:avLst/>
          </a:prstGeom>
          <a:noFill/>
          <a:ln/>
        </p:spPr>
        <p:txBody>
          <a:bodyPr wrap="square" lIns="0" tIns="0" rIns="0" bIns="0" rtlCol="0" anchor="ctr">
            <a:normAutofit/>
          </a:bodyPr>
          <a:lstStyle/>
          <a:p>
            <a:pPr algn="ctr" indent="0" marL="0">
              <a:buNone/>
            </a:pPr>
            <a:r>
              <a:rPr lang="en-US" sz="750" dirty="0">
                <a:solidFill>
                  <a:srgbClr val="5E708F"/>
                </a:solidFill>
                <a:latin typeface="Arial" pitchFamily="34" charset="0"/>
                <a:ea typeface="Arial" pitchFamily="34" charset="-122"/>
                <a:cs typeface="Arial" pitchFamily="34" charset="-120"/>
              </a:rPr>
              <a:t>valid sample</a:t>
            </a:r>
            <a:endParaRPr lang="en-US" sz="750" dirty="0"/>
          </a:p>
        </p:txBody>
      </p:sp>
      <p:sp>
        <p:nvSpPr>
          <p:cNvPr id="32" name="Text 30"/>
          <p:cNvSpPr/>
          <p:nvPr/>
        </p:nvSpPr>
        <p:spPr>
          <a:xfrm>
            <a:off x="3602736" y="1810512"/>
            <a:ext cx="457200" cy="182880"/>
          </a:xfrm>
          <a:prstGeom prst="rect">
            <a:avLst/>
          </a:prstGeom>
          <a:noFill/>
          <a:ln/>
        </p:spPr>
        <p:txBody>
          <a:bodyPr wrap="square" lIns="0" tIns="0" rIns="0" bIns="0" rtlCol="0" anchor="ctr">
            <a:normAutofit/>
          </a:bodyPr>
          <a:lstStyle/>
          <a:p>
            <a:pPr algn="ctr" indent="0" marL="0">
              <a:buNone/>
            </a:pPr>
            <a:r>
              <a:rPr lang="en-US" sz="720" dirty="0">
                <a:solidFill>
                  <a:srgbClr val="5E708F"/>
                </a:solidFill>
                <a:latin typeface="Arial" pitchFamily="34" charset="0"/>
                <a:ea typeface="Arial" pitchFamily="34" charset="-122"/>
                <a:cs typeface="Arial" pitchFamily="34" charset="-120"/>
              </a:rPr>
              <a:t>arm</a:t>
            </a:r>
            <a:endParaRPr lang="en-US" sz="720" dirty="0"/>
          </a:p>
        </p:txBody>
      </p:sp>
      <p:sp>
        <p:nvSpPr>
          <p:cNvPr id="33" name="Text 31"/>
          <p:cNvSpPr/>
          <p:nvPr/>
        </p:nvSpPr>
        <p:spPr>
          <a:xfrm>
            <a:off x="5458968" y="1810512"/>
            <a:ext cx="841248" cy="182880"/>
          </a:xfrm>
          <a:prstGeom prst="rect">
            <a:avLst/>
          </a:prstGeom>
          <a:noFill/>
          <a:ln/>
        </p:spPr>
        <p:txBody>
          <a:bodyPr wrap="square" lIns="0" tIns="0" rIns="0" bIns="0" rtlCol="0" anchor="ctr">
            <a:normAutofit/>
          </a:bodyPr>
          <a:lstStyle/>
          <a:p>
            <a:pPr algn="ctr" indent="0" marL="0">
              <a:buNone/>
            </a:pPr>
            <a:r>
              <a:rPr lang="en-US" sz="720" dirty="0">
                <a:solidFill>
                  <a:srgbClr val="5E708F"/>
                </a:solidFill>
                <a:latin typeface="Arial" pitchFamily="34" charset="0"/>
                <a:ea typeface="Arial" pitchFamily="34" charset="-122"/>
                <a:cs typeface="Arial" pitchFamily="34" charset="-120"/>
              </a:rPr>
              <a:t>baseline ready</a:t>
            </a:r>
            <a:endParaRPr lang="en-US" sz="720" dirty="0"/>
          </a:p>
        </p:txBody>
      </p:sp>
      <p:sp>
        <p:nvSpPr>
          <p:cNvPr id="34" name="Text 32"/>
          <p:cNvSpPr/>
          <p:nvPr/>
        </p:nvSpPr>
        <p:spPr>
          <a:xfrm>
            <a:off x="7178040" y="1810512"/>
            <a:ext cx="1143000" cy="182880"/>
          </a:xfrm>
          <a:prstGeom prst="rect">
            <a:avLst/>
          </a:prstGeom>
          <a:noFill/>
          <a:ln/>
        </p:spPr>
        <p:txBody>
          <a:bodyPr wrap="square" lIns="0" tIns="0" rIns="0" bIns="0" rtlCol="0" anchor="ctr">
            <a:normAutofit/>
          </a:bodyPr>
          <a:lstStyle/>
          <a:p>
            <a:pPr algn="ctr" indent="0" marL="0">
              <a:buNone/>
            </a:pPr>
            <a:r>
              <a:rPr lang="en-US" sz="750" dirty="0">
                <a:solidFill>
                  <a:srgbClr val="5E708F"/>
                </a:solidFill>
                <a:latin typeface="Arial" pitchFamily="34" charset="0"/>
                <a:ea typeface="Arial" pitchFamily="34" charset="-122"/>
                <a:cs typeface="Arial" pitchFamily="34" charset="-120"/>
              </a:rPr>
              <a:t>score &gt; threshold</a:t>
            </a:r>
            <a:endParaRPr lang="en-US" sz="750" dirty="0"/>
          </a:p>
        </p:txBody>
      </p:sp>
      <p:sp>
        <p:nvSpPr>
          <p:cNvPr id="35" name="Text 33"/>
          <p:cNvSpPr/>
          <p:nvPr/>
        </p:nvSpPr>
        <p:spPr>
          <a:xfrm>
            <a:off x="9089136" y="1810512"/>
            <a:ext cx="1143000" cy="182880"/>
          </a:xfrm>
          <a:prstGeom prst="rect">
            <a:avLst/>
          </a:prstGeom>
          <a:noFill/>
          <a:ln/>
        </p:spPr>
        <p:txBody>
          <a:bodyPr wrap="square" lIns="0" tIns="0" rIns="0" bIns="0" rtlCol="0" anchor="ctr">
            <a:normAutofit/>
          </a:bodyPr>
          <a:lstStyle/>
          <a:p>
            <a:pPr algn="ctr" indent="0" marL="0">
              <a:buNone/>
            </a:pPr>
            <a:r>
              <a:rPr lang="en-US" sz="750" dirty="0">
                <a:solidFill>
                  <a:srgbClr val="5E708F"/>
                </a:solidFill>
                <a:latin typeface="Arial" pitchFamily="34" charset="0"/>
                <a:ea typeface="Arial" pitchFamily="34" charset="-122"/>
                <a:cs typeface="Arial" pitchFamily="34" charset="-120"/>
              </a:rPr>
              <a:t>3 crossings / 0.5 s</a:t>
            </a:r>
            <a:endParaRPr lang="en-US" sz="750" dirty="0"/>
          </a:p>
        </p:txBody>
      </p:sp>
      <p:sp>
        <p:nvSpPr>
          <p:cNvPr id="36" name="Shape 34"/>
          <p:cNvSpPr/>
          <p:nvPr/>
        </p:nvSpPr>
        <p:spPr>
          <a:xfrm>
            <a:off x="10515600" y="2944368"/>
            <a:ext cx="-7424928" cy="713232"/>
          </a:xfrm>
          <a:prstGeom prst="line">
            <a:avLst/>
          </a:prstGeom>
          <a:noFill/>
          <a:ln w="15875">
            <a:solidFill>
              <a:srgbClr val="D64255"/>
            </a:solidFill>
            <a:prstDash val="solid"/>
            <a:headEnd type="none"/>
            <a:tailEnd type="triangle"/>
          </a:ln>
        </p:spPr>
      </p:sp>
      <p:sp>
        <p:nvSpPr>
          <p:cNvPr id="37" name="Shape 35"/>
          <p:cNvSpPr/>
          <p:nvPr/>
        </p:nvSpPr>
        <p:spPr>
          <a:xfrm>
            <a:off x="5358384" y="3310128"/>
            <a:ext cx="1847088" cy="265176"/>
          </a:xfrm>
          <a:prstGeom prst="roundRect">
            <a:avLst>
              <a:gd name="adj" fmla="val 27586"/>
            </a:avLst>
          </a:prstGeom>
          <a:solidFill>
            <a:srgbClr val="F7F9FC"/>
          </a:solidFill>
          <a:ln w="8890">
            <a:solidFill>
              <a:srgbClr val="D64255">
                <a:alpha val="45000"/>
              </a:srgbClr>
            </a:solidFill>
            <a:prstDash val="solid"/>
          </a:ln>
        </p:spPr>
      </p:sp>
      <p:sp>
        <p:nvSpPr>
          <p:cNvPr id="38" name="Text 36"/>
          <p:cNvSpPr/>
          <p:nvPr/>
        </p:nvSpPr>
        <p:spPr>
          <a:xfrm>
            <a:off x="5431536" y="3346704"/>
            <a:ext cx="1700784" cy="182880"/>
          </a:xfrm>
          <a:prstGeom prst="rect">
            <a:avLst/>
          </a:prstGeom>
          <a:noFill/>
          <a:ln/>
        </p:spPr>
        <p:txBody>
          <a:bodyPr wrap="square" lIns="0" tIns="0" rIns="0" bIns="0" rtlCol="0" anchor="ctr">
            <a:normAutofit/>
          </a:bodyPr>
          <a:lstStyle/>
          <a:p>
            <a:pPr algn="ctr" indent="0" marL="0">
              <a:buNone/>
            </a:pPr>
            <a:r>
              <a:rPr lang="en-US" sz="720" b="1" dirty="0">
                <a:solidFill>
                  <a:srgbClr val="D64255"/>
                </a:solidFill>
                <a:latin typeface="Arial" pitchFamily="34" charset="0"/>
                <a:ea typeface="Arial" pitchFamily="34" charset="-122"/>
                <a:cs typeface="Arial" pitchFamily="34" charset="-120"/>
              </a:rPr>
              <a:t>ACKNOWLEDGE → DISARMED</a:t>
            </a:r>
            <a:endParaRPr lang="en-US" sz="720" dirty="0"/>
          </a:p>
        </p:txBody>
      </p:sp>
      <p:sp>
        <p:nvSpPr>
          <p:cNvPr id="39" name="Shape 37"/>
          <p:cNvSpPr/>
          <p:nvPr/>
        </p:nvSpPr>
        <p:spPr>
          <a:xfrm>
            <a:off x="7498080" y="3182112"/>
            <a:ext cx="1572768" cy="310896"/>
          </a:xfrm>
          <a:prstGeom prst="roundRect">
            <a:avLst>
              <a:gd name="adj" fmla="val 23529"/>
            </a:avLst>
          </a:prstGeom>
          <a:solidFill>
            <a:srgbClr val="EEF3FA"/>
          </a:solidFill>
          <a:ln w="12700">
            <a:solidFill>
              <a:srgbClr val="B97912"/>
            </a:solidFill>
            <a:prstDash val="solid"/>
          </a:ln>
        </p:spPr>
      </p:sp>
      <p:sp>
        <p:nvSpPr>
          <p:cNvPr id="40" name="Text 38"/>
          <p:cNvSpPr/>
          <p:nvPr/>
        </p:nvSpPr>
        <p:spPr>
          <a:xfrm>
            <a:off x="7571232" y="3200400"/>
            <a:ext cx="1426464" cy="256032"/>
          </a:xfrm>
          <a:prstGeom prst="rect">
            <a:avLst/>
          </a:prstGeom>
          <a:noFill/>
          <a:ln/>
        </p:spPr>
        <p:txBody>
          <a:bodyPr wrap="square" lIns="0" tIns="0" rIns="0" bIns="0" rtlCol="0" anchor="ctr">
            <a:normAutofit/>
          </a:bodyPr>
          <a:lstStyle/>
          <a:p>
            <a:pPr algn="ctr" indent="0" marL="0">
              <a:buNone/>
            </a:pPr>
            <a:r>
              <a:rPr lang="en-US" sz="680" b="1" spc="70" kern="0" dirty="0">
                <a:solidFill>
                  <a:srgbClr val="B97912"/>
                </a:solidFill>
                <a:latin typeface="Arial" pitchFamily="34" charset="0"/>
                <a:ea typeface="Arial" pitchFamily="34" charset="-122"/>
                <a:cs typeface="Arial" pitchFamily="34" charset="-120"/>
              </a:rPr>
              <a:t>SCORE NORMAL → ARMED</a:t>
            </a:r>
            <a:endParaRPr lang="en-US" sz="680" dirty="0"/>
          </a:p>
        </p:txBody>
      </p:sp>
      <p:sp>
        <p:nvSpPr>
          <p:cNvPr id="41" name="Shape 39"/>
          <p:cNvSpPr/>
          <p:nvPr/>
        </p:nvSpPr>
        <p:spPr>
          <a:xfrm>
            <a:off x="594360" y="4041648"/>
            <a:ext cx="5166360" cy="1417320"/>
          </a:xfrm>
          <a:prstGeom prst="roundRect">
            <a:avLst>
              <a:gd name="adj" fmla="val 5161"/>
            </a:avLst>
          </a:prstGeom>
          <a:solidFill>
            <a:srgbClr val="FFFFFF"/>
          </a:solidFill>
          <a:ln w="12700">
            <a:solidFill>
              <a:srgbClr val="C9D5E5"/>
            </a:solidFill>
            <a:prstDash val="solid"/>
          </a:ln>
        </p:spPr>
      </p:sp>
      <p:sp>
        <p:nvSpPr>
          <p:cNvPr id="42" name="Text 40"/>
          <p:cNvSpPr/>
          <p:nvPr/>
        </p:nvSpPr>
        <p:spPr>
          <a:xfrm>
            <a:off x="868680" y="4270248"/>
            <a:ext cx="1170432" cy="201168"/>
          </a:xfrm>
          <a:prstGeom prst="rect">
            <a:avLst/>
          </a:prstGeom>
          <a:noFill/>
          <a:ln/>
        </p:spPr>
        <p:txBody>
          <a:bodyPr wrap="square" lIns="0" tIns="0" rIns="0" bIns="0" rtlCol="0" anchor="ctr">
            <a:normAutofit/>
          </a:bodyPr>
          <a:lstStyle/>
          <a:p>
            <a:pPr indent="0" marL="0">
              <a:buNone/>
            </a:pPr>
            <a:r>
              <a:rPr lang="en-US" sz="850" b="1" spc="100" kern="0" dirty="0">
                <a:solidFill>
                  <a:srgbClr val="7048CA"/>
                </a:solidFill>
                <a:latin typeface="Arial" pitchFamily="34" charset="0"/>
                <a:ea typeface="Arial" pitchFamily="34" charset="-122"/>
                <a:cs typeface="Arial" pitchFamily="34" charset="-120"/>
              </a:rPr>
              <a:t>CALIBRATION</a:t>
            </a:r>
            <a:endParaRPr lang="en-US" sz="850" dirty="0"/>
          </a:p>
        </p:txBody>
      </p:sp>
      <p:sp>
        <p:nvSpPr>
          <p:cNvPr id="43" name="Text 41"/>
          <p:cNvSpPr/>
          <p:nvPr/>
        </p:nvSpPr>
        <p:spPr>
          <a:xfrm>
            <a:off x="868680" y="4617720"/>
            <a:ext cx="4114800" cy="301752"/>
          </a:xfrm>
          <a:prstGeom prst="rect">
            <a:avLst/>
          </a:prstGeom>
          <a:noFill/>
          <a:ln/>
        </p:spPr>
        <p:txBody>
          <a:bodyPr wrap="square" lIns="0" tIns="0" rIns="0" bIns="0" rtlCol="0" anchor="ctr">
            <a:normAutofit/>
          </a:bodyPr>
          <a:lstStyle/>
          <a:p>
            <a:pPr indent="0" marL="0">
              <a:buNone/>
            </a:pPr>
            <a:r>
              <a:rPr lang="en-US" sz="1600" b="1" dirty="0">
                <a:solidFill>
                  <a:srgbClr val="14213D"/>
                </a:solidFill>
                <a:latin typeface="Arial" pitchFamily="34" charset="0"/>
                <a:ea typeface="Arial" pitchFamily="34" charset="-122"/>
                <a:cs typeface="Arial" pitchFamily="34" charset="-120"/>
              </a:rPr>
              <a:t>5 s placement delay + 2 s sampling window</a:t>
            </a:r>
            <a:endParaRPr lang="en-US" sz="1600" dirty="0"/>
          </a:p>
        </p:txBody>
      </p:sp>
      <p:sp>
        <p:nvSpPr>
          <p:cNvPr id="44" name="Text 42"/>
          <p:cNvSpPr/>
          <p:nvPr/>
        </p:nvSpPr>
        <p:spPr>
          <a:xfrm>
            <a:off x="868680" y="5001768"/>
            <a:ext cx="4480560" cy="246888"/>
          </a:xfrm>
          <a:prstGeom prst="rect">
            <a:avLst/>
          </a:prstGeom>
          <a:noFill/>
          <a:ln/>
        </p:spPr>
        <p:txBody>
          <a:bodyPr wrap="square" lIns="0" tIns="0" rIns="0" bIns="0" rtlCol="0" anchor="ctr">
            <a:normAutofit/>
          </a:bodyPr>
          <a:lstStyle/>
          <a:p>
            <a:pPr indent="0" marL="0">
              <a:buNone/>
            </a:pPr>
            <a:r>
              <a:rPr lang="en-US" sz="1000" dirty="0">
                <a:solidFill>
                  <a:srgbClr val="5E708F"/>
                </a:solidFill>
                <a:latin typeface="Arial" pitchFamily="34" charset="0"/>
                <a:ea typeface="Arial" pitchFamily="34" charset="-122"/>
                <a:cs typeface="Arial" pitchFamily="34" charset="-120"/>
              </a:rPr>
              <a:t>Median magnitude becomes the baseline; excessive variance rejects calibration.</a:t>
            </a:r>
            <a:endParaRPr lang="en-US" sz="1000" dirty="0"/>
          </a:p>
        </p:txBody>
      </p:sp>
      <p:sp>
        <p:nvSpPr>
          <p:cNvPr id="45" name="Shape 43"/>
          <p:cNvSpPr/>
          <p:nvPr/>
        </p:nvSpPr>
        <p:spPr>
          <a:xfrm>
            <a:off x="6099048" y="4041648"/>
            <a:ext cx="5120640" cy="1417320"/>
          </a:xfrm>
          <a:prstGeom prst="roundRect">
            <a:avLst>
              <a:gd name="adj" fmla="val 5161"/>
            </a:avLst>
          </a:prstGeom>
          <a:solidFill>
            <a:srgbClr val="FFFFFF"/>
          </a:solidFill>
          <a:ln w="12700">
            <a:solidFill>
              <a:srgbClr val="C9D5E5"/>
            </a:solidFill>
            <a:prstDash val="solid"/>
          </a:ln>
        </p:spPr>
      </p:sp>
      <p:sp>
        <p:nvSpPr>
          <p:cNvPr id="46" name="Text 44"/>
          <p:cNvSpPr/>
          <p:nvPr/>
        </p:nvSpPr>
        <p:spPr>
          <a:xfrm>
            <a:off x="6373368" y="4270248"/>
            <a:ext cx="1325880" cy="201168"/>
          </a:xfrm>
          <a:prstGeom prst="rect">
            <a:avLst/>
          </a:prstGeom>
          <a:noFill/>
          <a:ln/>
        </p:spPr>
        <p:txBody>
          <a:bodyPr wrap="square" lIns="0" tIns="0" rIns="0" bIns="0" rtlCol="0" anchor="ctr">
            <a:normAutofit/>
          </a:bodyPr>
          <a:lstStyle/>
          <a:p>
            <a:pPr indent="0" marL="0">
              <a:buNone/>
            </a:pPr>
            <a:r>
              <a:rPr lang="en-US" sz="850" b="1" spc="100" kern="0" dirty="0">
                <a:solidFill>
                  <a:srgbClr val="078F68"/>
                </a:solidFill>
                <a:latin typeface="Arial" pitchFamily="34" charset="0"/>
                <a:ea typeface="Arial" pitchFamily="34" charset="-122"/>
                <a:cs typeface="Arial" pitchFamily="34" charset="-120"/>
              </a:rPr>
              <a:t>MOTION SCORE</a:t>
            </a:r>
            <a:endParaRPr lang="en-US" sz="850" dirty="0"/>
          </a:p>
        </p:txBody>
      </p:sp>
      <p:sp>
        <p:nvSpPr>
          <p:cNvPr id="47" name="Text 45"/>
          <p:cNvSpPr/>
          <p:nvPr/>
        </p:nvSpPr>
        <p:spPr>
          <a:xfrm>
            <a:off x="6373368" y="4608576"/>
            <a:ext cx="4389120" cy="329184"/>
          </a:xfrm>
          <a:prstGeom prst="rect">
            <a:avLst/>
          </a:prstGeom>
          <a:noFill/>
          <a:ln/>
        </p:spPr>
        <p:txBody>
          <a:bodyPr wrap="square" lIns="0" tIns="0" rIns="0" bIns="0" rtlCol="0" anchor="ctr">
            <a:normAutofit/>
          </a:bodyPr>
          <a:lstStyle/>
          <a:p>
            <a:pPr indent="0" marL="0">
              <a:buNone/>
            </a:pPr>
            <a:r>
              <a:rPr lang="en-US" sz="1600" b="1" dirty="0">
                <a:solidFill>
                  <a:srgbClr val="14213D"/>
                </a:solidFill>
                <a:latin typeface="Arial" pitchFamily="34" charset="0"/>
                <a:ea typeface="Arial" pitchFamily="34" charset="-122"/>
                <a:cs typeface="Arial" pitchFamily="34" charset="-120"/>
              </a:rPr>
              <a:t>score = | EMA(√(x² + y² + z²)) − baseline |</a:t>
            </a:r>
            <a:endParaRPr lang="en-US" sz="1600" dirty="0"/>
          </a:p>
        </p:txBody>
      </p:sp>
      <p:sp>
        <p:nvSpPr>
          <p:cNvPr id="48" name="Text 46"/>
          <p:cNvSpPr/>
          <p:nvPr/>
        </p:nvSpPr>
        <p:spPr>
          <a:xfrm>
            <a:off x="6373368" y="5010912"/>
            <a:ext cx="4389120" cy="246888"/>
          </a:xfrm>
          <a:prstGeom prst="rect">
            <a:avLst/>
          </a:prstGeom>
          <a:noFill/>
          <a:ln/>
        </p:spPr>
        <p:txBody>
          <a:bodyPr wrap="square" lIns="0" tIns="0" rIns="0" bIns="0" rtlCol="0" anchor="ctr">
            <a:normAutofit/>
          </a:bodyPr>
          <a:lstStyle/>
          <a:p>
            <a:pPr indent="0" marL="0">
              <a:buNone/>
            </a:pPr>
            <a:r>
              <a:rPr lang="en-US" sz="1000" dirty="0">
                <a:solidFill>
                  <a:srgbClr val="5E708F"/>
                </a:solidFill>
                <a:latin typeface="Arial" pitchFamily="34" charset="0"/>
                <a:ea typeface="Arial" pitchFamily="34" charset="-122"/>
                <a:cs typeface="Arial" pitchFamily="34" charset="-120"/>
              </a:rPr>
              <a:t>Sensitivity sets the threshold; α = 0.35 smooths short sensor noise.</a:t>
            </a:r>
            <a:endParaRPr lang="en-US" sz="1000" dirty="0"/>
          </a:p>
        </p:txBody>
      </p:sp>
      <p:sp>
        <p:nvSpPr>
          <p:cNvPr id="25" name="Slide Number Placeholder 0"/>
          <p:cNvSpPr>
            <a:spLocks noGrp="1"/>
          </p:cNvSpPr>
          <p:nvPr>
            <p:ph type="sldNum" sz="quarter" idx="4294967295"/>
          </p:nvPr>
        </p:nvSpPr>
        <p:spPr>
          <a:xfrm>
            <a:off x="11384280" y="6446520"/>
            <a:ext cx="320040" cy="164592"/>
          </a:xfrm>
          <a:prstGeom prst="rect">
            <a:avLst/>
          </a:prstGeom>
          <a:extLst>
            <a:ext uri="{C572A759-6A51-4108-AA02-DFA0A04FC94B}">
              <ma14:wrappingTextBoxFlag xmlns:ma14="http://schemas.microsoft.com/office/mac/drawingml/2011/main" val="0"/>
            </a:ext>
          </a:extLst>
        </p:spPr>
        <p:txBody>
          <a:bodyPr/>
          <a:lstStyle>
            <a:lvl1pPr>
              <a:defRPr sz="800">
                <a:solidFill>
                  <a:srgbClr val="71819C"/>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02920" y="384048"/>
            <a:ext cx="384048" cy="274320"/>
          </a:xfrm>
          <a:prstGeom prst="rect">
            <a:avLst/>
          </a:prstGeom>
          <a:noFill/>
          <a:ln/>
        </p:spPr>
        <p:txBody>
          <a:bodyPr wrap="square" lIns="0" tIns="0" rIns="0" bIns="0" rtlCol="0" anchor="ctr">
            <a:normAutofit/>
          </a:bodyPr>
          <a:lstStyle/>
          <a:p>
            <a:pPr indent="0" marL="0">
              <a:buNone/>
            </a:pPr>
            <a:r>
              <a:rPr lang="en-US" sz="1000" b="1" spc="120" kern="0" dirty="0">
                <a:solidFill>
                  <a:srgbClr val="426EDC"/>
                </a:solidFill>
                <a:latin typeface="Arial" pitchFamily="34" charset="0"/>
                <a:ea typeface="Arial" pitchFamily="34" charset="-122"/>
                <a:cs typeface="Arial" pitchFamily="34" charset="-120"/>
              </a:rPr>
              <a:t>07</a:t>
            </a:r>
            <a:endParaRPr lang="en-US" sz="1000" dirty="0"/>
          </a:p>
        </p:txBody>
      </p:sp>
      <p:sp>
        <p:nvSpPr>
          <p:cNvPr id="3" name="Shape 1"/>
          <p:cNvSpPr/>
          <p:nvPr/>
        </p:nvSpPr>
        <p:spPr>
          <a:xfrm>
            <a:off x="896112" y="521208"/>
            <a:ext cx="502920" cy="0"/>
          </a:xfrm>
          <a:prstGeom prst="line">
            <a:avLst/>
          </a:prstGeom>
          <a:noFill/>
          <a:ln w="12700">
            <a:solidFill>
              <a:srgbClr val="C9D5E5"/>
            </a:solidFill>
            <a:prstDash val="solid"/>
            <a:headEnd type="none"/>
            <a:tailEnd type="none"/>
          </a:ln>
        </p:spPr>
      </p:sp>
      <p:sp>
        <p:nvSpPr>
          <p:cNvPr id="4" name="Text 2"/>
          <p:cNvSpPr/>
          <p:nvPr/>
        </p:nvSpPr>
        <p:spPr>
          <a:xfrm>
            <a:off x="1527048" y="365760"/>
            <a:ext cx="3291840" cy="292608"/>
          </a:xfrm>
          <a:prstGeom prst="rect">
            <a:avLst/>
          </a:prstGeom>
          <a:noFill/>
          <a:ln/>
        </p:spPr>
        <p:txBody>
          <a:bodyPr wrap="square" lIns="0" tIns="0" rIns="0" bIns="0" rtlCol="0" anchor="ctr">
            <a:normAutofit/>
          </a:bodyPr>
          <a:lstStyle/>
          <a:p>
            <a:pPr indent="0" marL="0">
              <a:buNone/>
            </a:pPr>
            <a:r>
              <a:rPr lang="en-US" sz="900" b="1" spc="150" kern="0" dirty="0">
                <a:solidFill>
                  <a:srgbClr val="426EDC"/>
                </a:solidFill>
                <a:latin typeface="Arial" pitchFamily="34" charset="0"/>
                <a:ea typeface="Arial" pitchFamily="34" charset="-122"/>
                <a:cs typeface="Arial" pitchFamily="34" charset="-120"/>
              </a:rPr>
              <a:t>OPERATOR EXPERIENCE</a:t>
            </a:r>
            <a:endParaRPr lang="en-US" sz="900" dirty="0"/>
          </a:p>
        </p:txBody>
      </p:sp>
      <p:sp>
        <p:nvSpPr>
          <p:cNvPr id="5" name="Text 3"/>
          <p:cNvSpPr/>
          <p:nvPr/>
        </p:nvSpPr>
        <p:spPr>
          <a:xfrm>
            <a:off x="502920" y="804672"/>
            <a:ext cx="11064240" cy="502920"/>
          </a:xfrm>
          <a:prstGeom prst="rect">
            <a:avLst/>
          </a:prstGeom>
          <a:noFill/>
          <a:ln/>
        </p:spPr>
        <p:txBody>
          <a:bodyPr wrap="square" lIns="0" tIns="0" rIns="0" bIns="0" rtlCol="0" anchor="ctr">
            <a:normAutofit/>
          </a:bodyPr>
          <a:lstStyle/>
          <a:p>
            <a:pPr indent="0" marL="0">
              <a:buNone/>
            </a:pPr>
            <a:r>
              <a:rPr lang="en-US" sz="2700" b="1" dirty="0">
                <a:solidFill>
                  <a:srgbClr val="14213D"/>
                </a:solidFill>
                <a:latin typeface="Arial" pitchFamily="34" charset="0"/>
                <a:ea typeface="Arial" pitchFamily="34" charset="-122"/>
                <a:cs typeface="Arial" pitchFamily="34" charset="-120"/>
              </a:rPr>
              <a:t>A professional real-time security console</a:t>
            </a:r>
            <a:endParaRPr lang="en-US" sz="2700" dirty="0"/>
          </a:p>
        </p:txBody>
      </p:sp>
      <p:sp>
        <p:nvSpPr>
          <p:cNvPr id="6" name="Text 4"/>
          <p:cNvSpPr/>
          <p:nvPr/>
        </p:nvSpPr>
        <p:spPr>
          <a:xfrm>
            <a:off x="502920" y="1353312"/>
            <a:ext cx="10881360" cy="365760"/>
          </a:xfrm>
          <a:prstGeom prst="rect">
            <a:avLst/>
          </a:prstGeom>
          <a:noFill/>
          <a:ln/>
        </p:spPr>
        <p:txBody>
          <a:bodyPr wrap="square" lIns="0" tIns="0" rIns="0" bIns="0" rtlCol="0" anchor="ctr">
            <a:normAutofit/>
          </a:bodyPr>
          <a:lstStyle/>
          <a:p>
            <a:pPr indent="0" marL="0">
              <a:buNone/>
            </a:pPr>
            <a:r>
              <a:rPr lang="en-US" sz="1150" dirty="0">
                <a:solidFill>
                  <a:srgbClr val="5E708F"/>
                </a:solidFill>
                <a:latin typeface="Arial" pitchFamily="34" charset="0"/>
                <a:ea typeface="Arial" pitchFamily="34" charset="-122"/>
                <a:cs typeface="Arial" pitchFamily="34" charset="-120"/>
              </a:rPr>
              <a:t>The interface turns low-level sensor data into one clear operational view.</a:t>
            </a:r>
            <a:endParaRPr lang="en-US" sz="1150" dirty="0"/>
          </a:p>
        </p:txBody>
      </p:sp>
      <p:sp>
        <p:nvSpPr>
          <p:cNvPr id="7" name="Text 5"/>
          <p:cNvSpPr/>
          <p:nvPr/>
        </p:nvSpPr>
        <p:spPr>
          <a:xfrm>
            <a:off x="502920" y="6446520"/>
            <a:ext cx="2011680" cy="164592"/>
          </a:xfrm>
          <a:prstGeom prst="rect">
            <a:avLst/>
          </a:prstGeom>
          <a:noFill/>
          <a:ln/>
        </p:spPr>
        <p:txBody>
          <a:bodyPr wrap="square" lIns="0" tIns="0" rIns="0" bIns="0" rtlCol="0" anchor="ctr">
            <a:normAutofit/>
          </a:bodyPr>
          <a:lstStyle/>
          <a:p>
            <a:pPr indent="0" marL="0">
              <a:buNone/>
            </a:pPr>
            <a:r>
              <a:rPr lang="en-US" sz="800" b="1" dirty="0">
                <a:solidFill>
                  <a:srgbClr val="71819C"/>
                </a:solidFill>
                <a:latin typeface="Arial" pitchFamily="34" charset="0"/>
                <a:ea typeface="Arial" pitchFamily="34" charset="-122"/>
                <a:cs typeface="Arial" pitchFamily="34" charset="-120"/>
              </a:rPr>
              <a:t>FailureAntyTheft</a:t>
            </a:r>
            <a:endParaRPr lang="en-US" sz="800" dirty="0"/>
          </a:p>
        </p:txBody>
      </p:sp>
      <p:sp>
        <p:nvSpPr>
          <p:cNvPr id="8" name="Shape 6"/>
          <p:cNvSpPr/>
          <p:nvPr/>
        </p:nvSpPr>
        <p:spPr>
          <a:xfrm>
            <a:off x="502920" y="1856232"/>
            <a:ext cx="7772400" cy="4315968"/>
          </a:xfrm>
          <a:prstGeom prst="roundRect">
            <a:avLst>
              <a:gd name="adj" fmla="val 1695"/>
            </a:avLst>
          </a:prstGeom>
          <a:solidFill>
            <a:srgbClr val="DDE5F0"/>
          </a:solidFill>
          <a:ln w="12700">
            <a:solidFill>
              <a:srgbClr val="C9D5E5"/>
            </a:solidFill>
            <a:prstDash val="solid"/>
          </a:ln>
          <a:effectLst>
            <a:outerShdw sx="100000" sy="100000" kx="0" ky="0" algn="bl" rotWithShape="0" blurRad="3.5210699032441527e+49" dist="7.042139806488305e+49" dir="9.795520512000002e+58">
              <a:srgbClr val="000000">
                <a:alpha val="1.2e+59"/>
              </a:srgbClr>
            </a:outerShdw>
          </a:effectLst>
        </p:spPr>
      </p:sp>
      <p:pic>
        <p:nvPicPr>
          <p:cNvPr id="9" name="Image 0" descr="/home/mahmud-saikat/Class Contents/Nasir Sir/FailureAntyTheft/presentation/assets/dashboard-top.png">    </p:cNvPr>
          <p:cNvPicPr>
            <a:picLocks noChangeAspect="1"/>
          </p:cNvPicPr>
          <p:nvPr/>
        </p:nvPicPr>
        <p:blipFill>
          <a:blip r:embed="rId1"/>
          <a:stretch>
            <a:fillRect/>
          </a:stretch>
        </p:blipFill>
        <p:spPr>
          <a:xfrm>
            <a:off x="621792" y="1975104"/>
            <a:ext cx="7534656" cy="4078224"/>
          </a:xfrm>
          <a:prstGeom prst="rect">
            <a:avLst/>
          </a:prstGeom>
        </p:spPr>
      </p:pic>
      <p:sp>
        <p:nvSpPr>
          <p:cNvPr id="10" name="Shape 7"/>
          <p:cNvSpPr/>
          <p:nvPr/>
        </p:nvSpPr>
        <p:spPr>
          <a:xfrm>
            <a:off x="722376" y="5760720"/>
            <a:ext cx="1673352" cy="228600"/>
          </a:xfrm>
          <a:prstGeom prst="roundRect">
            <a:avLst>
              <a:gd name="adj" fmla="val 32000"/>
            </a:avLst>
          </a:prstGeom>
          <a:solidFill>
            <a:srgbClr val="0B1424"/>
          </a:solidFill>
          <a:ln w="12700">
            <a:solidFill>
              <a:srgbClr val="C9D5E5"/>
            </a:solidFill>
            <a:prstDash val="solid"/>
          </a:ln>
        </p:spPr>
      </p:sp>
      <p:sp>
        <p:nvSpPr>
          <p:cNvPr id="11" name="Text 8"/>
          <p:cNvSpPr/>
          <p:nvPr/>
        </p:nvSpPr>
        <p:spPr>
          <a:xfrm>
            <a:off x="813816" y="5788152"/>
            <a:ext cx="1490472" cy="164592"/>
          </a:xfrm>
          <a:prstGeom prst="rect">
            <a:avLst/>
          </a:prstGeom>
          <a:noFill/>
          <a:ln/>
        </p:spPr>
        <p:txBody>
          <a:bodyPr wrap="square" lIns="0" tIns="0" rIns="0" bIns="0" rtlCol="0" anchor="ctr">
            <a:normAutofit/>
          </a:bodyPr>
          <a:lstStyle/>
          <a:p>
            <a:pPr algn="ctr" indent="0" marL="0">
              <a:buNone/>
            </a:pPr>
            <a:r>
              <a:rPr lang="en-US" sz="680" b="1" spc="80" kern="0" dirty="0">
                <a:solidFill>
                  <a:srgbClr val="426EDC"/>
                </a:solidFill>
                <a:latin typeface="Arial" pitchFamily="34" charset="0"/>
                <a:ea typeface="Arial" pitchFamily="34" charset="-122"/>
                <a:cs typeface="Arial" pitchFamily="34" charset="-120"/>
              </a:rPr>
              <a:t>LIVE DASHBOARD CAPTURE</a:t>
            </a:r>
            <a:endParaRPr lang="en-US" sz="680" dirty="0"/>
          </a:p>
        </p:txBody>
      </p:sp>
      <p:sp>
        <p:nvSpPr>
          <p:cNvPr id="12" name="Text 9"/>
          <p:cNvSpPr/>
          <p:nvPr/>
        </p:nvSpPr>
        <p:spPr>
          <a:xfrm>
            <a:off x="8668512" y="1938528"/>
            <a:ext cx="2834640" cy="347472"/>
          </a:xfrm>
          <a:prstGeom prst="rect">
            <a:avLst/>
          </a:prstGeom>
          <a:noFill/>
          <a:ln/>
        </p:spPr>
        <p:txBody>
          <a:bodyPr wrap="square" lIns="0" tIns="0" rIns="0" bIns="0" rtlCol="0" anchor="ctr">
            <a:normAutofit/>
          </a:bodyPr>
          <a:lstStyle/>
          <a:p>
            <a:pPr indent="0" marL="0">
              <a:buNone/>
            </a:pPr>
            <a:r>
              <a:rPr lang="en-US" sz="1800" b="1" dirty="0">
                <a:solidFill>
                  <a:srgbClr val="14213D"/>
                </a:solidFill>
                <a:latin typeface="Arial" pitchFamily="34" charset="0"/>
                <a:ea typeface="Arial" pitchFamily="34" charset="-122"/>
                <a:cs typeface="Arial" pitchFamily="34" charset="-120"/>
              </a:rPr>
              <a:t>Designed for fast decisions</a:t>
            </a:r>
            <a:endParaRPr lang="en-US" sz="1800" dirty="0"/>
          </a:p>
        </p:txBody>
      </p:sp>
      <p:sp>
        <p:nvSpPr>
          <p:cNvPr id="13" name="Shape 10"/>
          <p:cNvSpPr/>
          <p:nvPr/>
        </p:nvSpPr>
        <p:spPr>
          <a:xfrm>
            <a:off x="8686800" y="2633472"/>
            <a:ext cx="137160" cy="137160"/>
          </a:xfrm>
          <a:prstGeom prst="ellipse">
            <a:avLst/>
          </a:prstGeom>
          <a:solidFill>
            <a:srgbClr val="426EDC"/>
          </a:solidFill>
          <a:ln w="12700">
            <a:solidFill>
              <a:srgbClr val="426EDC"/>
            </a:solidFill>
            <a:prstDash val="solid"/>
          </a:ln>
        </p:spPr>
      </p:sp>
      <p:sp>
        <p:nvSpPr>
          <p:cNvPr id="14" name="Text 11"/>
          <p:cNvSpPr/>
          <p:nvPr/>
        </p:nvSpPr>
        <p:spPr>
          <a:xfrm>
            <a:off x="8942832" y="2505456"/>
            <a:ext cx="2487168" cy="237744"/>
          </a:xfrm>
          <a:prstGeom prst="rect">
            <a:avLst/>
          </a:prstGeom>
          <a:noFill/>
          <a:ln/>
        </p:spPr>
        <p:txBody>
          <a:bodyPr wrap="square" lIns="0" tIns="0" rIns="0" bIns="0" rtlCol="0" anchor="ctr">
            <a:normAutofit/>
          </a:bodyPr>
          <a:lstStyle/>
          <a:p>
            <a:pPr indent="0" marL="0">
              <a:buNone/>
            </a:pPr>
            <a:r>
              <a:rPr lang="en-US" sz="1150" b="1" dirty="0">
                <a:solidFill>
                  <a:srgbClr val="14213D"/>
                </a:solidFill>
                <a:latin typeface="Arial" pitchFamily="34" charset="0"/>
                <a:ea typeface="Arial" pitchFamily="34" charset="-122"/>
                <a:cs typeface="Arial" pitchFamily="34" charset="-120"/>
              </a:rPr>
              <a:t>At-a-glance health</a:t>
            </a:r>
            <a:endParaRPr lang="en-US" sz="1150" dirty="0"/>
          </a:p>
        </p:txBody>
      </p:sp>
      <p:sp>
        <p:nvSpPr>
          <p:cNvPr id="15" name="Text 12"/>
          <p:cNvSpPr/>
          <p:nvPr/>
        </p:nvSpPr>
        <p:spPr>
          <a:xfrm>
            <a:off x="8942832" y="2752344"/>
            <a:ext cx="2487168" cy="420624"/>
          </a:xfrm>
          <a:prstGeom prst="rect">
            <a:avLst/>
          </a:prstGeom>
          <a:noFill/>
          <a:ln/>
        </p:spPr>
        <p:txBody>
          <a:bodyPr wrap="square" lIns="0" tIns="0" rIns="0" bIns="0" rtlCol="0" anchor="t">
            <a:normAutofit/>
          </a:bodyPr>
          <a:lstStyle/>
          <a:p>
            <a:pPr indent="0" marL="0">
              <a:buNone/>
            </a:pPr>
            <a:r>
              <a:rPr lang="en-US" sz="870" dirty="0">
                <a:solidFill>
                  <a:srgbClr val="5E708F"/>
                </a:solidFill>
                <a:latin typeface="Arial" pitchFamily="34" charset="0"/>
                <a:ea typeface="Arial" pitchFamily="34" charset="-122"/>
                <a:cs typeface="Arial" pitchFamily="34" charset="-120"/>
              </a:rPr>
              <a:t>Online, armed and active-alert counts.</a:t>
            </a:r>
            <a:endParaRPr lang="en-US" sz="870" dirty="0"/>
          </a:p>
        </p:txBody>
      </p:sp>
      <p:sp>
        <p:nvSpPr>
          <p:cNvPr id="16" name="Shape 13"/>
          <p:cNvSpPr/>
          <p:nvPr/>
        </p:nvSpPr>
        <p:spPr>
          <a:xfrm>
            <a:off x="8686800" y="3310128"/>
            <a:ext cx="137160" cy="137160"/>
          </a:xfrm>
          <a:prstGeom prst="ellipse">
            <a:avLst/>
          </a:prstGeom>
          <a:solidFill>
            <a:srgbClr val="426EDC"/>
          </a:solidFill>
          <a:ln w="12700">
            <a:solidFill>
              <a:srgbClr val="426EDC"/>
            </a:solidFill>
            <a:prstDash val="solid"/>
          </a:ln>
        </p:spPr>
      </p:sp>
      <p:sp>
        <p:nvSpPr>
          <p:cNvPr id="17" name="Text 14"/>
          <p:cNvSpPr/>
          <p:nvPr/>
        </p:nvSpPr>
        <p:spPr>
          <a:xfrm>
            <a:off x="8942832" y="3182112"/>
            <a:ext cx="2487168" cy="237744"/>
          </a:xfrm>
          <a:prstGeom prst="rect">
            <a:avLst/>
          </a:prstGeom>
          <a:noFill/>
          <a:ln/>
        </p:spPr>
        <p:txBody>
          <a:bodyPr wrap="square" lIns="0" tIns="0" rIns="0" bIns="0" rtlCol="0" anchor="ctr">
            <a:normAutofit/>
          </a:bodyPr>
          <a:lstStyle/>
          <a:p>
            <a:pPr indent="0" marL="0">
              <a:buNone/>
            </a:pPr>
            <a:r>
              <a:rPr lang="en-US" sz="1150" b="1" dirty="0">
                <a:solidFill>
                  <a:srgbClr val="14213D"/>
                </a:solidFill>
                <a:latin typeface="Arial" pitchFamily="34" charset="0"/>
                <a:ea typeface="Arial" pitchFamily="34" charset="-122"/>
                <a:cs typeface="Arial" pitchFamily="34" charset="-120"/>
              </a:rPr>
              <a:t>Independent sensors</a:t>
            </a:r>
            <a:endParaRPr lang="en-US" sz="1150" dirty="0"/>
          </a:p>
        </p:txBody>
      </p:sp>
      <p:sp>
        <p:nvSpPr>
          <p:cNvPr id="18" name="Text 15"/>
          <p:cNvSpPr/>
          <p:nvPr/>
        </p:nvSpPr>
        <p:spPr>
          <a:xfrm>
            <a:off x="8942832" y="3429000"/>
            <a:ext cx="2487168" cy="420624"/>
          </a:xfrm>
          <a:prstGeom prst="rect">
            <a:avLst/>
          </a:prstGeom>
          <a:noFill/>
          <a:ln/>
        </p:spPr>
        <p:txBody>
          <a:bodyPr wrap="square" lIns="0" tIns="0" rIns="0" bIns="0" rtlCol="0" anchor="t">
            <a:normAutofit/>
          </a:bodyPr>
          <a:lstStyle/>
          <a:p>
            <a:pPr indent="0" marL="0">
              <a:buNone/>
            </a:pPr>
            <a:r>
              <a:rPr lang="en-US" sz="870" dirty="0">
                <a:solidFill>
                  <a:srgbClr val="5E708F"/>
                </a:solidFill>
                <a:latin typeface="Arial" pitchFamily="34" charset="0"/>
                <a:ea typeface="Arial" pitchFamily="34" charset="-122"/>
                <a:cs typeface="Arial" pitchFamily="34" charset="-120"/>
              </a:rPr>
              <a:t>Arm, disarm, edit and monitor each phone.</a:t>
            </a:r>
            <a:endParaRPr lang="en-US" sz="870" dirty="0"/>
          </a:p>
        </p:txBody>
      </p:sp>
      <p:sp>
        <p:nvSpPr>
          <p:cNvPr id="19" name="Shape 16"/>
          <p:cNvSpPr/>
          <p:nvPr/>
        </p:nvSpPr>
        <p:spPr>
          <a:xfrm>
            <a:off x="8686800" y="3986784"/>
            <a:ext cx="137160" cy="137160"/>
          </a:xfrm>
          <a:prstGeom prst="ellipse">
            <a:avLst/>
          </a:prstGeom>
          <a:solidFill>
            <a:srgbClr val="426EDC"/>
          </a:solidFill>
          <a:ln w="12700">
            <a:solidFill>
              <a:srgbClr val="426EDC"/>
            </a:solidFill>
            <a:prstDash val="solid"/>
          </a:ln>
        </p:spPr>
      </p:sp>
      <p:sp>
        <p:nvSpPr>
          <p:cNvPr id="20" name="Text 17"/>
          <p:cNvSpPr/>
          <p:nvPr/>
        </p:nvSpPr>
        <p:spPr>
          <a:xfrm>
            <a:off x="8942832" y="3858768"/>
            <a:ext cx="2487168" cy="237744"/>
          </a:xfrm>
          <a:prstGeom prst="rect">
            <a:avLst/>
          </a:prstGeom>
          <a:noFill/>
          <a:ln/>
        </p:spPr>
        <p:txBody>
          <a:bodyPr wrap="square" lIns="0" tIns="0" rIns="0" bIns="0" rtlCol="0" anchor="ctr">
            <a:normAutofit/>
          </a:bodyPr>
          <a:lstStyle/>
          <a:p>
            <a:pPr indent="0" marL="0">
              <a:buNone/>
            </a:pPr>
            <a:r>
              <a:rPr lang="en-US" sz="1150" b="1" dirty="0">
                <a:solidFill>
                  <a:srgbClr val="14213D"/>
                </a:solidFill>
                <a:latin typeface="Arial" pitchFamily="34" charset="0"/>
                <a:ea typeface="Arial" pitchFamily="34" charset="-122"/>
                <a:cs typeface="Arial" pitchFamily="34" charset="-120"/>
              </a:rPr>
              <a:t>Live WebSocket chart</a:t>
            </a:r>
            <a:endParaRPr lang="en-US" sz="1150" dirty="0"/>
          </a:p>
        </p:txBody>
      </p:sp>
      <p:sp>
        <p:nvSpPr>
          <p:cNvPr id="21" name="Text 18"/>
          <p:cNvSpPr/>
          <p:nvPr/>
        </p:nvSpPr>
        <p:spPr>
          <a:xfrm>
            <a:off x="8942832" y="4105656"/>
            <a:ext cx="2487168" cy="420624"/>
          </a:xfrm>
          <a:prstGeom prst="rect">
            <a:avLst/>
          </a:prstGeom>
          <a:noFill/>
          <a:ln/>
        </p:spPr>
        <p:txBody>
          <a:bodyPr wrap="square" lIns="0" tIns="0" rIns="0" bIns="0" rtlCol="0" anchor="t">
            <a:normAutofit/>
          </a:bodyPr>
          <a:lstStyle/>
          <a:p>
            <a:pPr indent="0" marL="0">
              <a:buNone/>
            </a:pPr>
            <a:r>
              <a:rPr lang="en-US" sz="870" dirty="0">
                <a:solidFill>
                  <a:srgbClr val="5E708F"/>
                </a:solidFill>
                <a:latin typeface="Arial" pitchFamily="34" charset="0"/>
                <a:ea typeface="Arial" pitchFamily="34" charset="-122"/>
                <a:cs typeface="Arial" pitchFamily="34" charset="-120"/>
              </a:rPr>
              <a:t>Selected-device motion score without raw-data overload.</a:t>
            </a:r>
            <a:endParaRPr lang="en-US" sz="870" dirty="0"/>
          </a:p>
        </p:txBody>
      </p:sp>
      <p:sp>
        <p:nvSpPr>
          <p:cNvPr id="22" name="Shape 19"/>
          <p:cNvSpPr/>
          <p:nvPr/>
        </p:nvSpPr>
        <p:spPr>
          <a:xfrm>
            <a:off x="8686800" y="4663440"/>
            <a:ext cx="137160" cy="137160"/>
          </a:xfrm>
          <a:prstGeom prst="ellipse">
            <a:avLst/>
          </a:prstGeom>
          <a:solidFill>
            <a:srgbClr val="426EDC"/>
          </a:solidFill>
          <a:ln w="12700">
            <a:solidFill>
              <a:srgbClr val="426EDC"/>
            </a:solidFill>
            <a:prstDash val="solid"/>
          </a:ln>
        </p:spPr>
      </p:sp>
      <p:sp>
        <p:nvSpPr>
          <p:cNvPr id="23" name="Text 20"/>
          <p:cNvSpPr/>
          <p:nvPr/>
        </p:nvSpPr>
        <p:spPr>
          <a:xfrm>
            <a:off x="8942832" y="4535424"/>
            <a:ext cx="2487168" cy="237744"/>
          </a:xfrm>
          <a:prstGeom prst="rect">
            <a:avLst/>
          </a:prstGeom>
          <a:noFill/>
          <a:ln/>
        </p:spPr>
        <p:txBody>
          <a:bodyPr wrap="square" lIns="0" tIns="0" rIns="0" bIns="0" rtlCol="0" anchor="ctr">
            <a:normAutofit/>
          </a:bodyPr>
          <a:lstStyle/>
          <a:p>
            <a:pPr indent="0" marL="0">
              <a:buNone/>
            </a:pPr>
            <a:r>
              <a:rPr lang="en-US" sz="1150" b="1" dirty="0">
                <a:solidFill>
                  <a:srgbClr val="14213D"/>
                </a:solidFill>
                <a:latin typeface="Arial" pitchFamily="34" charset="0"/>
                <a:ea typeface="Arial" pitchFamily="34" charset="-122"/>
                <a:cs typeface="Arial" pitchFamily="34" charset="-120"/>
              </a:rPr>
              <a:t>Actionable alarm</a:t>
            </a:r>
            <a:endParaRPr lang="en-US" sz="1150" dirty="0"/>
          </a:p>
        </p:txBody>
      </p:sp>
      <p:sp>
        <p:nvSpPr>
          <p:cNvPr id="24" name="Text 21"/>
          <p:cNvSpPr/>
          <p:nvPr/>
        </p:nvSpPr>
        <p:spPr>
          <a:xfrm>
            <a:off x="8942832" y="4782312"/>
            <a:ext cx="2487168" cy="420624"/>
          </a:xfrm>
          <a:prstGeom prst="rect">
            <a:avLst/>
          </a:prstGeom>
          <a:noFill/>
          <a:ln/>
        </p:spPr>
        <p:txBody>
          <a:bodyPr wrap="square" lIns="0" tIns="0" rIns="0" bIns="0" rtlCol="0" anchor="t">
            <a:normAutofit/>
          </a:bodyPr>
          <a:lstStyle/>
          <a:p>
            <a:pPr indent="0" marL="0">
              <a:buNone/>
            </a:pPr>
            <a:r>
              <a:rPr lang="en-US" sz="870" dirty="0">
                <a:solidFill>
                  <a:srgbClr val="5E708F"/>
                </a:solidFill>
                <a:latin typeface="Arial" pitchFamily="34" charset="0"/>
                <a:ea typeface="Arial" pitchFamily="34" charset="-122"/>
                <a:cs typeface="Arial" pitchFamily="34" charset="-120"/>
              </a:rPr>
              <a:t>Visual banner, repeating siren and acknowledge workflow.</a:t>
            </a:r>
            <a:endParaRPr lang="en-US" sz="870" dirty="0"/>
          </a:p>
        </p:txBody>
      </p:sp>
      <p:sp>
        <p:nvSpPr>
          <p:cNvPr id="25" name="Shape 22"/>
          <p:cNvSpPr/>
          <p:nvPr/>
        </p:nvSpPr>
        <p:spPr>
          <a:xfrm>
            <a:off x="8686800" y="5340096"/>
            <a:ext cx="137160" cy="137160"/>
          </a:xfrm>
          <a:prstGeom prst="ellipse">
            <a:avLst/>
          </a:prstGeom>
          <a:solidFill>
            <a:srgbClr val="426EDC"/>
          </a:solidFill>
          <a:ln w="12700">
            <a:solidFill>
              <a:srgbClr val="426EDC"/>
            </a:solidFill>
            <a:prstDash val="solid"/>
          </a:ln>
        </p:spPr>
      </p:sp>
      <p:sp>
        <p:nvSpPr>
          <p:cNvPr id="26" name="Text 23"/>
          <p:cNvSpPr/>
          <p:nvPr/>
        </p:nvSpPr>
        <p:spPr>
          <a:xfrm>
            <a:off x="8942832" y="5212080"/>
            <a:ext cx="2487168" cy="237744"/>
          </a:xfrm>
          <a:prstGeom prst="rect">
            <a:avLst/>
          </a:prstGeom>
          <a:noFill/>
          <a:ln/>
        </p:spPr>
        <p:txBody>
          <a:bodyPr wrap="square" lIns="0" tIns="0" rIns="0" bIns="0" rtlCol="0" anchor="ctr">
            <a:normAutofit/>
          </a:bodyPr>
          <a:lstStyle/>
          <a:p>
            <a:pPr indent="0" marL="0">
              <a:buNone/>
            </a:pPr>
            <a:r>
              <a:rPr lang="en-US" sz="1150" b="1" dirty="0">
                <a:solidFill>
                  <a:srgbClr val="14213D"/>
                </a:solidFill>
                <a:latin typeface="Arial" pitchFamily="34" charset="0"/>
                <a:ea typeface="Arial" pitchFamily="34" charset="-122"/>
                <a:cs typeface="Arial" pitchFamily="34" charset="-120"/>
              </a:rPr>
              <a:t>Auditable history</a:t>
            </a:r>
            <a:endParaRPr lang="en-US" sz="1150" dirty="0"/>
          </a:p>
        </p:txBody>
      </p:sp>
      <p:sp>
        <p:nvSpPr>
          <p:cNvPr id="27" name="Text 24"/>
          <p:cNvSpPr/>
          <p:nvPr/>
        </p:nvSpPr>
        <p:spPr>
          <a:xfrm>
            <a:off x="8942832" y="5458968"/>
            <a:ext cx="2487168" cy="420624"/>
          </a:xfrm>
          <a:prstGeom prst="rect">
            <a:avLst/>
          </a:prstGeom>
          <a:noFill/>
          <a:ln/>
        </p:spPr>
        <p:txBody>
          <a:bodyPr wrap="square" lIns="0" tIns="0" rIns="0" bIns="0" rtlCol="0" anchor="t">
            <a:normAutofit/>
          </a:bodyPr>
          <a:lstStyle/>
          <a:p>
            <a:pPr indent="0" marL="0">
              <a:buNone/>
            </a:pPr>
            <a:r>
              <a:rPr lang="en-US" sz="870" dirty="0">
                <a:solidFill>
                  <a:srgbClr val="5E708F"/>
                </a:solidFill>
                <a:latin typeface="Arial" pitchFamily="34" charset="0"/>
                <a:ea typeface="Arial" pitchFamily="34" charset="-122"/>
                <a:cs typeface="Arial" pitchFamily="34" charset="-120"/>
              </a:rPr>
              <a:t>Persistent events with CSV export.</a:t>
            </a:r>
            <a:endParaRPr lang="en-US" sz="870" dirty="0"/>
          </a:p>
        </p:txBody>
      </p:sp>
      <p:sp>
        <p:nvSpPr>
          <p:cNvPr id="25" name="Slide Number Placeholder 0"/>
          <p:cNvSpPr>
            <a:spLocks noGrp="1"/>
          </p:cNvSpPr>
          <p:nvPr>
            <p:ph type="sldNum" sz="quarter" idx="4294967295"/>
          </p:nvPr>
        </p:nvSpPr>
        <p:spPr>
          <a:xfrm>
            <a:off x="11384280" y="6446520"/>
            <a:ext cx="320040" cy="164592"/>
          </a:xfrm>
          <a:prstGeom prst="rect">
            <a:avLst/>
          </a:prstGeom>
          <a:extLst>
            <a:ext uri="{C572A759-6A51-4108-AA02-DFA0A04FC94B}">
              <ma14:wrappingTextBoxFlag xmlns:ma14="http://schemas.microsoft.com/office/mac/drawingml/2011/main" val="0"/>
            </a:ext>
          </a:extLst>
        </p:spPr>
        <p:txBody>
          <a:bodyPr/>
          <a:lstStyle>
            <a:lvl1pPr>
              <a:defRPr sz="800">
                <a:solidFill>
                  <a:srgbClr val="71819C"/>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02920" y="384048"/>
            <a:ext cx="384048" cy="274320"/>
          </a:xfrm>
          <a:prstGeom prst="rect">
            <a:avLst/>
          </a:prstGeom>
          <a:noFill/>
          <a:ln/>
        </p:spPr>
        <p:txBody>
          <a:bodyPr wrap="square" lIns="0" tIns="0" rIns="0" bIns="0" rtlCol="0" anchor="ctr">
            <a:normAutofit/>
          </a:bodyPr>
          <a:lstStyle/>
          <a:p>
            <a:pPr indent="0" marL="0">
              <a:buNone/>
            </a:pPr>
            <a:r>
              <a:rPr lang="en-US" sz="1000" b="1" spc="120" kern="0" dirty="0">
                <a:solidFill>
                  <a:srgbClr val="426EDC"/>
                </a:solidFill>
                <a:latin typeface="Arial" pitchFamily="34" charset="0"/>
                <a:ea typeface="Arial" pitchFamily="34" charset="-122"/>
                <a:cs typeface="Arial" pitchFamily="34" charset="-120"/>
              </a:rPr>
              <a:t>08</a:t>
            </a:r>
            <a:endParaRPr lang="en-US" sz="1000" dirty="0"/>
          </a:p>
        </p:txBody>
      </p:sp>
      <p:sp>
        <p:nvSpPr>
          <p:cNvPr id="3" name="Shape 1"/>
          <p:cNvSpPr/>
          <p:nvPr/>
        </p:nvSpPr>
        <p:spPr>
          <a:xfrm>
            <a:off x="896112" y="521208"/>
            <a:ext cx="502920" cy="0"/>
          </a:xfrm>
          <a:prstGeom prst="line">
            <a:avLst/>
          </a:prstGeom>
          <a:noFill/>
          <a:ln w="12700">
            <a:solidFill>
              <a:srgbClr val="C9D5E5"/>
            </a:solidFill>
            <a:prstDash val="solid"/>
            <a:headEnd type="none"/>
            <a:tailEnd type="none"/>
          </a:ln>
        </p:spPr>
      </p:sp>
      <p:sp>
        <p:nvSpPr>
          <p:cNvPr id="4" name="Text 2"/>
          <p:cNvSpPr/>
          <p:nvPr/>
        </p:nvSpPr>
        <p:spPr>
          <a:xfrm>
            <a:off x="1527048" y="365760"/>
            <a:ext cx="3291840" cy="292608"/>
          </a:xfrm>
          <a:prstGeom prst="rect">
            <a:avLst/>
          </a:prstGeom>
          <a:noFill/>
          <a:ln/>
        </p:spPr>
        <p:txBody>
          <a:bodyPr wrap="square" lIns="0" tIns="0" rIns="0" bIns="0" rtlCol="0" anchor="ctr">
            <a:normAutofit/>
          </a:bodyPr>
          <a:lstStyle/>
          <a:p>
            <a:pPr indent="0" marL="0">
              <a:buNone/>
            </a:pPr>
            <a:r>
              <a:rPr lang="en-US" sz="900" b="1" spc="150" kern="0" dirty="0">
                <a:solidFill>
                  <a:srgbClr val="426EDC"/>
                </a:solidFill>
                <a:latin typeface="Arial" pitchFamily="34" charset="0"/>
                <a:ea typeface="Arial" pitchFamily="34" charset="-122"/>
                <a:cs typeface="Arial" pitchFamily="34" charset="-120"/>
              </a:rPr>
              <a:t>TECHNOLOGY STACK</a:t>
            </a:r>
            <a:endParaRPr lang="en-US" sz="900" dirty="0"/>
          </a:p>
        </p:txBody>
      </p:sp>
      <p:sp>
        <p:nvSpPr>
          <p:cNvPr id="5" name="Text 3"/>
          <p:cNvSpPr/>
          <p:nvPr/>
        </p:nvSpPr>
        <p:spPr>
          <a:xfrm>
            <a:off x="502920" y="804672"/>
            <a:ext cx="11064240" cy="502920"/>
          </a:xfrm>
          <a:prstGeom prst="rect">
            <a:avLst/>
          </a:prstGeom>
          <a:noFill/>
          <a:ln/>
        </p:spPr>
        <p:txBody>
          <a:bodyPr wrap="square" lIns="0" tIns="0" rIns="0" bIns="0" rtlCol="0" anchor="ctr">
            <a:normAutofit/>
          </a:bodyPr>
          <a:lstStyle/>
          <a:p>
            <a:pPr indent="0" marL="0">
              <a:buNone/>
            </a:pPr>
            <a:r>
              <a:rPr lang="en-US" sz="2700" b="1" dirty="0">
                <a:solidFill>
                  <a:srgbClr val="14213D"/>
                </a:solidFill>
                <a:latin typeface="Arial" pitchFamily="34" charset="0"/>
                <a:ea typeface="Arial" pitchFamily="34" charset="-122"/>
                <a:cs typeface="Arial" pitchFamily="34" charset="-120"/>
              </a:rPr>
              <a:t>Simple tools, clear responsibilities</a:t>
            </a:r>
            <a:endParaRPr lang="en-US" sz="2700" dirty="0"/>
          </a:p>
        </p:txBody>
      </p:sp>
      <p:sp>
        <p:nvSpPr>
          <p:cNvPr id="6" name="Text 4"/>
          <p:cNvSpPr/>
          <p:nvPr/>
        </p:nvSpPr>
        <p:spPr>
          <a:xfrm>
            <a:off x="502920" y="1353312"/>
            <a:ext cx="10881360" cy="365760"/>
          </a:xfrm>
          <a:prstGeom prst="rect">
            <a:avLst/>
          </a:prstGeom>
          <a:noFill/>
          <a:ln/>
        </p:spPr>
        <p:txBody>
          <a:bodyPr wrap="square" lIns="0" tIns="0" rIns="0" bIns="0" rtlCol="0" anchor="ctr">
            <a:normAutofit/>
          </a:bodyPr>
          <a:lstStyle/>
          <a:p>
            <a:pPr indent="0" marL="0">
              <a:buNone/>
            </a:pPr>
            <a:r>
              <a:rPr lang="en-US" sz="1150" dirty="0">
                <a:solidFill>
                  <a:srgbClr val="5E708F"/>
                </a:solidFill>
                <a:latin typeface="Arial" pitchFamily="34" charset="0"/>
                <a:ea typeface="Arial" pitchFamily="34" charset="-122"/>
                <a:cs typeface="Arial" pitchFamily="34" charset="-120"/>
              </a:rPr>
              <a:t>Each technology was selected for local reliability, testability and low operational cost.</a:t>
            </a:r>
            <a:endParaRPr lang="en-US" sz="1150" dirty="0"/>
          </a:p>
        </p:txBody>
      </p:sp>
      <p:sp>
        <p:nvSpPr>
          <p:cNvPr id="7" name="Text 5"/>
          <p:cNvSpPr/>
          <p:nvPr/>
        </p:nvSpPr>
        <p:spPr>
          <a:xfrm>
            <a:off x="502920" y="6446520"/>
            <a:ext cx="2011680" cy="164592"/>
          </a:xfrm>
          <a:prstGeom prst="rect">
            <a:avLst/>
          </a:prstGeom>
          <a:noFill/>
          <a:ln/>
        </p:spPr>
        <p:txBody>
          <a:bodyPr wrap="square" lIns="0" tIns="0" rIns="0" bIns="0" rtlCol="0" anchor="ctr">
            <a:normAutofit/>
          </a:bodyPr>
          <a:lstStyle/>
          <a:p>
            <a:pPr indent="0" marL="0">
              <a:buNone/>
            </a:pPr>
            <a:r>
              <a:rPr lang="en-US" sz="800" b="1" dirty="0">
                <a:solidFill>
                  <a:srgbClr val="71819C"/>
                </a:solidFill>
                <a:latin typeface="Arial" pitchFamily="34" charset="0"/>
                <a:ea typeface="Arial" pitchFamily="34" charset="-122"/>
                <a:cs typeface="Arial" pitchFamily="34" charset="-120"/>
              </a:rPr>
              <a:t>FailureAntyTheft</a:t>
            </a:r>
            <a:endParaRPr lang="en-US" sz="800" dirty="0"/>
          </a:p>
        </p:txBody>
      </p:sp>
      <p:sp>
        <p:nvSpPr>
          <p:cNvPr id="8" name="Shape 6"/>
          <p:cNvSpPr/>
          <p:nvPr/>
        </p:nvSpPr>
        <p:spPr>
          <a:xfrm>
            <a:off x="502920" y="1901952"/>
            <a:ext cx="5230368" cy="1033272"/>
          </a:xfrm>
          <a:prstGeom prst="roundRect">
            <a:avLst>
              <a:gd name="adj" fmla="val 7080"/>
            </a:avLst>
          </a:prstGeom>
          <a:solidFill>
            <a:srgbClr val="FFFFFF"/>
          </a:solidFill>
          <a:ln w="12700">
            <a:solidFill>
              <a:srgbClr val="C9D5E5"/>
            </a:solidFill>
            <a:prstDash val="solid"/>
          </a:ln>
          <a:effectLst>
            <a:outerShdw sx="100000" sy="100000" kx="0" ky="0" algn="bl" rotWithShape="0" blurRad="4.471758777120074e+53" dist="8.943517554240149e+53" dir="5.877312307200001e+63">
              <a:srgbClr val="000000">
                <a:alpha val="1.2000000000000001e+64"/>
              </a:srgbClr>
            </a:outerShdw>
          </a:effectLst>
        </p:spPr>
      </p:sp>
      <p:sp>
        <p:nvSpPr>
          <p:cNvPr id="9" name="Shape 7"/>
          <p:cNvSpPr/>
          <p:nvPr/>
        </p:nvSpPr>
        <p:spPr>
          <a:xfrm>
            <a:off x="731520" y="2139696"/>
            <a:ext cx="557784" cy="557784"/>
          </a:xfrm>
          <a:prstGeom prst="ellipse">
            <a:avLst/>
          </a:prstGeom>
          <a:solidFill>
            <a:srgbClr val="118AB2">
              <a:alpha val="18000"/>
            </a:srgbClr>
          </a:solidFill>
          <a:ln w="12700">
            <a:solidFill>
              <a:srgbClr val="118AB2">
                <a:alpha val="18000"/>
              </a:srgbClr>
            </a:solidFill>
            <a:prstDash val="solid"/>
          </a:ln>
        </p:spPr>
      </p:sp>
      <p:sp>
        <p:nvSpPr>
          <p:cNvPr id="10" name="Text 8"/>
          <p:cNvSpPr/>
          <p:nvPr/>
        </p:nvSpPr>
        <p:spPr>
          <a:xfrm>
            <a:off x="731520" y="2139696"/>
            <a:ext cx="557784" cy="557784"/>
          </a:xfrm>
          <a:prstGeom prst="rect">
            <a:avLst/>
          </a:prstGeom>
          <a:noFill/>
          <a:ln/>
        </p:spPr>
        <p:txBody>
          <a:bodyPr wrap="square" lIns="0" tIns="0" rIns="0" bIns="0" rtlCol="0" anchor="ctr">
            <a:normAutofit/>
          </a:bodyPr>
          <a:lstStyle/>
          <a:p>
            <a:pPr algn="ctr" indent="0" marL="0">
              <a:buNone/>
            </a:pPr>
            <a:r>
              <a:rPr lang="en-US" sz="1700" b="1" dirty="0">
                <a:solidFill>
                  <a:srgbClr val="118AB2"/>
                </a:solidFill>
                <a:latin typeface="Arial" pitchFamily="34" charset="0"/>
                <a:ea typeface="Arial" pitchFamily="34" charset="-122"/>
                <a:cs typeface="Arial" pitchFamily="34" charset="-120"/>
              </a:rPr>
              <a:t>P</a:t>
            </a:r>
            <a:endParaRPr lang="en-US" sz="1700" dirty="0"/>
          </a:p>
        </p:txBody>
      </p:sp>
      <p:sp>
        <p:nvSpPr>
          <p:cNvPr id="11" name="Text 9"/>
          <p:cNvSpPr/>
          <p:nvPr/>
        </p:nvSpPr>
        <p:spPr>
          <a:xfrm>
            <a:off x="1444752" y="2066544"/>
            <a:ext cx="1298448" cy="182880"/>
          </a:xfrm>
          <a:prstGeom prst="rect">
            <a:avLst/>
          </a:prstGeom>
          <a:noFill/>
          <a:ln/>
        </p:spPr>
        <p:txBody>
          <a:bodyPr wrap="square" lIns="0" tIns="0" rIns="0" bIns="0" rtlCol="0" anchor="ctr">
            <a:normAutofit/>
          </a:bodyPr>
          <a:lstStyle/>
          <a:p>
            <a:pPr indent="0" marL="0">
              <a:buNone/>
            </a:pPr>
            <a:r>
              <a:rPr lang="en-US" sz="750" b="1" spc="100" kern="0" dirty="0">
                <a:solidFill>
                  <a:srgbClr val="118AB2"/>
                </a:solidFill>
                <a:latin typeface="Arial" pitchFamily="34" charset="0"/>
                <a:ea typeface="Arial" pitchFamily="34" charset="-122"/>
                <a:cs typeface="Arial" pitchFamily="34" charset="-120"/>
              </a:rPr>
              <a:t>PHONE SENSOR</a:t>
            </a:r>
            <a:endParaRPr lang="en-US" sz="750" dirty="0"/>
          </a:p>
        </p:txBody>
      </p:sp>
      <p:sp>
        <p:nvSpPr>
          <p:cNvPr id="12" name="Text 10"/>
          <p:cNvSpPr/>
          <p:nvPr/>
        </p:nvSpPr>
        <p:spPr>
          <a:xfrm>
            <a:off x="1444752" y="2286000"/>
            <a:ext cx="3886200" cy="246888"/>
          </a:xfrm>
          <a:prstGeom prst="rect">
            <a:avLst/>
          </a:prstGeom>
          <a:noFill/>
          <a:ln/>
        </p:spPr>
        <p:txBody>
          <a:bodyPr wrap="square" lIns="0" tIns="0" rIns="0" bIns="0" rtlCol="0" anchor="ctr">
            <a:normAutofit/>
          </a:bodyPr>
          <a:lstStyle/>
          <a:p>
            <a:pPr indent="0" marL="0">
              <a:buNone/>
            </a:pPr>
            <a:r>
              <a:rPr lang="en-US" sz="1300" b="1" dirty="0">
                <a:solidFill>
                  <a:srgbClr val="14213D"/>
                </a:solidFill>
                <a:latin typeface="Arial" pitchFamily="34" charset="0"/>
                <a:ea typeface="Arial" pitchFamily="34" charset="-122"/>
                <a:cs typeface="Arial" pitchFamily="34" charset="-120"/>
              </a:rPr>
              <a:t>Phyphox</a:t>
            </a:r>
            <a:endParaRPr lang="en-US" sz="1300" dirty="0"/>
          </a:p>
        </p:txBody>
      </p:sp>
      <p:sp>
        <p:nvSpPr>
          <p:cNvPr id="13" name="Text 11"/>
          <p:cNvSpPr/>
          <p:nvPr/>
        </p:nvSpPr>
        <p:spPr>
          <a:xfrm>
            <a:off x="1444752" y="2569464"/>
            <a:ext cx="3886200" cy="201168"/>
          </a:xfrm>
          <a:prstGeom prst="rect">
            <a:avLst/>
          </a:prstGeom>
          <a:noFill/>
          <a:ln/>
        </p:spPr>
        <p:txBody>
          <a:bodyPr wrap="square" lIns="0" tIns="0" rIns="0" bIns="0" rtlCol="0" anchor="ctr">
            <a:normAutofit/>
          </a:bodyPr>
          <a:lstStyle/>
          <a:p>
            <a:pPr indent="0" marL="0">
              <a:buNone/>
            </a:pPr>
            <a:r>
              <a:rPr lang="en-US" sz="880" dirty="0">
                <a:solidFill>
                  <a:srgbClr val="5E708F"/>
                </a:solidFill>
                <a:latin typeface="Arial" pitchFamily="34" charset="0"/>
                <a:ea typeface="Arial" pitchFamily="34" charset="-122"/>
                <a:cs typeface="Arial" pitchFamily="34" charset="-120"/>
              </a:rPr>
              <a:t>Accelerometer access + remote HTTP API</a:t>
            </a:r>
            <a:endParaRPr lang="en-US" sz="880" dirty="0"/>
          </a:p>
        </p:txBody>
      </p:sp>
      <p:sp>
        <p:nvSpPr>
          <p:cNvPr id="14" name="Shape 12"/>
          <p:cNvSpPr/>
          <p:nvPr/>
        </p:nvSpPr>
        <p:spPr>
          <a:xfrm>
            <a:off x="6062472" y="1901952"/>
            <a:ext cx="5230368" cy="1033272"/>
          </a:xfrm>
          <a:prstGeom prst="roundRect">
            <a:avLst>
              <a:gd name="adj" fmla="val 7080"/>
            </a:avLst>
          </a:prstGeom>
          <a:solidFill>
            <a:srgbClr val="FFFFFF"/>
          </a:solidFill>
          <a:ln w="12700">
            <a:solidFill>
              <a:srgbClr val="C9D5E5"/>
            </a:solidFill>
            <a:prstDash val="solid"/>
          </a:ln>
          <a:effectLst>
            <a:outerShdw sx="100000" sy="100000" kx="0" ky="0" algn="bl" rotWithShape="0" blurRad="5.679133646942494e+57" dist="1.1358267293884988e+58" dir="3.526387384320001e+68">
              <a:srgbClr val="000000">
                <a:alpha val="1.2e+69"/>
              </a:srgbClr>
            </a:outerShdw>
          </a:effectLst>
        </p:spPr>
      </p:sp>
      <p:sp>
        <p:nvSpPr>
          <p:cNvPr id="15" name="Shape 13"/>
          <p:cNvSpPr/>
          <p:nvPr/>
        </p:nvSpPr>
        <p:spPr>
          <a:xfrm>
            <a:off x="6291072" y="2139696"/>
            <a:ext cx="557784" cy="557784"/>
          </a:xfrm>
          <a:prstGeom prst="ellipse">
            <a:avLst/>
          </a:prstGeom>
          <a:solidFill>
            <a:srgbClr val="356AE6">
              <a:alpha val="18000"/>
            </a:srgbClr>
          </a:solidFill>
          <a:ln w="12700">
            <a:solidFill>
              <a:srgbClr val="356AE6">
                <a:alpha val="18000"/>
              </a:srgbClr>
            </a:solidFill>
            <a:prstDash val="solid"/>
          </a:ln>
        </p:spPr>
      </p:sp>
      <p:sp>
        <p:nvSpPr>
          <p:cNvPr id="16" name="Text 14"/>
          <p:cNvSpPr/>
          <p:nvPr/>
        </p:nvSpPr>
        <p:spPr>
          <a:xfrm>
            <a:off x="6291072" y="2139696"/>
            <a:ext cx="557784" cy="557784"/>
          </a:xfrm>
          <a:prstGeom prst="rect">
            <a:avLst/>
          </a:prstGeom>
          <a:noFill/>
          <a:ln/>
        </p:spPr>
        <p:txBody>
          <a:bodyPr wrap="square" lIns="0" tIns="0" rIns="0" bIns="0" rtlCol="0" anchor="ctr">
            <a:normAutofit/>
          </a:bodyPr>
          <a:lstStyle/>
          <a:p>
            <a:pPr algn="ctr" indent="0" marL="0">
              <a:buNone/>
            </a:pPr>
            <a:r>
              <a:rPr lang="en-US" sz="1100" b="1" dirty="0">
                <a:solidFill>
                  <a:srgbClr val="356AE6"/>
                </a:solidFill>
                <a:latin typeface="Arial" pitchFamily="34" charset="0"/>
                <a:ea typeface="Arial" pitchFamily="34" charset="-122"/>
                <a:cs typeface="Arial" pitchFamily="34" charset="-120"/>
              </a:rPr>
              <a:t>Py</a:t>
            </a:r>
            <a:endParaRPr lang="en-US" sz="1100" dirty="0"/>
          </a:p>
        </p:txBody>
      </p:sp>
      <p:sp>
        <p:nvSpPr>
          <p:cNvPr id="17" name="Text 15"/>
          <p:cNvSpPr/>
          <p:nvPr/>
        </p:nvSpPr>
        <p:spPr>
          <a:xfrm>
            <a:off x="7004304" y="2066544"/>
            <a:ext cx="1298448" cy="182880"/>
          </a:xfrm>
          <a:prstGeom prst="rect">
            <a:avLst/>
          </a:prstGeom>
          <a:noFill/>
          <a:ln/>
        </p:spPr>
        <p:txBody>
          <a:bodyPr wrap="square" lIns="0" tIns="0" rIns="0" bIns="0" rtlCol="0" anchor="ctr">
            <a:normAutofit/>
          </a:bodyPr>
          <a:lstStyle/>
          <a:p>
            <a:pPr indent="0" marL="0">
              <a:buNone/>
            </a:pPr>
            <a:r>
              <a:rPr lang="en-US" sz="750" b="1" spc="100" kern="0" dirty="0">
                <a:solidFill>
                  <a:srgbClr val="356AE6"/>
                </a:solidFill>
                <a:latin typeface="Arial" pitchFamily="34" charset="0"/>
                <a:ea typeface="Arial" pitchFamily="34" charset="-122"/>
                <a:cs typeface="Arial" pitchFamily="34" charset="-120"/>
              </a:rPr>
              <a:t>BACKEND</a:t>
            </a:r>
            <a:endParaRPr lang="en-US" sz="750" dirty="0"/>
          </a:p>
        </p:txBody>
      </p:sp>
      <p:sp>
        <p:nvSpPr>
          <p:cNvPr id="18" name="Text 16"/>
          <p:cNvSpPr/>
          <p:nvPr/>
        </p:nvSpPr>
        <p:spPr>
          <a:xfrm>
            <a:off x="7004304" y="2286000"/>
            <a:ext cx="3886200" cy="246888"/>
          </a:xfrm>
          <a:prstGeom prst="rect">
            <a:avLst/>
          </a:prstGeom>
          <a:noFill/>
          <a:ln/>
        </p:spPr>
        <p:txBody>
          <a:bodyPr wrap="square" lIns="0" tIns="0" rIns="0" bIns="0" rtlCol="0" anchor="ctr">
            <a:normAutofit/>
          </a:bodyPr>
          <a:lstStyle/>
          <a:p>
            <a:pPr indent="0" marL="0">
              <a:buNone/>
            </a:pPr>
            <a:r>
              <a:rPr lang="en-US" sz="1300" b="1" dirty="0">
                <a:solidFill>
                  <a:srgbClr val="14213D"/>
                </a:solidFill>
                <a:latin typeface="Arial" pitchFamily="34" charset="0"/>
                <a:ea typeface="Arial" pitchFamily="34" charset="-122"/>
                <a:cs typeface="Arial" pitchFamily="34" charset="-120"/>
              </a:rPr>
              <a:t>Python + FastAPI + asyncio</a:t>
            </a:r>
            <a:endParaRPr lang="en-US" sz="1300" dirty="0"/>
          </a:p>
        </p:txBody>
      </p:sp>
      <p:sp>
        <p:nvSpPr>
          <p:cNvPr id="19" name="Text 17"/>
          <p:cNvSpPr/>
          <p:nvPr/>
        </p:nvSpPr>
        <p:spPr>
          <a:xfrm>
            <a:off x="7004304" y="2569464"/>
            <a:ext cx="3886200" cy="201168"/>
          </a:xfrm>
          <a:prstGeom prst="rect">
            <a:avLst/>
          </a:prstGeom>
          <a:noFill/>
          <a:ln/>
        </p:spPr>
        <p:txBody>
          <a:bodyPr wrap="square" lIns="0" tIns="0" rIns="0" bIns="0" rtlCol="0" anchor="ctr">
            <a:normAutofit/>
          </a:bodyPr>
          <a:lstStyle/>
          <a:p>
            <a:pPr indent="0" marL="0">
              <a:buNone/>
            </a:pPr>
            <a:r>
              <a:rPr lang="en-US" sz="880" dirty="0">
                <a:solidFill>
                  <a:srgbClr val="5E708F"/>
                </a:solidFill>
                <a:latin typeface="Arial" pitchFamily="34" charset="0"/>
                <a:ea typeface="Arial" pitchFamily="34" charset="-122"/>
                <a:cs typeface="Arial" pitchFamily="34" charset="-120"/>
              </a:rPr>
              <a:t>Lifecycle, REST commands and WebSocket delivery</a:t>
            </a:r>
            <a:endParaRPr lang="en-US" sz="880" dirty="0"/>
          </a:p>
        </p:txBody>
      </p:sp>
      <p:sp>
        <p:nvSpPr>
          <p:cNvPr id="20" name="Shape 18"/>
          <p:cNvSpPr/>
          <p:nvPr/>
        </p:nvSpPr>
        <p:spPr>
          <a:xfrm>
            <a:off x="502920" y="3209544"/>
            <a:ext cx="5230368" cy="1033272"/>
          </a:xfrm>
          <a:prstGeom prst="roundRect">
            <a:avLst>
              <a:gd name="adj" fmla="val 7080"/>
            </a:avLst>
          </a:prstGeom>
          <a:solidFill>
            <a:srgbClr val="FFFFFF"/>
          </a:solidFill>
          <a:ln w="12700">
            <a:solidFill>
              <a:srgbClr val="C9D5E5"/>
            </a:solidFill>
            <a:prstDash val="solid"/>
          </a:ln>
          <a:effectLst>
            <a:outerShdw sx="100000" sy="100000" kx="0" ky="0" algn="bl" rotWithShape="0" blurRad="7.212499731616968e+61" dist="1.4424999463233936e+62" dir="2.1158324305920003e+73">
              <a:srgbClr val="000000">
                <a:alpha val="1.2e+74"/>
              </a:srgbClr>
            </a:outerShdw>
          </a:effectLst>
        </p:spPr>
      </p:sp>
      <p:sp>
        <p:nvSpPr>
          <p:cNvPr id="21" name="Shape 19"/>
          <p:cNvSpPr/>
          <p:nvPr/>
        </p:nvSpPr>
        <p:spPr>
          <a:xfrm>
            <a:off x="731520" y="3447288"/>
            <a:ext cx="557784" cy="557784"/>
          </a:xfrm>
          <a:prstGeom prst="ellipse">
            <a:avLst/>
          </a:prstGeom>
          <a:solidFill>
            <a:srgbClr val="7048CA">
              <a:alpha val="18000"/>
            </a:srgbClr>
          </a:solidFill>
          <a:ln w="12700">
            <a:solidFill>
              <a:srgbClr val="7048CA">
                <a:alpha val="18000"/>
              </a:srgbClr>
            </a:solidFill>
            <a:prstDash val="solid"/>
          </a:ln>
        </p:spPr>
      </p:sp>
      <p:sp>
        <p:nvSpPr>
          <p:cNvPr id="22" name="Text 20"/>
          <p:cNvSpPr/>
          <p:nvPr/>
        </p:nvSpPr>
        <p:spPr>
          <a:xfrm>
            <a:off x="731520" y="3447288"/>
            <a:ext cx="557784" cy="557784"/>
          </a:xfrm>
          <a:prstGeom prst="rect">
            <a:avLst/>
          </a:prstGeom>
          <a:noFill/>
          <a:ln/>
        </p:spPr>
        <p:txBody>
          <a:bodyPr wrap="square" lIns="0" tIns="0" rIns="0" bIns="0" rtlCol="0" anchor="ctr">
            <a:normAutofit/>
          </a:bodyPr>
          <a:lstStyle/>
          <a:p>
            <a:pPr algn="ctr" indent="0" marL="0">
              <a:buNone/>
            </a:pPr>
            <a:r>
              <a:rPr lang="en-US" sz="1700" b="1" dirty="0">
                <a:solidFill>
                  <a:srgbClr val="7048CA"/>
                </a:solidFill>
                <a:latin typeface="Arial" pitchFamily="34" charset="0"/>
                <a:ea typeface="Arial" pitchFamily="34" charset="-122"/>
                <a:cs typeface="Arial" pitchFamily="34" charset="-120"/>
              </a:rPr>
              <a:t>M</a:t>
            </a:r>
            <a:endParaRPr lang="en-US" sz="1700" dirty="0"/>
          </a:p>
        </p:txBody>
      </p:sp>
      <p:sp>
        <p:nvSpPr>
          <p:cNvPr id="23" name="Text 21"/>
          <p:cNvSpPr/>
          <p:nvPr/>
        </p:nvSpPr>
        <p:spPr>
          <a:xfrm>
            <a:off x="1444752" y="3374136"/>
            <a:ext cx="1298448" cy="182880"/>
          </a:xfrm>
          <a:prstGeom prst="rect">
            <a:avLst/>
          </a:prstGeom>
          <a:noFill/>
          <a:ln/>
        </p:spPr>
        <p:txBody>
          <a:bodyPr wrap="square" lIns="0" tIns="0" rIns="0" bIns="0" rtlCol="0" anchor="ctr">
            <a:normAutofit/>
          </a:bodyPr>
          <a:lstStyle/>
          <a:p>
            <a:pPr indent="0" marL="0">
              <a:buNone/>
            </a:pPr>
            <a:r>
              <a:rPr lang="en-US" sz="750" b="1" spc="100" kern="0" dirty="0">
                <a:solidFill>
                  <a:srgbClr val="7048CA"/>
                </a:solidFill>
                <a:latin typeface="Arial" pitchFamily="34" charset="0"/>
                <a:ea typeface="Arial" pitchFamily="34" charset="-122"/>
                <a:cs typeface="Arial" pitchFamily="34" charset="-120"/>
              </a:rPr>
              <a:t>MESSAGING</a:t>
            </a:r>
            <a:endParaRPr lang="en-US" sz="750" dirty="0"/>
          </a:p>
        </p:txBody>
      </p:sp>
      <p:sp>
        <p:nvSpPr>
          <p:cNvPr id="24" name="Text 22"/>
          <p:cNvSpPr/>
          <p:nvPr/>
        </p:nvSpPr>
        <p:spPr>
          <a:xfrm>
            <a:off x="1444752" y="3593592"/>
            <a:ext cx="3886200" cy="246888"/>
          </a:xfrm>
          <a:prstGeom prst="rect">
            <a:avLst/>
          </a:prstGeom>
          <a:noFill/>
          <a:ln/>
        </p:spPr>
        <p:txBody>
          <a:bodyPr wrap="square" lIns="0" tIns="0" rIns="0" bIns="0" rtlCol="0" anchor="ctr">
            <a:normAutofit/>
          </a:bodyPr>
          <a:lstStyle/>
          <a:p>
            <a:pPr indent="0" marL="0">
              <a:buNone/>
            </a:pPr>
            <a:r>
              <a:rPr lang="en-US" sz="1300" b="1" dirty="0">
                <a:solidFill>
                  <a:srgbClr val="14213D"/>
                </a:solidFill>
                <a:latin typeface="Arial" pitchFamily="34" charset="0"/>
                <a:ea typeface="Arial" pitchFamily="34" charset="-122"/>
                <a:cs typeface="Arial" pitchFamily="34" charset="-120"/>
              </a:rPr>
              <a:t>MQTT + Mosquitto</a:t>
            </a:r>
            <a:endParaRPr lang="en-US" sz="1300" dirty="0"/>
          </a:p>
        </p:txBody>
      </p:sp>
      <p:sp>
        <p:nvSpPr>
          <p:cNvPr id="25" name="Text 23"/>
          <p:cNvSpPr/>
          <p:nvPr/>
        </p:nvSpPr>
        <p:spPr>
          <a:xfrm>
            <a:off x="1444752" y="3877056"/>
            <a:ext cx="3886200" cy="201168"/>
          </a:xfrm>
          <a:prstGeom prst="rect">
            <a:avLst/>
          </a:prstGeom>
          <a:noFill/>
          <a:ln/>
        </p:spPr>
        <p:txBody>
          <a:bodyPr wrap="square" lIns="0" tIns="0" rIns="0" bIns="0" rtlCol="0" anchor="ctr">
            <a:normAutofit/>
          </a:bodyPr>
          <a:lstStyle/>
          <a:p>
            <a:pPr indent="0" marL="0">
              <a:buNone/>
            </a:pPr>
            <a:r>
              <a:rPr lang="en-US" sz="880" dirty="0">
                <a:solidFill>
                  <a:srgbClr val="5E708F"/>
                </a:solidFill>
                <a:latin typeface="Arial" pitchFamily="34" charset="0"/>
                <a:ea typeface="Arial" pitchFamily="34" charset="-122"/>
                <a:cs typeface="Arial" pitchFamily="34" charset="-120"/>
              </a:rPr>
              <a:t>Typed publish/subscribe topics and reconnect behavior</a:t>
            </a:r>
            <a:endParaRPr lang="en-US" sz="880" dirty="0"/>
          </a:p>
        </p:txBody>
      </p:sp>
      <p:sp>
        <p:nvSpPr>
          <p:cNvPr id="26" name="Shape 24"/>
          <p:cNvSpPr/>
          <p:nvPr/>
        </p:nvSpPr>
        <p:spPr>
          <a:xfrm>
            <a:off x="6062472" y="3209544"/>
            <a:ext cx="5230368" cy="1033272"/>
          </a:xfrm>
          <a:prstGeom prst="roundRect">
            <a:avLst>
              <a:gd name="adj" fmla="val 7080"/>
            </a:avLst>
          </a:prstGeom>
          <a:solidFill>
            <a:srgbClr val="FFFFFF"/>
          </a:solidFill>
          <a:ln w="12700">
            <a:solidFill>
              <a:srgbClr val="C9D5E5"/>
            </a:solidFill>
            <a:prstDash val="solid"/>
          </a:ln>
          <a:effectLst>
            <a:outerShdw sx="100000" sy="100000" kx="0" ky="0" algn="bl" rotWithShape="0" blurRad="9.15987465915355e+65" dist="1.83197493183071e+66" dir="1.2694994583552002e+78">
              <a:srgbClr val="000000">
                <a:alpha val="1.2000000000000001e+79"/>
              </a:srgbClr>
            </a:outerShdw>
          </a:effectLst>
        </p:spPr>
      </p:sp>
      <p:sp>
        <p:nvSpPr>
          <p:cNvPr id="27" name="Shape 25"/>
          <p:cNvSpPr/>
          <p:nvPr/>
        </p:nvSpPr>
        <p:spPr>
          <a:xfrm>
            <a:off x="6291072" y="3447288"/>
            <a:ext cx="557784" cy="557784"/>
          </a:xfrm>
          <a:prstGeom prst="ellipse">
            <a:avLst/>
          </a:prstGeom>
          <a:solidFill>
            <a:srgbClr val="B97912">
              <a:alpha val="18000"/>
            </a:srgbClr>
          </a:solidFill>
          <a:ln w="12700">
            <a:solidFill>
              <a:srgbClr val="B97912">
                <a:alpha val="18000"/>
              </a:srgbClr>
            </a:solidFill>
            <a:prstDash val="solid"/>
          </a:ln>
        </p:spPr>
      </p:sp>
      <p:sp>
        <p:nvSpPr>
          <p:cNvPr id="28" name="Text 26"/>
          <p:cNvSpPr/>
          <p:nvPr/>
        </p:nvSpPr>
        <p:spPr>
          <a:xfrm>
            <a:off x="6291072" y="3447288"/>
            <a:ext cx="557784" cy="557784"/>
          </a:xfrm>
          <a:prstGeom prst="rect">
            <a:avLst/>
          </a:prstGeom>
          <a:noFill/>
          <a:ln/>
        </p:spPr>
        <p:txBody>
          <a:bodyPr wrap="square" lIns="0" tIns="0" rIns="0" bIns="0" rtlCol="0" anchor="ctr">
            <a:normAutofit/>
          </a:bodyPr>
          <a:lstStyle/>
          <a:p>
            <a:pPr algn="ctr" indent="0" marL="0">
              <a:buNone/>
            </a:pPr>
            <a:r>
              <a:rPr lang="en-US" sz="1100" b="1" dirty="0">
                <a:solidFill>
                  <a:srgbClr val="B97912"/>
                </a:solidFill>
                <a:latin typeface="Arial" pitchFamily="34" charset="0"/>
                <a:ea typeface="Arial" pitchFamily="34" charset="-122"/>
                <a:cs typeface="Arial" pitchFamily="34" charset="-120"/>
              </a:rPr>
              <a:t>DB</a:t>
            </a:r>
            <a:endParaRPr lang="en-US" sz="1100" dirty="0"/>
          </a:p>
        </p:txBody>
      </p:sp>
      <p:sp>
        <p:nvSpPr>
          <p:cNvPr id="29" name="Text 27"/>
          <p:cNvSpPr/>
          <p:nvPr/>
        </p:nvSpPr>
        <p:spPr>
          <a:xfrm>
            <a:off x="7004304" y="3374136"/>
            <a:ext cx="1298448" cy="182880"/>
          </a:xfrm>
          <a:prstGeom prst="rect">
            <a:avLst/>
          </a:prstGeom>
          <a:noFill/>
          <a:ln/>
        </p:spPr>
        <p:txBody>
          <a:bodyPr wrap="square" lIns="0" tIns="0" rIns="0" bIns="0" rtlCol="0" anchor="ctr">
            <a:normAutofit/>
          </a:bodyPr>
          <a:lstStyle/>
          <a:p>
            <a:pPr indent="0" marL="0">
              <a:buNone/>
            </a:pPr>
            <a:r>
              <a:rPr lang="en-US" sz="750" b="1" spc="100" kern="0" dirty="0">
                <a:solidFill>
                  <a:srgbClr val="B97912"/>
                </a:solidFill>
                <a:latin typeface="Arial" pitchFamily="34" charset="0"/>
                <a:ea typeface="Arial" pitchFamily="34" charset="-122"/>
                <a:cs typeface="Arial" pitchFamily="34" charset="-120"/>
              </a:rPr>
              <a:t>PERSISTENCE</a:t>
            </a:r>
            <a:endParaRPr lang="en-US" sz="750" dirty="0"/>
          </a:p>
        </p:txBody>
      </p:sp>
      <p:sp>
        <p:nvSpPr>
          <p:cNvPr id="30" name="Text 28"/>
          <p:cNvSpPr/>
          <p:nvPr/>
        </p:nvSpPr>
        <p:spPr>
          <a:xfrm>
            <a:off x="7004304" y="3593592"/>
            <a:ext cx="3886200" cy="246888"/>
          </a:xfrm>
          <a:prstGeom prst="rect">
            <a:avLst/>
          </a:prstGeom>
          <a:noFill/>
          <a:ln/>
        </p:spPr>
        <p:txBody>
          <a:bodyPr wrap="square" lIns="0" tIns="0" rIns="0" bIns="0" rtlCol="0" anchor="ctr">
            <a:normAutofit/>
          </a:bodyPr>
          <a:lstStyle/>
          <a:p>
            <a:pPr indent="0" marL="0">
              <a:buNone/>
            </a:pPr>
            <a:r>
              <a:rPr lang="en-US" sz="1300" b="1" dirty="0">
                <a:solidFill>
                  <a:srgbClr val="14213D"/>
                </a:solidFill>
                <a:latin typeface="Arial" pitchFamily="34" charset="0"/>
                <a:ea typeface="Arial" pitchFamily="34" charset="-122"/>
                <a:cs typeface="Arial" pitchFamily="34" charset="-120"/>
              </a:rPr>
              <a:t>SQLite (WAL)</a:t>
            </a:r>
            <a:endParaRPr lang="en-US" sz="1300" dirty="0"/>
          </a:p>
        </p:txBody>
      </p:sp>
      <p:sp>
        <p:nvSpPr>
          <p:cNvPr id="31" name="Text 29"/>
          <p:cNvSpPr/>
          <p:nvPr/>
        </p:nvSpPr>
        <p:spPr>
          <a:xfrm>
            <a:off x="7004304" y="3877056"/>
            <a:ext cx="3886200" cy="201168"/>
          </a:xfrm>
          <a:prstGeom prst="rect">
            <a:avLst/>
          </a:prstGeom>
          <a:noFill/>
          <a:ln/>
        </p:spPr>
        <p:txBody>
          <a:bodyPr wrap="square" lIns="0" tIns="0" rIns="0" bIns="0" rtlCol="0" anchor="ctr">
            <a:normAutofit/>
          </a:bodyPr>
          <a:lstStyle/>
          <a:p>
            <a:pPr indent="0" marL="0">
              <a:buNone/>
            </a:pPr>
            <a:r>
              <a:rPr lang="en-US" sz="880" dirty="0">
                <a:solidFill>
                  <a:srgbClr val="5E708F"/>
                </a:solidFill>
                <a:latin typeface="Arial" pitchFamily="34" charset="0"/>
                <a:ea typeface="Arial" pitchFamily="34" charset="-122"/>
                <a:cs typeface="Arial" pitchFamily="34" charset="-120"/>
              </a:rPr>
              <a:t>Device configuration, runtime state and event history</a:t>
            </a:r>
            <a:endParaRPr lang="en-US" sz="880" dirty="0"/>
          </a:p>
        </p:txBody>
      </p:sp>
      <p:sp>
        <p:nvSpPr>
          <p:cNvPr id="32" name="Shape 30"/>
          <p:cNvSpPr/>
          <p:nvPr/>
        </p:nvSpPr>
        <p:spPr>
          <a:xfrm>
            <a:off x="502920" y="4517136"/>
            <a:ext cx="5230368" cy="1033272"/>
          </a:xfrm>
          <a:prstGeom prst="roundRect">
            <a:avLst>
              <a:gd name="adj" fmla="val 7080"/>
            </a:avLst>
          </a:prstGeom>
          <a:solidFill>
            <a:srgbClr val="FFFFFF"/>
          </a:solidFill>
          <a:ln w="12700">
            <a:solidFill>
              <a:srgbClr val="C9D5E5"/>
            </a:solidFill>
            <a:prstDash val="solid"/>
          </a:ln>
          <a:effectLst>
            <a:outerShdw sx="100000" sy="100000" kx="0" ky="0" algn="bl" rotWithShape="0" blurRad="1.1633040817125008e+70" dist="2.3266081634250016e+70" dir="7.616996750131201e+82">
              <a:srgbClr val="000000">
                <a:alpha val="1.2000000000000002e+84"/>
              </a:srgbClr>
            </a:outerShdw>
          </a:effectLst>
        </p:spPr>
      </p:sp>
      <p:sp>
        <p:nvSpPr>
          <p:cNvPr id="33" name="Shape 31"/>
          <p:cNvSpPr/>
          <p:nvPr/>
        </p:nvSpPr>
        <p:spPr>
          <a:xfrm>
            <a:off x="731520" y="4754880"/>
            <a:ext cx="557784" cy="557784"/>
          </a:xfrm>
          <a:prstGeom prst="ellipse">
            <a:avLst/>
          </a:prstGeom>
          <a:solidFill>
            <a:srgbClr val="078F68">
              <a:alpha val="18000"/>
            </a:srgbClr>
          </a:solidFill>
          <a:ln w="12700">
            <a:solidFill>
              <a:srgbClr val="078F68">
                <a:alpha val="18000"/>
              </a:srgbClr>
            </a:solidFill>
            <a:prstDash val="solid"/>
          </a:ln>
        </p:spPr>
      </p:sp>
      <p:sp>
        <p:nvSpPr>
          <p:cNvPr id="34" name="Text 32"/>
          <p:cNvSpPr/>
          <p:nvPr/>
        </p:nvSpPr>
        <p:spPr>
          <a:xfrm>
            <a:off x="731520" y="4754880"/>
            <a:ext cx="557784" cy="557784"/>
          </a:xfrm>
          <a:prstGeom prst="rect">
            <a:avLst/>
          </a:prstGeom>
          <a:noFill/>
          <a:ln/>
        </p:spPr>
        <p:txBody>
          <a:bodyPr wrap="square" lIns="0" tIns="0" rIns="0" bIns="0" rtlCol="0" anchor="ctr">
            <a:normAutofit/>
          </a:bodyPr>
          <a:lstStyle/>
          <a:p>
            <a:pPr algn="ctr" indent="0" marL="0">
              <a:buNone/>
            </a:pPr>
            <a:r>
              <a:rPr lang="en-US" sz="1100" b="1" dirty="0">
                <a:solidFill>
                  <a:srgbClr val="078F68"/>
                </a:solidFill>
                <a:latin typeface="Arial" pitchFamily="34" charset="0"/>
                <a:ea typeface="Arial" pitchFamily="34" charset="-122"/>
                <a:cs typeface="Arial" pitchFamily="34" charset="-120"/>
              </a:rPr>
              <a:t>UI</a:t>
            </a:r>
            <a:endParaRPr lang="en-US" sz="1100" dirty="0"/>
          </a:p>
        </p:txBody>
      </p:sp>
      <p:sp>
        <p:nvSpPr>
          <p:cNvPr id="35" name="Text 33"/>
          <p:cNvSpPr/>
          <p:nvPr/>
        </p:nvSpPr>
        <p:spPr>
          <a:xfrm>
            <a:off x="1444752" y="4681728"/>
            <a:ext cx="1298448" cy="182880"/>
          </a:xfrm>
          <a:prstGeom prst="rect">
            <a:avLst/>
          </a:prstGeom>
          <a:noFill/>
          <a:ln/>
        </p:spPr>
        <p:txBody>
          <a:bodyPr wrap="square" lIns="0" tIns="0" rIns="0" bIns="0" rtlCol="0" anchor="ctr">
            <a:normAutofit/>
          </a:bodyPr>
          <a:lstStyle/>
          <a:p>
            <a:pPr indent="0" marL="0">
              <a:buNone/>
            </a:pPr>
            <a:r>
              <a:rPr lang="en-US" sz="750" b="1" spc="100" kern="0" dirty="0">
                <a:solidFill>
                  <a:srgbClr val="078F68"/>
                </a:solidFill>
                <a:latin typeface="Arial" pitchFamily="34" charset="0"/>
                <a:ea typeface="Arial" pitchFamily="34" charset="-122"/>
                <a:cs typeface="Arial" pitchFamily="34" charset="-120"/>
              </a:rPr>
              <a:t>FRONT END</a:t>
            </a:r>
            <a:endParaRPr lang="en-US" sz="750" dirty="0"/>
          </a:p>
        </p:txBody>
      </p:sp>
      <p:sp>
        <p:nvSpPr>
          <p:cNvPr id="36" name="Text 34"/>
          <p:cNvSpPr/>
          <p:nvPr/>
        </p:nvSpPr>
        <p:spPr>
          <a:xfrm>
            <a:off x="1444752" y="4901184"/>
            <a:ext cx="3886200" cy="246888"/>
          </a:xfrm>
          <a:prstGeom prst="rect">
            <a:avLst/>
          </a:prstGeom>
          <a:noFill/>
          <a:ln/>
        </p:spPr>
        <p:txBody>
          <a:bodyPr wrap="square" lIns="0" tIns="0" rIns="0" bIns="0" rtlCol="0" anchor="ctr">
            <a:normAutofit/>
          </a:bodyPr>
          <a:lstStyle/>
          <a:p>
            <a:pPr indent="0" marL="0">
              <a:buNone/>
            </a:pPr>
            <a:r>
              <a:rPr lang="en-US" sz="1300" b="1" dirty="0">
                <a:solidFill>
                  <a:srgbClr val="14213D"/>
                </a:solidFill>
                <a:latin typeface="Arial" pitchFamily="34" charset="0"/>
                <a:ea typeface="Arial" pitchFamily="34" charset="-122"/>
                <a:cs typeface="Arial" pitchFamily="34" charset="-120"/>
              </a:rPr>
              <a:t>HTML + CSS + JavaScript</a:t>
            </a:r>
            <a:endParaRPr lang="en-US" sz="1300" dirty="0"/>
          </a:p>
        </p:txBody>
      </p:sp>
      <p:sp>
        <p:nvSpPr>
          <p:cNvPr id="37" name="Text 35"/>
          <p:cNvSpPr/>
          <p:nvPr/>
        </p:nvSpPr>
        <p:spPr>
          <a:xfrm>
            <a:off x="1444752" y="5184648"/>
            <a:ext cx="3886200" cy="201168"/>
          </a:xfrm>
          <a:prstGeom prst="rect">
            <a:avLst/>
          </a:prstGeom>
          <a:noFill/>
          <a:ln/>
        </p:spPr>
        <p:txBody>
          <a:bodyPr wrap="square" lIns="0" tIns="0" rIns="0" bIns="0" rtlCol="0" anchor="ctr">
            <a:normAutofit/>
          </a:bodyPr>
          <a:lstStyle/>
          <a:p>
            <a:pPr indent="0" marL="0">
              <a:buNone/>
            </a:pPr>
            <a:r>
              <a:rPr lang="en-US" sz="880" dirty="0">
                <a:solidFill>
                  <a:srgbClr val="5E708F"/>
                </a:solidFill>
                <a:latin typeface="Arial" pitchFamily="34" charset="0"/>
                <a:ea typeface="Arial" pitchFamily="34" charset="-122"/>
                <a:cs typeface="Arial" pitchFamily="34" charset="-120"/>
              </a:rPr>
              <a:t>Responsive dashboard, canvas chart and Web Audio siren</a:t>
            </a:r>
            <a:endParaRPr lang="en-US" sz="880" dirty="0"/>
          </a:p>
        </p:txBody>
      </p:sp>
      <p:sp>
        <p:nvSpPr>
          <p:cNvPr id="38" name="Shape 36"/>
          <p:cNvSpPr/>
          <p:nvPr/>
        </p:nvSpPr>
        <p:spPr>
          <a:xfrm>
            <a:off x="6062472" y="4517136"/>
            <a:ext cx="5230368" cy="1033272"/>
          </a:xfrm>
          <a:prstGeom prst="roundRect">
            <a:avLst>
              <a:gd name="adj" fmla="val 7080"/>
            </a:avLst>
          </a:prstGeom>
          <a:solidFill>
            <a:srgbClr val="FFFFFF"/>
          </a:solidFill>
          <a:ln w="12700">
            <a:solidFill>
              <a:srgbClr val="C9D5E5"/>
            </a:solidFill>
            <a:prstDash val="solid"/>
          </a:ln>
          <a:effectLst>
            <a:outerShdw sx="100000" sy="100000" kx="0" ky="0" algn="bl" rotWithShape="0" blurRad="1.477396183774876e+74" dist="2.954792367549752e+74" dir="4.57019805007872e+87">
              <a:srgbClr val="000000">
                <a:alpha val="1.2000000000000002e+89"/>
              </a:srgbClr>
            </a:outerShdw>
          </a:effectLst>
        </p:spPr>
      </p:sp>
      <p:sp>
        <p:nvSpPr>
          <p:cNvPr id="39" name="Shape 37"/>
          <p:cNvSpPr/>
          <p:nvPr/>
        </p:nvSpPr>
        <p:spPr>
          <a:xfrm>
            <a:off x="6291072" y="4754880"/>
            <a:ext cx="557784" cy="557784"/>
          </a:xfrm>
          <a:prstGeom prst="ellipse">
            <a:avLst/>
          </a:prstGeom>
          <a:solidFill>
            <a:srgbClr val="D64255">
              <a:alpha val="18000"/>
            </a:srgbClr>
          </a:solidFill>
          <a:ln w="12700">
            <a:solidFill>
              <a:srgbClr val="D64255">
                <a:alpha val="18000"/>
              </a:srgbClr>
            </a:solidFill>
            <a:prstDash val="solid"/>
          </a:ln>
        </p:spPr>
      </p:sp>
      <p:sp>
        <p:nvSpPr>
          <p:cNvPr id="40" name="Text 38"/>
          <p:cNvSpPr/>
          <p:nvPr/>
        </p:nvSpPr>
        <p:spPr>
          <a:xfrm>
            <a:off x="6291072" y="4754880"/>
            <a:ext cx="557784" cy="557784"/>
          </a:xfrm>
          <a:prstGeom prst="rect">
            <a:avLst/>
          </a:prstGeom>
          <a:noFill/>
          <a:ln/>
        </p:spPr>
        <p:txBody>
          <a:bodyPr wrap="square" lIns="0" tIns="0" rIns="0" bIns="0" rtlCol="0" anchor="ctr">
            <a:normAutofit/>
          </a:bodyPr>
          <a:lstStyle/>
          <a:p>
            <a:pPr algn="ctr" indent="0" marL="0">
              <a:buNone/>
            </a:pPr>
            <a:r>
              <a:rPr lang="en-US" sz="1700" b="1" dirty="0">
                <a:solidFill>
                  <a:srgbClr val="D64255"/>
                </a:solidFill>
                <a:latin typeface="Arial" pitchFamily="34" charset="0"/>
                <a:ea typeface="Arial" pitchFamily="34" charset="-122"/>
                <a:cs typeface="Arial" pitchFamily="34" charset="-120"/>
              </a:rPr>
              <a:t>✓</a:t>
            </a:r>
            <a:endParaRPr lang="en-US" sz="1700" dirty="0"/>
          </a:p>
        </p:txBody>
      </p:sp>
      <p:sp>
        <p:nvSpPr>
          <p:cNvPr id="41" name="Text 39"/>
          <p:cNvSpPr/>
          <p:nvPr/>
        </p:nvSpPr>
        <p:spPr>
          <a:xfrm>
            <a:off x="7004304" y="4681728"/>
            <a:ext cx="1298448" cy="182880"/>
          </a:xfrm>
          <a:prstGeom prst="rect">
            <a:avLst/>
          </a:prstGeom>
          <a:noFill/>
          <a:ln/>
        </p:spPr>
        <p:txBody>
          <a:bodyPr wrap="square" lIns="0" tIns="0" rIns="0" bIns="0" rtlCol="0" anchor="ctr">
            <a:normAutofit/>
          </a:bodyPr>
          <a:lstStyle/>
          <a:p>
            <a:pPr indent="0" marL="0">
              <a:buNone/>
            </a:pPr>
            <a:r>
              <a:rPr lang="en-US" sz="750" b="1" spc="100" kern="0" dirty="0">
                <a:solidFill>
                  <a:srgbClr val="D64255"/>
                </a:solidFill>
                <a:latin typeface="Arial" pitchFamily="34" charset="0"/>
                <a:ea typeface="Arial" pitchFamily="34" charset="-122"/>
                <a:cs typeface="Arial" pitchFamily="34" charset="-120"/>
              </a:rPr>
              <a:t>QUALITY</a:t>
            </a:r>
            <a:endParaRPr lang="en-US" sz="750" dirty="0"/>
          </a:p>
        </p:txBody>
      </p:sp>
      <p:sp>
        <p:nvSpPr>
          <p:cNvPr id="42" name="Text 40"/>
          <p:cNvSpPr/>
          <p:nvPr/>
        </p:nvSpPr>
        <p:spPr>
          <a:xfrm>
            <a:off x="7004304" y="4901184"/>
            <a:ext cx="3886200" cy="246888"/>
          </a:xfrm>
          <a:prstGeom prst="rect">
            <a:avLst/>
          </a:prstGeom>
          <a:noFill/>
          <a:ln/>
        </p:spPr>
        <p:txBody>
          <a:bodyPr wrap="square" lIns="0" tIns="0" rIns="0" bIns="0" rtlCol="0" anchor="ctr">
            <a:normAutofit/>
          </a:bodyPr>
          <a:lstStyle/>
          <a:p>
            <a:pPr indent="0" marL="0">
              <a:buNone/>
            </a:pPr>
            <a:r>
              <a:rPr lang="en-US" sz="1300" b="1" dirty="0">
                <a:solidFill>
                  <a:srgbClr val="14213D"/>
                </a:solidFill>
                <a:latin typeface="Arial" pitchFamily="34" charset="0"/>
                <a:ea typeface="Arial" pitchFamily="34" charset="-122"/>
                <a:cs typeface="Arial" pitchFamily="34" charset="-120"/>
              </a:rPr>
              <a:t>Pytest + Ruff + mypy + Docker</a:t>
            </a:r>
            <a:endParaRPr lang="en-US" sz="1300" dirty="0"/>
          </a:p>
        </p:txBody>
      </p:sp>
      <p:sp>
        <p:nvSpPr>
          <p:cNvPr id="43" name="Text 41"/>
          <p:cNvSpPr/>
          <p:nvPr/>
        </p:nvSpPr>
        <p:spPr>
          <a:xfrm>
            <a:off x="7004304" y="5184648"/>
            <a:ext cx="3886200" cy="201168"/>
          </a:xfrm>
          <a:prstGeom prst="rect">
            <a:avLst/>
          </a:prstGeom>
          <a:noFill/>
          <a:ln/>
        </p:spPr>
        <p:txBody>
          <a:bodyPr wrap="square" lIns="0" tIns="0" rIns="0" bIns="0" rtlCol="0" anchor="ctr">
            <a:normAutofit/>
          </a:bodyPr>
          <a:lstStyle/>
          <a:p>
            <a:pPr indent="0" marL="0">
              <a:buNone/>
            </a:pPr>
            <a:r>
              <a:rPr lang="en-US" sz="880" dirty="0">
                <a:solidFill>
                  <a:srgbClr val="5E708F"/>
                </a:solidFill>
                <a:latin typeface="Arial" pitchFamily="34" charset="0"/>
                <a:ea typeface="Arial" pitchFamily="34" charset="-122"/>
                <a:cs typeface="Arial" pitchFamily="34" charset="-120"/>
              </a:rPr>
              <a:t>Replay tests, static checks and reproducible broker</a:t>
            </a:r>
            <a:endParaRPr lang="en-US" sz="880" dirty="0"/>
          </a:p>
        </p:txBody>
      </p:sp>
      <p:sp>
        <p:nvSpPr>
          <p:cNvPr id="44" name="Shape 42"/>
          <p:cNvSpPr/>
          <p:nvPr/>
        </p:nvSpPr>
        <p:spPr>
          <a:xfrm>
            <a:off x="502920" y="5907024"/>
            <a:ext cx="10789920" cy="292608"/>
          </a:xfrm>
          <a:prstGeom prst="roundRect">
            <a:avLst>
              <a:gd name="adj" fmla="val 25000"/>
            </a:avLst>
          </a:prstGeom>
          <a:solidFill>
            <a:srgbClr val="EEF3FA"/>
          </a:solidFill>
          <a:ln w="12700">
            <a:solidFill>
              <a:srgbClr val="C9D5E5"/>
            </a:solidFill>
            <a:prstDash val="solid"/>
          </a:ln>
        </p:spPr>
      </p:sp>
      <p:sp>
        <p:nvSpPr>
          <p:cNvPr id="45" name="Text 43"/>
          <p:cNvSpPr/>
          <p:nvPr/>
        </p:nvSpPr>
        <p:spPr>
          <a:xfrm>
            <a:off x="685800" y="5943600"/>
            <a:ext cx="10424160" cy="201168"/>
          </a:xfrm>
          <a:prstGeom prst="rect">
            <a:avLst/>
          </a:prstGeom>
          <a:noFill/>
          <a:ln/>
        </p:spPr>
        <p:txBody>
          <a:bodyPr wrap="square" lIns="0" tIns="0" rIns="0" bIns="0" rtlCol="0" anchor="ctr">
            <a:normAutofit/>
          </a:bodyPr>
          <a:lstStyle/>
          <a:p>
            <a:pPr algn="ctr" indent="0" marL="0">
              <a:buNone/>
            </a:pPr>
            <a:r>
              <a:rPr lang="en-US" sz="920" dirty="0">
                <a:solidFill>
                  <a:srgbClr val="5E708F"/>
                </a:solidFill>
                <a:latin typeface="Arial" pitchFamily="34" charset="0"/>
                <a:ea typeface="Arial" pitchFamily="34" charset="-122"/>
                <a:cs typeface="Arial" pitchFamily="34" charset="-120"/>
              </a:rPr>
              <a:t>Deployment: one laptop runs the application, Mosquitto, SQLite and dashboard; phones remain sensor nodes on the same private LAN.</a:t>
            </a:r>
            <a:endParaRPr lang="en-US" sz="920" dirty="0"/>
          </a:p>
        </p:txBody>
      </p:sp>
      <p:sp>
        <p:nvSpPr>
          <p:cNvPr id="25" name="Slide Number Placeholder 0"/>
          <p:cNvSpPr>
            <a:spLocks noGrp="1"/>
          </p:cNvSpPr>
          <p:nvPr>
            <p:ph type="sldNum" sz="quarter" idx="4294967295"/>
          </p:nvPr>
        </p:nvSpPr>
        <p:spPr>
          <a:xfrm>
            <a:off x="11384280" y="6446520"/>
            <a:ext cx="320040" cy="164592"/>
          </a:xfrm>
          <a:prstGeom prst="rect">
            <a:avLst/>
          </a:prstGeom>
          <a:extLst>
            <a:ext uri="{C572A759-6A51-4108-AA02-DFA0A04FC94B}">
              <ma14:wrappingTextBoxFlag xmlns:ma14="http://schemas.microsoft.com/office/mac/drawingml/2011/main" val="0"/>
            </a:ext>
          </a:extLst>
        </p:spPr>
        <p:txBody>
          <a:bodyPr/>
          <a:lstStyle>
            <a:lvl1pPr>
              <a:defRPr sz="800">
                <a:solidFill>
                  <a:srgbClr val="71819C"/>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02920" y="384048"/>
            <a:ext cx="384048" cy="274320"/>
          </a:xfrm>
          <a:prstGeom prst="rect">
            <a:avLst/>
          </a:prstGeom>
          <a:noFill/>
          <a:ln/>
        </p:spPr>
        <p:txBody>
          <a:bodyPr wrap="square" lIns="0" tIns="0" rIns="0" bIns="0" rtlCol="0" anchor="ctr">
            <a:normAutofit/>
          </a:bodyPr>
          <a:lstStyle/>
          <a:p>
            <a:pPr indent="0" marL="0">
              <a:buNone/>
            </a:pPr>
            <a:r>
              <a:rPr lang="en-US" sz="1000" b="1" spc="120" kern="0" dirty="0">
                <a:solidFill>
                  <a:srgbClr val="426EDC"/>
                </a:solidFill>
                <a:latin typeface="Arial" pitchFamily="34" charset="0"/>
                <a:ea typeface="Arial" pitchFamily="34" charset="-122"/>
                <a:cs typeface="Arial" pitchFamily="34" charset="-120"/>
              </a:rPr>
              <a:t>09</a:t>
            </a:r>
            <a:endParaRPr lang="en-US" sz="1000" dirty="0"/>
          </a:p>
        </p:txBody>
      </p:sp>
      <p:sp>
        <p:nvSpPr>
          <p:cNvPr id="3" name="Shape 1"/>
          <p:cNvSpPr/>
          <p:nvPr/>
        </p:nvSpPr>
        <p:spPr>
          <a:xfrm>
            <a:off x="896112" y="521208"/>
            <a:ext cx="502920" cy="0"/>
          </a:xfrm>
          <a:prstGeom prst="line">
            <a:avLst/>
          </a:prstGeom>
          <a:noFill/>
          <a:ln w="12700">
            <a:solidFill>
              <a:srgbClr val="C9D5E5"/>
            </a:solidFill>
            <a:prstDash val="solid"/>
            <a:headEnd type="none"/>
            <a:tailEnd type="none"/>
          </a:ln>
        </p:spPr>
      </p:sp>
      <p:sp>
        <p:nvSpPr>
          <p:cNvPr id="4" name="Text 2"/>
          <p:cNvSpPr/>
          <p:nvPr/>
        </p:nvSpPr>
        <p:spPr>
          <a:xfrm>
            <a:off x="1527048" y="365760"/>
            <a:ext cx="3291840" cy="292608"/>
          </a:xfrm>
          <a:prstGeom prst="rect">
            <a:avLst/>
          </a:prstGeom>
          <a:noFill/>
          <a:ln/>
        </p:spPr>
        <p:txBody>
          <a:bodyPr wrap="square" lIns="0" tIns="0" rIns="0" bIns="0" rtlCol="0" anchor="ctr">
            <a:normAutofit/>
          </a:bodyPr>
          <a:lstStyle/>
          <a:p>
            <a:pPr indent="0" marL="0">
              <a:buNone/>
            </a:pPr>
            <a:r>
              <a:rPr lang="en-US" sz="900" b="1" spc="150" kern="0" dirty="0">
                <a:solidFill>
                  <a:srgbClr val="426EDC"/>
                </a:solidFill>
                <a:latin typeface="Arial" pitchFamily="34" charset="0"/>
                <a:ea typeface="Arial" pitchFamily="34" charset="-122"/>
                <a:cs typeface="Arial" pitchFamily="34" charset="-120"/>
              </a:rPr>
              <a:t>ENGINEERING EVIDENCE</a:t>
            </a:r>
            <a:endParaRPr lang="en-US" sz="900" dirty="0"/>
          </a:p>
        </p:txBody>
      </p:sp>
      <p:sp>
        <p:nvSpPr>
          <p:cNvPr id="5" name="Text 3"/>
          <p:cNvSpPr/>
          <p:nvPr/>
        </p:nvSpPr>
        <p:spPr>
          <a:xfrm>
            <a:off x="502920" y="804672"/>
            <a:ext cx="11064240" cy="502920"/>
          </a:xfrm>
          <a:prstGeom prst="rect">
            <a:avLst/>
          </a:prstGeom>
          <a:noFill/>
          <a:ln/>
        </p:spPr>
        <p:txBody>
          <a:bodyPr wrap="square" lIns="0" tIns="0" rIns="0" bIns="0" rtlCol="0" anchor="ctr">
            <a:normAutofit/>
          </a:bodyPr>
          <a:lstStyle/>
          <a:p>
            <a:pPr indent="0" marL="0">
              <a:buNone/>
            </a:pPr>
            <a:r>
              <a:rPr lang="en-US" sz="2700" b="1" dirty="0">
                <a:solidFill>
                  <a:srgbClr val="14213D"/>
                </a:solidFill>
                <a:latin typeface="Arial" pitchFamily="34" charset="0"/>
                <a:ea typeface="Arial" pitchFamily="34" charset="-122"/>
                <a:cs typeface="Arial" pitchFamily="34" charset="-120"/>
              </a:rPr>
              <a:t>Verified in tests—and against a real phone</a:t>
            </a:r>
            <a:endParaRPr lang="en-US" sz="2700" dirty="0"/>
          </a:p>
        </p:txBody>
      </p:sp>
      <p:sp>
        <p:nvSpPr>
          <p:cNvPr id="6" name="Text 4"/>
          <p:cNvSpPr/>
          <p:nvPr/>
        </p:nvSpPr>
        <p:spPr>
          <a:xfrm>
            <a:off x="502920" y="1353312"/>
            <a:ext cx="10881360" cy="365760"/>
          </a:xfrm>
          <a:prstGeom prst="rect">
            <a:avLst/>
          </a:prstGeom>
          <a:noFill/>
          <a:ln/>
        </p:spPr>
        <p:txBody>
          <a:bodyPr wrap="square" lIns="0" tIns="0" rIns="0" bIns="0" rtlCol="0" anchor="ctr">
            <a:normAutofit/>
          </a:bodyPr>
          <a:lstStyle/>
          <a:p>
            <a:pPr indent="0" marL="0">
              <a:buNone/>
            </a:pPr>
            <a:r>
              <a:rPr lang="en-US" sz="1150" dirty="0">
                <a:solidFill>
                  <a:srgbClr val="5E708F"/>
                </a:solidFill>
                <a:latin typeface="Arial" pitchFamily="34" charset="0"/>
                <a:ea typeface="Arial" pitchFamily="34" charset="-122"/>
                <a:cs typeface="Arial" pitchFamily="34" charset="-120"/>
              </a:rPr>
              <a:t>Automated replay protects detector behavior while live checks prove the Phyphox integration path.</a:t>
            </a:r>
            <a:endParaRPr lang="en-US" sz="1150" dirty="0"/>
          </a:p>
        </p:txBody>
      </p:sp>
      <p:sp>
        <p:nvSpPr>
          <p:cNvPr id="7" name="Text 5"/>
          <p:cNvSpPr/>
          <p:nvPr/>
        </p:nvSpPr>
        <p:spPr>
          <a:xfrm>
            <a:off x="502920" y="6446520"/>
            <a:ext cx="2011680" cy="164592"/>
          </a:xfrm>
          <a:prstGeom prst="rect">
            <a:avLst/>
          </a:prstGeom>
          <a:noFill/>
          <a:ln/>
        </p:spPr>
        <p:txBody>
          <a:bodyPr wrap="square" lIns="0" tIns="0" rIns="0" bIns="0" rtlCol="0" anchor="ctr">
            <a:normAutofit/>
          </a:bodyPr>
          <a:lstStyle/>
          <a:p>
            <a:pPr indent="0" marL="0">
              <a:buNone/>
            </a:pPr>
            <a:r>
              <a:rPr lang="en-US" sz="800" b="1" dirty="0">
                <a:solidFill>
                  <a:srgbClr val="71819C"/>
                </a:solidFill>
                <a:latin typeface="Arial" pitchFamily="34" charset="0"/>
                <a:ea typeface="Arial" pitchFamily="34" charset="-122"/>
                <a:cs typeface="Arial" pitchFamily="34" charset="-120"/>
              </a:rPr>
              <a:t>FailureAntyTheft</a:t>
            </a:r>
            <a:endParaRPr lang="en-US" sz="800" dirty="0"/>
          </a:p>
        </p:txBody>
      </p:sp>
      <p:sp>
        <p:nvSpPr>
          <p:cNvPr id="8" name="Shape 6"/>
          <p:cNvSpPr/>
          <p:nvPr/>
        </p:nvSpPr>
        <p:spPr>
          <a:xfrm>
            <a:off x="502920" y="1938528"/>
            <a:ext cx="2468880" cy="1517904"/>
          </a:xfrm>
          <a:prstGeom prst="roundRect">
            <a:avLst>
              <a:gd name="adj" fmla="val 4819"/>
            </a:avLst>
          </a:prstGeom>
          <a:solidFill>
            <a:srgbClr val="FFFFFF"/>
          </a:solidFill>
          <a:ln w="12700">
            <a:solidFill>
              <a:srgbClr val="C9D5E5"/>
            </a:solidFill>
            <a:prstDash val="solid"/>
          </a:ln>
          <a:effectLst>
            <a:outerShdw sx="100000" sy="100000" kx="0" ky="0" algn="bl" rotWithShape="0" blurRad="1.8762931533940924e+78" dist="3.752586306788185e+78" dir="2.742118830047232e+92">
              <a:srgbClr val="000000">
                <a:alpha val="1.2000000000000001e+94"/>
              </a:srgbClr>
            </a:outerShdw>
          </a:effectLst>
        </p:spPr>
      </p:sp>
      <p:sp>
        <p:nvSpPr>
          <p:cNvPr id="9" name="Text 7"/>
          <p:cNvSpPr/>
          <p:nvPr/>
        </p:nvSpPr>
        <p:spPr>
          <a:xfrm>
            <a:off x="704088" y="2139696"/>
            <a:ext cx="2066544" cy="530352"/>
          </a:xfrm>
          <a:prstGeom prst="rect">
            <a:avLst/>
          </a:prstGeom>
          <a:noFill/>
          <a:ln/>
        </p:spPr>
        <p:txBody>
          <a:bodyPr wrap="square" lIns="0" tIns="0" rIns="0" bIns="0" rtlCol="0" anchor="ctr">
            <a:normAutofit/>
          </a:bodyPr>
          <a:lstStyle/>
          <a:p>
            <a:pPr indent="0" marL="0">
              <a:buNone/>
            </a:pPr>
            <a:r>
              <a:rPr lang="en-US" sz="2900" b="1" dirty="0">
                <a:solidFill>
                  <a:srgbClr val="078F68"/>
                </a:solidFill>
                <a:latin typeface="Arial" pitchFamily="34" charset="0"/>
                <a:ea typeface="Arial" pitchFamily="34" charset="-122"/>
                <a:cs typeface="Arial" pitchFamily="34" charset="-120"/>
              </a:rPr>
              <a:t>105</a:t>
            </a:r>
            <a:endParaRPr lang="en-US" sz="2900" dirty="0"/>
          </a:p>
        </p:txBody>
      </p:sp>
      <p:sp>
        <p:nvSpPr>
          <p:cNvPr id="10" name="Text 8"/>
          <p:cNvSpPr/>
          <p:nvPr/>
        </p:nvSpPr>
        <p:spPr>
          <a:xfrm>
            <a:off x="704088" y="2706624"/>
            <a:ext cx="2066544" cy="228600"/>
          </a:xfrm>
          <a:prstGeom prst="rect">
            <a:avLst/>
          </a:prstGeom>
          <a:noFill/>
          <a:ln/>
        </p:spPr>
        <p:txBody>
          <a:bodyPr wrap="square" lIns="0" tIns="0" rIns="0" bIns="0" rtlCol="0" anchor="ctr">
            <a:normAutofit/>
          </a:bodyPr>
          <a:lstStyle/>
          <a:p>
            <a:pPr indent="0" marL="0">
              <a:buNone/>
            </a:pPr>
            <a:r>
              <a:rPr lang="en-US" sz="1150" b="1" dirty="0">
                <a:solidFill>
                  <a:srgbClr val="14213D"/>
                </a:solidFill>
                <a:latin typeface="Arial" pitchFamily="34" charset="0"/>
                <a:ea typeface="Arial" pitchFamily="34" charset="-122"/>
                <a:cs typeface="Arial" pitchFamily="34" charset="-120"/>
              </a:rPr>
              <a:t>tests passed</a:t>
            </a:r>
            <a:endParaRPr lang="en-US" sz="1150" dirty="0"/>
          </a:p>
        </p:txBody>
      </p:sp>
      <p:sp>
        <p:nvSpPr>
          <p:cNvPr id="11" name="Text 9"/>
          <p:cNvSpPr/>
          <p:nvPr/>
        </p:nvSpPr>
        <p:spPr>
          <a:xfrm>
            <a:off x="704088" y="3008376"/>
            <a:ext cx="2066544" cy="201168"/>
          </a:xfrm>
          <a:prstGeom prst="rect">
            <a:avLst/>
          </a:prstGeom>
          <a:noFill/>
          <a:ln/>
        </p:spPr>
        <p:txBody>
          <a:bodyPr wrap="square" lIns="0" tIns="0" rIns="0" bIns="0" rtlCol="0" anchor="ctr">
            <a:normAutofit/>
          </a:bodyPr>
          <a:lstStyle/>
          <a:p>
            <a:pPr indent="0" marL="0">
              <a:buNone/>
            </a:pPr>
            <a:r>
              <a:rPr lang="en-US" sz="870" dirty="0">
                <a:solidFill>
                  <a:srgbClr val="5E708F"/>
                </a:solidFill>
                <a:latin typeface="Arial" pitchFamily="34" charset="0"/>
                <a:ea typeface="Arial" pitchFamily="34" charset="-122"/>
                <a:cs typeface="Arial" pitchFamily="34" charset="-120"/>
              </a:rPr>
              <a:t>1 environment-gated skip</a:t>
            </a:r>
            <a:endParaRPr lang="en-US" sz="870" dirty="0"/>
          </a:p>
        </p:txBody>
      </p:sp>
      <p:sp>
        <p:nvSpPr>
          <p:cNvPr id="12" name="Shape 10"/>
          <p:cNvSpPr/>
          <p:nvPr/>
        </p:nvSpPr>
        <p:spPr>
          <a:xfrm>
            <a:off x="3291840" y="1938528"/>
            <a:ext cx="2468880" cy="1517904"/>
          </a:xfrm>
          <a:prstGeom prst="roundRect">
            <a:avLst>
              <a:gd name="adj" fmla="val 4819"/>
            </a:avLst>
          </a:prstGeom>
          <a:solidFill>
            <a:srgbClr val="FFFFFF"/>
          </a:solidFill>
          <a:ln w="12700">
            <a:solidFill>
              <a:srgbClr val="C9D5E5"/>
            </a:solidFill>
            <a:prstDash val="solid"/>
          </a:ln>
          <a:effectLst>
            <a:outerShdw sx="100000" sy="100000" kx="0" ky="0" algn="bl" rotWithShape="0" blurRad="2.3828923048104974e+82" dist="4.765784609620995e+82" dir="1.6452712980283393e+97">
              <a:srgbClr val="000000">
                <a:alpha val="1.2e+99"/>
              </a:srgbClr>
            </a:outerShdw>
          </a:effectLst>
        </p:spPr>
      </p:sp>
      <p:sp>
        <p:nvSpPr>
          <p:cNvPr id="13" name="Text 11"/>
          <p:cNvSpPr/>
          <p:nvPr/>
        </p:nvSpPr>
        <p:spPr>
          <a:xfrm>
            <a:off x="3493008" y="2139696"/>
            <a:ext cx="2066544" cy="530352"/>
          </a:xfrm>
          <a:prstGeom prst="rect">
            <a:avLst/>
          </a:prstGeom>
          <a:noFill/>
          <a:ln/>
        </p:spPr>
        <p:txBody>
          <a:bodyPr wrap="square" lIns="0" tIns="0" rIns="0" bIns="0" rtlCol="0" anchor="ctr">
            <a:normAutofit/>
          </a:bodyPr>
          <a:lstStyle/>
          <a:p>
            <a:pPr indent="0" marL="0">
              <a:buNone/>
            </a:pPr>
            <a:r>
              <a:rPr lang="en-US" sz="2900" b="1" dirty="0">
                <a:solidFill>
                  <a:srgbClr val="356AE6"/>
                </a:solidFill>
                <a:latin typeface="Arial" pitchFamily="34" charset="0"/>
                <a:ea typeface="Arial" pitchFamily="34" charset="-122"/>
                <a:cs typeface="Arial" pitchFamily="34" charset="-120"/>
              </a:rPr>
              <a:t>84%</a:t>
            </a:r>
            <a:endParaRPr lang="en-US" sz="2900" dirty="0"/>
          </a:p>
        </p:txBody>
      </p:sp>
      <p:sp>
        <p:nvSpPr>
          <p:cNvPr id="14" name="Text 12"/>
          <p:cNvSpPr/>
          <p:nvPr/>
        </p:nvSpPr>
        <p:spPr>
          <a:xfrm>
            <a:off x="3493008" y="2706624"/>
            <a:ext cx="2066544" cy="228600"/>
          </a:xfrm>
          <a:prstGeom prst="rect">
            <a:avLst/>
          </a:prstGeom>
          <a:noFill/>
          <a:ln/>
        </p:spPr>
        <p:txBody>
          <a:bodyPr wrap="square" lIns="0" tIns="0" rIns="0" bIns="0" rtlCol="0" anchor="ctr">
            <a:normAutofit/>
          </a:bodyPr>
          <a:lstStyle/>
          <a:p>
            <a:pPr indent="0" marL="0">
              <a:buNone/>
            </a:pPr>
            <a:r>
              <a:rPr lang="en-US" sz="1150" b="1" dirty="0">
                <a:solidFill>
                  <a:srgbClr val="14213D"/>
                </a:solidFill>
                <a:latin typeface="Arial" pitchFamily="34" charset="0"/>
                <a:ea typeface="Arial" pitchFamily="34" charset="-122"/>
                <a:cs typeface="Arial" pitchFamily="34" charset="-120"/>
              </a:rPr>
              <a:t>coverage at handoff</a:t>
            </a:r>
            <a:endParaRPr lang="en-US" sz="1150" dirty="0"/>
          </a:p>
        </p:txBody>
      </p:sp>
      <p:sp>
        <p:nvSpPr>
          <p:cNvPr id="15" name="Text 13"/>
          <p:cNvSpPr/>
          <p:nvPr/>
        </p:nvSpPr>
        <p:spPr>
          <a:xfrm>
            <a:off x="3493008" y="3008376"/>
            <a:ext cx="2066544" cy="201168"/>
          </a:xfrm>
          <a:prstGeom prst="rect">
            <a:avLst/>
          </a:prstGeom>
          <a:noFill/>
          <a:ln/>
        </p:spPr>
        <p:txBody>
          <a:bodyPr wrap="square" lIns="0" tIns="0" rIns="0" bIns="0" rtlCol="0" anchor="ctr">
            <a:normAutofit/>
          </a:bodyPr>
          <a:lstStyle/>
          <a:p>
            <a:pPr indent="0" marL="0">
              <a:buNone/>
            </a:pPr>
            <a:r>
              <a:rPr lang="en-US" sz="870" dirty="0">
                <a:solidFill>
                  <a:srgbClr val="5E708F"/>
                </a:solidFill>
                <a:latin typeface="Arial" pitchFamily="34" charset="0"/>
                <a:ea typeface="Arial" pitchFamily="34" charset="-122"/>
                <a:cs typeface="Arial" pitchFamily="34" charset="-120"/>
              </a:rPr>
              <a:t>Core detector: 94%</a:t>
            </a:r>
            <a:endParaRPr lang="en-US" sz="870" dirty="0"/>
          </a:p>
        </p:txBody>
      </p:sp>
      <p:sp>
        <p:nvSpPr>
          <p:cNvPr id="16" name="Shape 14"/>
          <p:cNvSpPr/>
          <p:nvPr/>
        </p:nvSpPr>
        <p:spPr>
          <a:xfrm>
            <a:off x="6080760" y="1938528"/>
            <a:ext cx="2468880" cy="1517904"/>
          </a:xfrm>
          <a:prstGeom prst="roundRect">
            <a:avLst>
              <a:gd name="adj" fmla="val 4819"/>
            </a:avLst>
          </a:prstGeom>
          <a:solidFill>
            <a:srgbClr val="FFFFFF"/>
          </a:solidFill>
          <a:ln w="12700">
            <a:solidFill>
              <a:srgbClr val="C9D5E5"/>
            </a:solidFill>
            <a:prstDash val="solid"/>
          </a:ln>
          <a:effectLst>
            <a:outerShdw sx="100000" sy="100000" kx="0" ky="0" algn="bl" rotWithShape="0" blurRad="3.0262732271093317e+86" dist="6.052546454218663e+86" dir="9.871627788170037e+101">
              <a:srgbClr val="000000">
                <a:alpha val="1.2e+104"/>
              </a:srgbClr>
            </a:outerShdw>
          </a:effectLst>
        </p:spPr>
      </p:sp>
      <p:sp>
        <p:nvSpPr>
          <p:cNvPr id="17" name="Text 15"/>
          <p:cNvSpPr/>
          <p:nvPr/>
        </p:nvSpPr>
        <p:spPr>
          <a:xfrm>
            <a:off x="6281928" y="2139696"/>
            <a:ext cx="2066544" cy="530352"/>
          </a:xfrm>
          <a:prstGeom prst="rect">
            <a:avLst/>
          </a:prstGeom>
          <a:noFill/>
          <a:ln/>
        </p:spPr>
        <p:txBody>
          <a:bodyPr wrap="square" lIns="0" tIns="0" rIns="0" bIns="0" rtlCol="0" anchor="ctr">
            <a:normAutofit/>
          </a:bodyPr>
          <a:lstStyle/>
          <a:p>
            <a:pPr indent="0" marL="0">
              <a:buNone/>
            </a:pPr>
            <a:r>
              <a:rPr lang="en-US" sz="2900" b="1" dirty="0">
                <a:solidFill>
                  <a:srgbClr val="118AB2"/>
                </a:solidFill>
                <a:latin typeface="Arial" pitchFamily="34" charset="0"/>
                <a:ea typeface="Arial" pitchFamily="34" charset="-122"/>
                <a:cs typeface="Arial" pitchFamily="34" charset="-120"/>
              </a:rPr>
              <a:t>200</a:t>
            </a:r>
            <a:endParaRPr lang="en-US" sz="2900" dirty="0"/>
          </a:p>
        </p:txBody>
      </p:sp>
      <p:sp>
        <p:nvSpPr>
          <p:cNvPr id="18" name="Text 16"/>
          <p:cNvSpPr/>
          <p:nvPr/>
        </p:nvSpPr>
        <p:spPr>
          <a:xfrm>
            <a:off x="6281928" y="2706624"/>
            <a:ext cx="2066544" cy="228600"/>
          </a:xfrm>
          <a:prstGeom prst="rect">
            <a:avLst/>
          </a:prstGeom>
          <a:noFill/>
          <a:ln/>
        </p:spPr>
        <p:txBody>
          <a:bodyPr wrap="square" lIns="0" tIns="0" rIns="0" bIns="0" rtlCol="0" anchor="ctr">
            <a:normAutofit/>
          </a:bodyPr>
          <a:lstStyle/>
          <a:p>
            <a:pPr indent="0" marL="0">
              <a:buNone/>
            </a:pPr>
            <a:r>
              <a:rPr lang="en-US" sz="1150" b="1" dirty="0">
                <a:solidFill>
                  <a:srgbClr val="14213D"/>
                </a:solidFill>
                <a:latin typeface="Arial" pitchFamily="34" charset="0"/>
                <a:ea typeface="Arial" pitchFamily="34" charset="-122"/>
                <a:cs typeface="Arial" pitchFamily="34" charset="-120"/>
              </a:rPr>
              <a:t>live /config status</a:t>
            </a:r>
            <a:endParaRPr lang="en-US" sz="1150" dirty="0"/>
          </a:p>
        </p:txBody>
      </p:sp>
      <p:sp>
        <p:nvSpPr>
          <p:cNvPr id="19" name="Text 17"/>
          <p:cNvSpPr/>
          <p:nvPr/>
        </p:nvSpPr>
        <p:spPr>
          <a:xfrm>
            <a:off x="6281928" y="3008376"/>
            <a:ext cx="2066544" cy="201168"/>
          </a:xfrm>
          <a:prstGeom prst="rect">
            <a:avLst/>
          </a:prstGeom>
          <a:noFill/>
          <a:ln/>
        </p:spPr>
        <p:txBody>
          <a:bodyPr wrap="square" lIns="0" tIns="0" rIns="0" bIns="0" rtlCol="0" anchor="ctr">
            <a:normAutofit/>
          </a:bodyPr>
          <a:lstStyle/>
          <a:p>
            <a:pPr indent="0" marL="0">
              <a:buNone/>
            </a:pPr>
            <a:r>
              <a:rPr lang="en-US" sz="870" dirty="0">
                <a:solidFill>
                  <a:srgbClr val="5E708F"/>
                </a:solidFill>
                <a:latin typeface="Arial" pitchFamily="34" charset="0"/>
                <a:ea typeface="Arial" pitchFamily="34" charset="-122"/>
                <a:cs typeface="Arial" pitchFamily="34" charset="-120"/>
              </a:rPr>
              <a:t>Phone measuring = true</a:t>
            </a:r>
            <a:endParaRPr lang="en-US" sz="870" dirty="0"/>
          </a:p>
        </p:txBody>
      </p:sp>
      <p:sp>
        <p:nvSpPr>
          <p:cNvPr id="20" name="Shape 18"/>
          <p:cNvSpPr/>
          <p:nvPr/>
        </p:nvSpPr>
        <p:spPr>
          <a:xfrm>
            <a:off x="8869680" y="1938528"/>
            <a:ext cx="2468880" cy="1517904"/>
          </a:xfrm>
          <a:prstGeom prst="roundRect">
            <a:avLst>
              <a:gd name="adj" fmla="val 4819"/>
            </a:avLst>
          </a:prstGeom>
          <a:solidFill>
            <a:srgbClr val="FFFFFF"/>
          </a:solidFill>
          <a:ln w="12700">
            <a:solidFill>
              <a:srgbClr val="C9D5E5"/>
            </a:solidFill>
            <a:prstDash val="solid"/>
          </a:ln>
          <a:effectLst>
            <a:outerShdw sx="100000" sy="100000" kx="0" ky="0" algn="bl" rotWithShape="0" blurRad="3.8433669984288512e+90" dist="7.6867339968577025e+90" dir="5.9229766729020215e+106">
              <a:srgbClr val="000000">
                <a:alpha val="1.2e+109"/>
              </a:srgbClr>
            </a:outerShdw>
          </a:effectLst>
        </p:spPr>
      </p:sp>
      <p:sp>
        <p:nvSpPr>
          <p:cNvPr id="21" name="Text 19"/>
          <p:cNvSpPr/>
          <p:nvPr/>
        </p:nvSpPr>
        <p:spPr>
          <a:xfrm>
            <a:off x="9070848" y="2139696"/>
            <a:ext cx="2066544" cy="530352"/>
          </a:xfrm>
          <a:prstGeom prst="rect">
            <a:avLst/>
          </a:prstGeom>
          <a:noFill/>
          <a:ln/>
        </p:spPr>
        <p:txBody>
          <a:bodyPr wrap="square" lIns="0" tIns="0" rIns="0" bIns="0" rtlCol="0" anchor="ctr">
            <a:normAutofit/>
          </a:bodyPr>
          <a:lstStyle/>
          <a:p>
            <a:pPr indent="0" marL="0">
              <a:buNone/>
            </a:pPr>
            <a:r>
              <a:rPr lang="en-US" sz="2900" b="1" dirty="0">
                <a:solidFill>
                  <a:srgbClr val="7048CA"/>
                </a:solidFill>
                <a:latin typeface="Arial" pitchFamily="34" charset="0"/>
                <a:ea typeface="Arial" pitchFamily="34" charset="-122"/>
                <a:cs typeface="Arial" pitchFamily="34" charset="-120"/>
              </a:rPr>
              <a:t>4</a:t>
            </a:r>
            <a:endParaRPr lang="en-US" sz="2900" dirty="0"/>
          </a:p>
        </p:txBody>
      </p:sp>
      <p:sp>
        <p:nvSpPr>
          <p:cNvPr id="22" name="Text 20"/>
          <p:cNvSpPr/>
          <p:nvPr/>
        </p:nvSpPr>
        <p:spPr>
          <a:xfrm>
            <a:off x="9070848" y="2706624"/>
            <a:ext cx="2066544" cy="228600"/>
          </a:xfrm>
          <a:prstGeom prst="rect">
            <a:avLst/>
          </a:prstGeom>
          <a:noFill/>
          <a:ln/>
        </p:spPr>
        <p:txBody>
          <a:bodyPr wrap="square" lIns="0" tIns="0" rIns="0" bIns="0" rtlCol="0" anchor="ctr">
            <a:normAutofit/>
          </a:bodyPr>
          <a:lstStyle/>
          <a:p>
            <a:pPr indent="0" marL="0">
              <a:buNone/>
            </a:pPr>
            <a:r>
              <a:rPr lang="en-US" sz="1150" b="1" dirty="0">
                <a:solidFill>
                  <a:srgbClr val="14213D"/>
                </a:solidFill>
                <a:latin typeface="Arial" pitchFamily="34" charset="0"/>
                <a:ea typeface="Arial" pitchFamily="34" charset="-122"/>
                <a:cs typeface="Arial" pitchFamily="34" charset="-120"/>
              </a:rPr>
              <a:t>verified buffers</a:t>
            </a:r>
            <a:endParaRPr lang="en-US" sz="1150" dirty="0"/>
          </a:p>
        </p:txBody>
      </p:sp>
      <p:sp>
        <p:nvSpPr>
          <p:cNvPr id="23" name="Text 21"/>
          <p:cNvSpPr/>
          <p:nvPr/>
        </p:nvSpPr>
        <p:spPr>
          <a:xfrm>
            <a:off x="9070848" y="3008376"/>
            <a:ext cx="2066544" cy="201168"/>
          </a:xfrm>
          <a:prstGeom prst="rect">
            <a:avLst/>
          </a:prstGeom>
          <a:noFill/>
          <a:ln/>
        </p:spPr>
        <p:txBody>
          <a:bodyPr wrap="square" lIns="0" tIns="0" rIns="0" bIns="0" rtlCol="0" anchor="ctr">
            <a:normAutofit/>
          </a:bodyPr>
          <a:lstStyle/>
          <a:p>
            <a:pPr indent="0" marL="0">
              <a:buNone/>
            </a:pPr>
            <a:r>
              <a:rPr lang="en-US" sz="870" dirty="0">
                <a:solidFill>
                  <a:srgbClr val="5E708F"/>
                </a:solidFill>
                <a:latin typeface="Arial" pitchFamily="34" charset="0"/>
                <a:ea typeface="Arial" pitchFamily="34" charset="-122"/>
                <a:cs typeface="Arial" pitchFamily="34" charset="-120"/>
              </a:rPr>
              <a:t>acc_time + accX/Y/Z</a:t>
            </a:r>
            <a:endParaRPr lang="en-US" sz="870" dirty="0"/>
          </a:p>
        </p:txBody>
      </p:sp>
      <p:sp>
        <p:nvSpPr>
          <p:cNvPr id="24" name="Shape 22"/>
          <p:cNvSpPr/>
          <p:nvPr/>
        </p:nvSpPr>
        <p:spPr>
          <a:xfrm>
            <a:off x="502920" y="3803904"/>
            <a:ext cx="6693408" cy="1993392"/>
          </a:xfrm>
          <a:prstGeom prst="roundRect">
            <a:avLst>
              <a:gd name="adj" fmla="val 3670"/>
            </a:avLst>
          </a:prstGeom>
          <a:solidFill>
            <a:srgbClr val="FFFFFF"/>
          </a:solidFill>
          <a:ln w="12700">
            <a:solidFill>
              <a:srgbClr val="C9D5E5"/>
            </a:solidFill>
            <a:prstDash val="solid"/>
          </a:ln>
        </p:spPr>
      </p:sp>
      <p:sp>
        <p:nvSpPr>
          <p:cNvPr id="25" name="Text 23"/>
          <p:cNvSpPr/>
          <p:nvPr/>
        </p:nvSpPr>
        <p:spPr>
          <a:xfrm>
            <a:off x="786384" y="4069080"/>
            <a:ext cx="1828800" cy="301752"/>
          </a:xfrm>
          <a:prstGeom prst="rect">
            <a:avLst/>
          </a:prstGeom>
          <a:noFill/>
          <a:ln/>
        </p:spPr>
        <p:txBody>
          <a:bodyPr wrap="square" lIns="0" tIns="0" rIns="0" bIns="0" rtlCol="0" anchor="ctr">
            <a:normAutofit/>
          </a:bodyPr>
          <a:lstStyle/>
          <a:p>
            <a:pPr indent="0" marL="0">
              <a:buNone/>
            </a:pPr>
            <a:r>
              <a:rPr lang="en-US" sz="1700" b="1" dirty="0">
                <a:solidFill>
                  <a:srgbClr val="14213D"/>
                </a:solidFill>
                <a:latin typeface="Arial" pitchFamily="34" charset="0"/>
                <a:ea typeface="Arial" pitchFamily="34" charset="-122"/>
                <a:cs typeface="Arial" pitchFamily="34" charset="-120"/>
              </a:rPr>
              <a:t>Test strategy</a:t>
            </a:r>
            <a:endParaRPr lang="en-US" sz="1700" dirty="0"/>
          </a:p>
        </p:txBody>
      </p:sp>
      <p:sp>
        <p:nvSpPr>
          <p:cNvPr id="26" name="Shape 24"/>
          <p:cNvSpPr/>
          <p:nvPr/>
        </p:nvSpPr>
        <p:spPr>
          <a:xfrm>
            <a:off x="804672" y="4608576"/>
            <a:ext cx="137160" cy="137160"/>
          </a:xfrm>
          <a:prstGeom prst="ellipse">
            <a:avLst/>
          </a:prstGeom>
          <a:solidFill>
            <a:srgbClr val="078F68"/>
          </a:solidFill>
          <a:ln w="12700">
            <a:solidFill>
              <a:srgbClr val="078F68"/>
            </a:solidFill>
            <a:prstDash val="solid"/>
          </a:ln>
        </p:spPr>
      </p:sp>
      <p:sp>
        <p:nvSpPr>
          <p:cNvPr id="27" name="Text 25"/>
          <p:cNvSpPr/>
          <p:nvPr/>
        </p:nvSpPr>
        <p:spPr>
          <a:xfrm>
            <a:off x="1060704" y="4480560"/>
            <a:ext cx="5614416" cy="237744"/>
          </a:xfrm>
          <a:prstGeom prst="rect">
            <a:avLst/>
          </a:prstGeom>
          <a:noFill/>
          <a:ln/>
        </p:spPr>
        <p:txBody>
          <a:bodyPr wrap="square" lIns="0" tIns="0" rIns="0" bIns="0" rtlCol="0" anchor="ctr">
            <a:normAutofit/>
          </a:bodyPr>
          <a:lstStyle/>
          <a:p>
            <a:pPr indent="0" marL="0">
              <a:buNone/>
            </a:pPr>
            <a:r>
              <a:rPr lang="en-US" sz="1050" b="1" dirty="0">
                <a:solidFill>
                  <a:srgbClr val="14213D"/>
                </a:solidFill>
                <a:latin typeface="Arial" pitchFamily="34" charset="0"/>
                <a:ea typeface="Arial" pitchFamily="34" charset="-122"/>
                <a:cs typeface="Arial" pitchFamily="34" charset="-120"/>
              </a:rPr>
              <a:t>Pure detector unit tests</a:t>
            </a:r>
            <a:endParaRPr lang="en-US" sz="1050" dirty="0"/>
          </a:p>
        </p:txBody>
      </p:sp>
      <p:sp>
        <p:nvSpPr>
          <p:cNvPr id="28" name="Text 26"/>
          <p:cNvSpPr/>
          <p:nvPr/>
        </p:nvSpPr>
        <p:spPr>
          <a:xfrm>
            <a:off x="1060704" y="4727448"/>
            <a:ext cx="5614416" cy="137160"/>
          </a:xfrm>
          <a:prstGeom prst="rect">
            <a:avLst/>
          </a:prstGeom>
          <a:noFill/>
          <a:ln/>
        </p:spPr>
        <p:txBody>
          <a:bodyPr wrap="square" lIns="0" tIns="0" rIns="0" bIns="0" rtlCol="0" anchor="t">
            <a:normAutofit/>
          </a:bodyPr>
          <a:lstStyle/>
          <a:p>
            <a:pPr indent="0" marL="0">
              <a:buNone/>
            </a:pPr>
            <a:r>
              <a:rPr lang="en-US" sz="850" dirty="0">
                <a:solidFill>
                  <a:srgbClr val="5E708F"/>
                </a:solidFill>
                <a:latin typeface="Arial" pitchFamily="34" charset="0"/>
                <a:ea typeface="Arial" pitchFamily="34" charset="-122"/>
                <a:cs typeface="Arial" pitchFamily="34" charset="-120"/>
              </a:rPr>
              <a:t>Calibration, noise filtering, crossings and transitions.</a:t>
            </a:r>
            <a:endParaRPr lang="en-US" sz="850" dirty="0"/>
          </a:p>
        </p:txBody>
      </p:sp>
      <p:sp>
        <p:nvSpPr>
          <p:cNvPr id="29" name="Shape 27"/>
          <p:cNvSpPr/>
          <p:nvPr/>
        </p:nvSpPr>
        <p:spPr>
          <a:xfrm>
            <a:off x="804672" y="5001768"/>
            <a:ext cx="137160" cy="137160"/>
          </a:xfrm>
          <a:prstGeom prst="ellipse">
            <a:avLst/>
          </a:prstGeom>
          <a:solidFill>
            <a:srgbClr val="078F68"/>
          </a:solidFill>
          <a:ln w="12700">
            <a:solidFill>
              <a:srgbClr val="078F68"/>
            </a:solidFill>
            <a:prstDash val="solid"/>
          </a:ln>
        </p:spPr>
      </p:sp>
      <p:sp>
        <p:nvSpPr>
          <p:cNvPr id="30" name="Text 28"/>
          <p:cNvSpPr/>
          <p:nvPr/>
        </p:nvSpPr>
        <p:spPr>
          <a:xfrm>
            <a:off x="1060704" y="4873752"/>
            <a:ext cx="5614416" cy="237744"/>
          </a:xfrm>
          <a:prstGeom prst="rect">
            <a:avLst/>
          </a:prstGeom>
          <a:noFill/>
          <a:ln/>
        </p:spPr>
        <p:txBody>
          <a:bodyPr wrap="square" lIns="0" tIns="0" rIns="0" bIns="0" rtlCol="0" anchor="ctr">
            <a:normAutofit/>
          </a:bodyPr>
          <a:lstStyle/>
          <a:p>
            <a:pPr indent="0" marL="0">
              <a:buNone/>
            </a:pPr>
            <a:r>
              <a:rPr lang="en-US" sz="1050" b="1" dirty="0">
                <a:solidFill>
                  <a:srgbClr val="14213D"/>
                </a:solidFill>
                <a:latin typeface="Arial" pitchFamily="34" charset="0"/>
                <a:ea typeface="Arial" pitchFamily="34" charset="-122"/>
                <a:cs typeface="Arial" pitchFamily="34" charset="-120"/>
              </a:rPr>
              <a:t>Recorded-shape replay</a:t>
            </a:r>
            <a:endParaRPr lang="en-US" sz="1050" dirty="0"/>
          </a:p>
        </p:txBody>
      </p:sp>
      <p:sp>
        <p:nvSpPr>
          <p:cNvPr id="31" name="Text 29"/>
          <p:cNvSpPr/>
          <p:nvPr/>
        </p:nvSpPr>
        <p:spPr>
          <a:xfrm>
            <a:off x="1060704" y="5120640"/>
            <a:ext cx="5614416" cy="137160"/>
          </a:xfrm>
          <a:prstGeom prst="rect">
            <a:avLst/>
          </a:prstGeom>
          <a:noFill/>
          <a:ln/>
        </p:spPr>
        <p:txBody>
          <a:bodyPr wrap="square" lIns="0" tIns="0" rIns="0" bIns="0" rtlCol="0" anchor="t">
            <a:normAutofit/>
          </a:bodyPr>
          <a:lstStyle/>
          <a:p>
            <a:pPr indent="0" marL="0">
              <a:buNone/>
            </a:pPr>
            <a:r>
              <a:rPr lang="en-US" sz="850" dirty="0">
                <a:solidFill>
                  <a:srgbClr val="5E708F"/>
                </a:solidFill>
                <a:latin typeface="Arial" pitchFamily="34" charset="0"/>
                <a:ea typeface="Arial" pitchFamily="34" charset="-122"/>
                <a:cs typeface="Arial" pitchFamily="34" charset="-120"/>
              </a:rPr>
              <a:t>Stationary data stays quiet; movement triggers exactly once.</a:t>
            </a:r>
            <a:endParaRPr lang="en-US" sz="850" dirty="0"/>
          </a:p>
        </p:txBody>
      </p:sp>
      <p:sp>
        <p:nvSpPr>
          <p:cNvPr id="32" name="Shape 30"/>
          <p:cNvSpPr/>
          <p:nvPr/>
        </p:nvSpPr>
        <p:spPr>
          <a:xfrm>
            <a:off x="804672" y="5394960"/>
            <a:ext cx="137160" cy="137160"/>
          </a:xfrm>
          <a:prstGeom prst="ellipse">
            <a:avLst/>
          </a:prstGeom>
          <a:solidFill>
            <a:srgbClr val="078F68"/>
          </a:solidFill>
          <a:ln w="12700">
            <a:solidFill>
              <a:srgbClr val="078F68"/>
            </a:solidFill>
            <a:prstDash val="solid"/>
          </a:ln>
        </p:spPr>
      </p:sp>
      <p:sp>
        <p:nvSpPr>
          <p:cNvPr id="33" name="Text 31"/>
          <p:cNvSpPr/>
          <p:nvPr/>
        </p:nvSpPr>
        <p:spPr>
          <a:xfrm>
            <a:off x="1060704" y="5266944"/>
            <a:ext cx="5614416" cy="237744"/>
          </a:xfrm>
          <a:prstGeom prst="rect">
            <a:avLst/>
          </a:prstGeom>
          <a:noFill/>
          <a:ln/>
        </p:spPr>
        <p:txBody>
          <a:bodyPr wrap="square" lIns="0" tIns="0" rIns="0" bIns="0" rtlCol="0" anchor="ctr">
            <a:normAutofit/>
          </a:bodyPr>
          <a:lstStyle/>
          <a:p>
            <a:pPr indent="0" marL="0">
              <a:buNone/>
            </a:pPr>
            <a:r>
              <a:rPr lang="en-US" sz="1050" b="1" dirty="0">
                <a:solidFill>
                  <a:srgbClr val="14213D"/>
                </a:solidFill>
                <a:latin typeface="Arial" pitchFamily="34" charset="0"/>
                <a:ea typeface="Arial" pitchFamily="34" charset="-122"/>
                <a:cs typeface="Arial" pitchFamily="34" charset="-120"/>
              </a:rPr>
              <a:t>Integration checks</a:t>
            </a:r>
            <a:endParaRPr lang="en-US" sz="1050" dirty="0"/>
          </a:p>
        </p:txBody>
      </p:sp>
      <p:sp>
        <p:nvSpPr>
          <p:cNvPr id="34" name="Text 32"/>
          <p:cNvSpPr/>
          <p:nvPr/>
        </p:nvSpPr>
        <p:spPr>
          <a:xfrm>
            <a:off x="1060704" y="5513832"/>
            <a:ext cx="5614416" cy="137160"/>
          </a:xfrm>
          <a:prstGeom prst="rect">
            <a:avLst/>
          </a:prstGeom>
          <a:noFill/>
          <a:ln/>
        </p:spPr>
        <p:txBody>
          <a:bodyPr wrap="square" lIns="0" tIns="0" rIns="0" bIns="0" rtlCol="0" anchor="t">
            <a:normAutofit/>
          </a:bodyPr>
          <a:lstStyle/>
          <a:p>
            <a:pPr indent="0" marL="0">
              <a:buNone/>
            </a:pPr>
            <a:r>
              <a:rPr lang="en-US" sz="850" dirty="0">
                <a:solidFill>
                  <a:srgbClr val="5E708F"/>
                </a:solidFill>
                <a:latin typeface="Arial" pitchFamily="34" charset="0"/>
                <a:ea typeface="Arial" pitchFamily="34" charset="-122"/>
                <a:cs typeface="Arial" pitchFamily="34" charset="-120"/>
              </a:rPr>
              <a:t>Repository, API, runtime, WebSocket assets and live MQTT round-trip.</a:t>
            </a:r>
            <a:endParaRPr lang="en-US" sz="850" dirty="0"/>
          </a:p>
        </p:txBody>
      </p:sp>
      <p:sp>
        <p:nvSpPr>
          <p:cNvPr id="35" name="Shape 33"/>
          <p:cNvSpPr/>
          <p:nvPr/>
        </p:nvSpPr>
        <p:spPr>
          <a:xfrm>
            <a:off x="7516368" y="3803904"/>
            <a:ext cx="3776472" cy="1993392"/>
          </a:xfrm>
          <a:prstGeom prst="roundRect">
            <a:avLst>
              <a:gd name="adj" fmla="val 3670"/>
            </a:avLst>
          </a:prstGeom>
          <a:solidFill>
            <a:srgbClr val="EEF3FA"/>
          </a:solidFill>
          <a:ln w="17780">
            <a:solidFill>
              <a:srgbClr val="356AE6"/>
            </a:solidFill>
            <a:prstDash val="solid"/>
          </a:ln>
        </p:spPr>
      </p:sp>
      <p:sp>
        <p:nvSpPr>
          <p:cNvPr id="36" name="Text 34"/>
          <p:cNvSpPr/>
          <p:nvPr/>
        </p:nvSpPr>
        <p:spPr>
          <a:xfrm>
            <a:off x="7808976" y="4096512"/>
            <a:ext cx="1645920" cy="201168"/>
          </a:xfrm>
          <a:prstGeom prst="rect">
            <a:avLst/>
          </a:prstGeom>
          <a:noFill/>
          <a:ln/>
        </p:spPr>
        <p:txBody>
          <a:bodyPr wrap="square" lIns="0" tIns="0" rIns="0" bIns="0" rtlCol="0" anchor="ctr">
            <a:normAutofit/>
          </a:bodyPr>
          <a:lstStyle/>
          <a:p>
            <a:pPr indent="0" marL="0">
              <a:buNone/>
            </a:pPr>
            <a:r>
              <a:rPr lang="en-US" sz="800" b="1" spc="100" kern="0" dirty="0">
                <a:solidFill>
                  <a:srgbClr val="426EDC"/>
                </a:solidFill>
                <a:latin typeface="Arial" pitchFamily="34" charset="0"/>
                <a:ea typeface="Arial" pitchFamily="34" charset="-122"/>
                <a:cs typeface="Arial" pitchFamily="34" charset="-120"/>
              </a:rPr>
              <a:t>LIVE PHONE RESULT</a:t>
            </a:r>
            <a:endParaRPr lang="en-US" sz="800" dirty="0"/>
          </a:p>
        </p:txBody>
      </p:sp>
      <p:sp>
        <p:nvSpPr>
          <p:cNvPr id="37" name="Text 35"/>
          <p:cNvSpPr/>
          <p:nvPr/>
        </p:nvSpPr>
        <p:spPr>
          <a:xfrm>
            <a:off x="7808976" y="4462272"/>
            <a:ext cx="1828800" cy="329184"/>
          </a:xfrm>
          <a:prstGeom prst="rect">
            <a:avLst/>
          </a:prstGeom>
          <a:noFill/>
          <a:ln/>
        </p:spPr>
        <p:txBody>
          <a:bodyPr wrap="square" lIns="0" tIns="0" rIns="0" bIns="0" rtlCol="0" anchor="ctr">
            <a:normAutofit/>
          </a:bodyPr>
          <a:lstStyle/>
          <a:p>
            <a:pPr indent="0" marL="0">
              <a:buNone/>
            </a:pPr>
            <a:r>
              <a:rPr lang="en-US" sz="2100" b="1" dirty="0">
                <a:solidFill>
                  <a:srgbClr val="14213D"/>
                </a:solidFill>
                <a:latin typeface="Arial" pitchFamily="34" charset="0"/>
                <a:ea typeface="Arial" pitchFamily="34" charset="-122"/>
                <a:cs typeface="Arial" pitchFamily="34" charset="-120"/>
              </a:rPr>
              <a:t>Saikat</a:t>
            </a:r>
            <a:endParaRPr lang="en-US" sz="2100" dirty="0"/>
          </a:p>
        </p:txBody>
      </p:sp>
      <p:sp>
        <p:nvSpPr>
          <p:cNvPr id="38" name="Shape 36"/>
          <p:cNvSpPr/>
          <p:nvPr/>
        </p:nvSpPr>
        <p:spPr>
          <a:xfrm>
            <a:off x="9308592" y="4471416"/>
            <a:ext cx="1572768" cy="310896"/>
          </a:xfrm>
          <a:prstGeom prst="roundRect">
            <a:avLst>
              <a:gd name="adj" fmla="val 23529"/>
            </a:avLst>
          </a:prstGeom>
          <a:solidFill>
            <a:srgbClr val="EEF3FA"/>
          </a:solidFill>
          <a:ln w="12700">
            <a:solidFill>
              <a:srgbClr val="078F68"/>
            </a:solidFill>
            <a:prstDash val="solid"/>
          </a:ln>
        </p:spPr>
      </p:sp>
      <p:sp>
        <p:nvSpPr>
          <p:cNvPr id="39" name="Text 37"/>
          <p:cNvSpPr/>
          <p:nvPr/>
        </p:nvSpPr>
        <p:spPr>
          <a:xfrm>
            <a:off x="9381744" y="4489704"/>
            <a:ext cx="1426464" cy="256032"/>
          </a:xfrm>
          <a:prstGeom prst="rect">
            <a:avLst/>
          </a:prstGeom>
          <a:noFill/>
          <a:ln/>
        </p:spPr>
        <p:txBody>
          <a:bodyPr wrap="square" lIns="0" tIns="0" rIns="0" bIns="0" rtlCol="0" anchor="ctr">
            <a:normAutofit/>
          </a:bodyPr>
          <a:lstStyle/>
          <a:p>
            <a:pPr algn="ctr" indent="0" marL="0">
              <a:buNone/>
            </a:pPr>
            <a:r>
              <a:rPr lang="en-US" sz="750" b="1" spc="70" kern="0" dirty="0">
                <a:solidFill>
                  <a:srgbClr val="078F68"/>
                </a:solidFill>
                <a:latin typeface="Arial" pitchFamily="34" charset="0"/>
                <a:ea typeface="Arial" pitchFamily="34" charset="-122"/>
                <a:cs typeface="Arial" pitchFamily="34" charset="-120"/>
              </a:rPr>
              <a:t>DISARMED • ONLINE</a:t>
            </a:r>
            <a:endParaRPr lang="en-US" sz="750" dirty="0"/>
          </a:p>
        </p:txBody>
      </p:sp>
      <p:sp>
        <p:nvSpPr>
          <p:cNvPr id="40" name="Text 38"/>
          <p:cNvSpPr/>
          <p:nvPr/>
        </p:nvSpPr>
        <p:spPr>
          <a:xfrm>
            <a:off x="7808976" y="4974336"/>
            <a:ext cx="3044952" cy="530352"/>
          </a:xfrm>
          <a:prstGeom prst="rect">
            <a:avLst/>
          </a:prstGeom>
          <a:noFill/>
          <a:ln/>
        </p:spPr>
        <p:txBody>
          <a:bodyPr wrap="square" lIns="0" tIns="0" rIns="0" bIns="0" rtlCol="0" anchor="t">
            <a:normAutofit/>
          </a:bodyPr>
          <a:lstStyle/>
          <a:p>
            <a:pPr indent="0" marL="0">
              <a:buNone/>
            </a:pPr>
            <a:r>
              <a:rPr lang="en-US" sz="1000" dirty="0">
                <a:solidFill>
                  <a:srgbClr val="5E708F"/>
                </a:solidFill>
                <a:latin typeface="Arial" pitchFamily="34" charset="0"/>
                <a:ea typeface="Arial" pitchFamily="34" charset="-122"/>
                <a:cs typeface="Arial" pitchFamily="34" charset="-120"/>
              </a:rPr>
              <a:t>The collector’s default time buffer was corrected from t to acc_time using the phone’s live /config evidence.</a:t>
            </a:r>
            <a:endParaRPr lang="en-US" sz="1000" dirty="0"/>
          </a:p>
        </p:txBody>
      </p:sp>
      <p:sp>
        <p:nvSpPr>
          <p:cNvPr id="25" name="Slide Number Placeholder 0"/>
          <p:cNvSpPr>
            <a:spLocks noGrp="1"/>
          </p:cNvSpPr>
          <p:nvPr>
            <p:ph type="sldNum" sz="quarter" idx="4294967295"/>
          </p:nvPr>
        </p:nvSpPr>
        <p:spPr>
          <a:xfrm>
            <a:off x="11384280" y="6446520"/>
            <a:ext cx="320040" cy="164592"/>
          </a:xfrm>
          <a:prstGeom prst="rect">
            <a:avLst/>
          </a:prstGeom>
          <a:extLst>
            <a:ext uri="{C572A759-6A51-4108-AA02-DFA0A04FC94B}">
              <ma14:wrappingTextBoxFlag xmlns:ma14="http://schemas.microsoft.com/office/mac/drawingml/2011/main" val="0"/>
            </a:ext>
          </a:extLst>
        </p:spPr>
        <p:txBody>
          <a:bodyPr/>
          <a:lstStyle>
            <a:lvl1pPr>
              <a:defRPr sz="800">
                <a:solidFill>
                  <a:srgbClr val="71819C"/>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02920" y="384048"/>
            <a:ext cx="384048" cy="274320"/>
          </a:xfrm>
          <a:prstGeom prst="rect">
            <a:avLst/>
          </a:prstGeom>
          <a:noFill/>
          <a:ln/>
        </p:spPr>
        <p:txBody>
          <a:bodyPr wrap="square" lIns="0" tIns="0" rIns="0" bIns="0" rtlCol="0" anchor="ctr">
            <a:normAutofit/>
          </a:bodyPr>
          <a:lstStyle/>
          <a:p>
            <a:pPr indent="0" marL="0">
              <a:buNone/>
            </a:pPr>
            <a:r>
              <a:rPr lang="en-US" sz="1000" b="1" spc="120" kern="0" dirty="0">
                <a:solidFill>
                  <a:srgbClr val="426EDC"/>
                </a:solidFill>
                <a:latin typeface="Arial" pitchFamily="34" charset="0"/>
                <a:ea typeface="Arial" pitchFamily="34" charset="-122"/>
                <a:cs typeface="Arial" pitchFamily="34" charset="-120"/>
              </a:rPr>
              <a:t>10</a:t>
            </a:r>
            <a:endParaRPr lang="en-US" sz="1000" dirty="0"/>
          </a:p>
        </p:txBody>
      </p:sp>
      <p:sp>
        <p:nvSpPr>
          <p:cNvPr id="3" name="Shape 1"/>
          <p:cNvSpPr/>
          <p:nvPr/>
        </p:nvSpPr>
        <p:spPr>
          <a:xfrm>
            <a:off x="896112" y="521208"/>
            <a:ext cx="502920" cy="0"/>
          </a:xfrm>
          <a:prstGeom prst="line">
            <a:avLst/>
          </a:prstGeom>
          <a:noFill/>
          <a:ln w="12700">
            <a:solidFill>
              <a:srgbClr val="C9D5E5"/>
            </a:solidFill>
            <a:prstDash val="solid"/>
            <a:headEnd type="none"/>
            <a:tailEnd type="none"/>
          </a:ln>
        </p:spPr>
      </p:sp>
      <p:sp>
        <p:nvSpPr>
          <p:cNvPr id="4" name="Text 2"/>
          <p:cNvSpPr/>
          <p:nvPr/>
        </p:nvSpPr>
        <p:spPr>
          <a:xfrm>
            <a:off x="1527048" y="365760"/>
            <a:ext cx="3291840" cy="292608"/>
          </a:xfrm>
          <a:prstGeom prst="rect">
            <a:avLst/>
          </a:prstGeom>
          <a:noFill/>
          <a:ln/>
        </p:spPr>
        <p:txBody>
          <a:bodyPr wrap="square" lIns="0" tIns="0" rIns="0" bIns="0" rtlCol="0" anchor="ctr">
            <a:normAutofit/>
          </a:bodyPr>
          <a:lstStyle/>
          <a:p>
            <a:pPr indent="0" marL="0">
              <a:buNone/>
            </a:pPr>
            <a:r>
              <a:rPr lang="en-US" sz="900" b="1" spc="150" kern="0" dirty="0">
                <a:solidFill>
                  <a:srgbClr val="426EDC"/>
                </a:solidFill>
                <a:latin typeface="Arial" pitchFamily="34" charset="0"/>
                <a:ea typeface="Arial" pitchFamily="34" charset="-122"/>
                <a:cs typeface="Arial" pitchFamily="34" charset="-120"/>
              </a:rPr>
              <a:t>LIVE DEMONSTRATION</a:t>
            </a:r>
            <a:endParaRPr lang="en-US" sz="900" dirty="0"/>
          </a:p>
        </p:txBody>
      </p:sp>
      <p:sp>
        <p:nvSpPr>
          <p:cNvPr id="5" name="Text 3"/>
          <p:cNvSpPr/>
          <p:nvPr/>
        </p:nvSpPr>
        <p:spPr>
          <a:xfrm>
            <a:off x="502920" y="804672"/>
            <a:ext cx="11064240" cy="502920"/>
          </a:xfrm>
          <a:prstGeom prst="rect">
            <a:avLst/>
          </a:prstGeom>
          <a:noFill/>
          <a:ln/>
        </p:spPr>
        <p:txBody>
          <a:bodyPr wrap="square" lIns="0" tIns="0" rIns="0" bIns="0" rtlCol="0" anchor="ctr">
            <a:normAutofit/>
          </a:bodyPr>
          <a:lstStyle/>
          <a:p>
            <a:pPr indent="0" marL="0">
              <a:buNone/>
            </a:pPr>
            <a:r>
              <a:rPr lang="en-US" sz="2700" b="1" dirty="0">
                <a:solidFill>
                  <a:srgbClr val="14213D"/>
                </a:solidFill>
                <a:latin typeface="Arial" pitchFamily="34" charset="0"/>
                <a:ea typeface="Arial" pitchFamily="34" charset="-122"/>
                <a:cs typeface="Arial" pitchFamily="34" charset="-120"/>
              </a:rPr>
              <a:t>A seven-step proof in under two minutes</a:t>
            </a:r>
            <a:endParaRPr lang="en-US" sz="2700" dirty="0"/>
          </a:p>
        </p:txBody>
      </p:sp>
      <p:sp>
        <p:nvSpPr>
          <p:cNvPr id="6" name="Text 4"/>
          <p:cNvSpPr/>
          <p:nvPr/>
        </p:nvSpPr>
        <p:spPr>
          <a:xfrm>
            <a:off x="502920" y="1353312"/>
            <a:ext cx="10881360" cy="365760"/>
          </a:xfrm>
          <a:prstGeom prst="rect">
            <a:avLst/>
          </a:prstGeom>
          <a:noFill/>
          <a:ln/>
        </p:spPr>
        <p:txBody>
          <a:bodyPr wrap="square" lIns="0" tIns="0" rIns="0" bIns="0" rtlCol="0" anchor="ctr">
            <a:normAutofit/>
          </a:bodyPr>
          <a:lstStyle/>
          <a:p>
            <a:pPr indent="0" marL="0">
              <a:buNone/>
            </a:pPr>
            <a:r>
              <a:rPr lang="en-US" sz="1150" dirty="0">
                <a:solidFill>
                  <a:srgbClr val="5E708F"/>
                </a:solidFill>
                <a:latin typeface="Arial" pitchFamily="34" charset="0"/>
                <a:ea typeface="Arial" pitchFamily="34" charset="-122"/>
                <a:cs typeface="Arial" pitchFamily="34" charset="-120"/>
              </a:rPr>
              <a:t>Use a private hotspot or Wi-Fi network where the phone and laptop can communicate directly.</a:t>
            </a:r>
            <a:endParaRPr lang="en-US" sz="1150" dirty="0"/>
          </a:p>
        </p:txBody>
      </p:sp>
      <p:sp>
        <p:nvSpPr>
          <p:cNvPr id="7" name="Text 5"/>
          <p:cNvSpPr/>
          <p:nvPr/>
        </p:nvSpPr>
        <p:spPr>
          <a:xfrm>
            <a:off x="502920" y="6446520"/>
            <a:ext cx="2011680" cy="164592"/>
          </a:xfrm>
          <a:prstGeom prst="rect">
            <a:avLst/>
          </a:prstGeom>
          <a:noFill/>
          <a:ln/>
        </p:spPr>
        <p:txBody>
          <a:bodyPr wrap="square" lIns="0" tIns="0" rIns="0" bIns="0" rtlCol="0" anchor="ctr">
            <a:normAutofit/>
          </a:bodyPr>
          <a:lstStyle/>
          <a:p>
            <a:pPr indent="0" marL="0">
              <a:buNone/>
            </a:pPr>
            <a:r>
              <a:rPr lang="en-US" sz="800" b="1" dirty="0">
                <a:solidFill>
                  <a:srgbClr val="71819C"/>
                </a:solidFill>
                <a:latin typeface="Arial" pitchFamily="34" charset="0"/>
                <a:ea typeface="Arial" pitchFamily="34" charset="-122"/>
                <a:cs typeface="Arial" pitchFamily="34" charset="-120"/>
              </a:rPr>
              <a:t>FailureAntyTheft</a:t>
            </a:r>
            <a:endParaRPr lang="en-US" sz="800" dirty="0"/>
          </a:p>
        </p:txBody>
      </p:sp>
      <p:sp>
        <p:nvSpPr>
          <p:cNvPr id="8" name="Shape 6"/>
          <p:cNvSpPr/>
          <p:nvPr/>
        </p:nvSpPr>
        <p:spPr>
          <a:xfrm>
            <a:off x="594360" y="1883664"/>
            <a:ext cx="484632" cy="484632"/>
          </a:xfrm>
          <a:prstGeom prst="ellipse">
            <a:avLst/>
          </a:prstGeom>
          <a:solidFill>
            <a:srgbClr val="118AB2">
              <a:alpha val="20000"/>
            </a:srgbClr>
          </a:solidFill>
          <a:ln w="12700">
            <a:solidFill>
              <a:srgbClr val="118AB2">
                <a:alpha val="20000"/>
              </a:srgbClr>
            </a:solidFill>
            <a:prstDash val="solid"/>
          </a:ln>
        </p:spPr>
      </p:sp>
      <p:sp>
        <p:nvSpPr>
          <p:cNvPr id="9" name="Text 7"/>
          <p:cNvSpPr/>
          <p:nvPr/>
        </p:nvSpPr>
        <p:spPr>
          <a:xfrm>
            <a:off x="594360" y="1883664"/>
            <a:ext cx="484632" cy="484632"/>
          </a:xfrm>
          <a:prstGeom prst="rect">
            <a:avLst/>
          </a:prstGeom>
          <a:noFill/>
          <a:ln/>
        </p:spPr>
        <p:txBody>
          <a:bodyPr wrap="square" lIns="0" tIns="0" rIns="0" bIns="0" rtlCol="0" anchor="ctr">
            <a:normAutofit/>
          </a:bodyPr>
          <a:lstStyle/>
          <a:p>
            <a:pPr algn="ctr" indent="0" marL="0">
              <a:buNone/>
            </a:pPr>
            <a:r>
              <a:rPr lang="en-US" sz="1200" b="1" dirty="0">
                <a:solidFill>
                  <a:srgbClr val="118AB2"/>
                </a:solidFill>
                <a:latin typeface="Arial" pitchFamily="34" charset="0"/>
                <a:ea typeface="Arial" pitchFamily="34" charset="-122"/>
                <a:cs typeface="Arial" pitchFamily="34" charset="-120"/>
              </a:rPr>
              <a:t>1</a:t>
            </a:r>
            <a:endParaRPr lang="en-US" sz="1200" dirty="0"/>
          </a:p>
        </p:txBody>
      </p:sp>
      <p:sp>
        <p:nvSpPr>
          <p:cNvPr id="10" name="Text 8"/>
          <p:cNvSpPr/>
          <p:nvPr/>
        </p:nvSpPr>
        <p:spPr>
          <a:xfrm>
            <a:off x="1289304" y="1847088"/>
            <a:ext cx="1005840" cy="228600"/>
          </a:xfrm>
          <a:prstGeom prst="rect">
            <a:avLst/>
          </a:prstGeom>
          <a:noFill/>
          <a:ln/>
        </p:spPr>
        <p:txBody>
          <a:bodyPr wrap="square" lIns="0" tIns="0" rIns="0" bIns="0" rtlCol="0" anchor="ctr">
            <a:normAutofit/>
          </a:bodyPr>
          <a:lstStyle/>
          <a:p>
            <a:pPr indent="0" marL="0">
              <a:buNone/>
            </a:pPr>
            <a:r>
              <a:rPr lang="en-US" sz="850" b="1" spc="100" kern="0" dirty="0">
                <a:solidFill>
                  <a:srgbClr val="118AB2"/>
                </a:solidFill>
                <a:latin typeface="Arial" pitchFamily="34" charset="0"/>
                <a:ea typeface="Arial" pitchFamily="34" charset="-122"/>
                <a:cs typeface="Arial" pitchFamily="34" charset="-120"/>
              </a:rPr>
              <a:t>START</a:t>
            </a:r>
            <a:endParaRPr lang="en-US" sz="850" dirty="0"/>
          </a:p>
        </p:txBody>
      </p:sp>
      <p:sp>
        <p:nvSpPr>
          <p:cNvPr id="11" name="Text 9"/>
          <p:cNvSpPr/>
          <p:nvPr/>
        </p:nvSpPr>
        <p:spPr>
          <a:xfrm>
            <a:off x="1289304" y="2103120"/>
            <a:ext cx="4434840" cy="320040"/>
          </a:xfrm>
          <a:prstGeom prst="rect">
            <a:avLst/>
          </a:prstGeom>
          <a:noFill/>
          <a:ln/>
        </p:spPr>
        <p:txBody>
          <a:bodyPr wrap="square" lIns="0" tIns="0" rIns="0" bIns="0" rtlCol="0" anchor="ctr">
            <a:normAutofit/>
          </a:bodyPr>
          <a:lstStyle/>
          <a:p>
            <a:pPr indent="0" marL="0">
              <a:buNone/>
            </a:pPr>
            <a:r>
              <a:rPr lang="en-US" sz="1150" b="1" dirty="0">
                <a:solidFill>
                  <a:srgbClr val="14213D"/>
                </a:solidFill>
                <a:latin typeface="Arial" pitchFamily="34" charset="0"/>
                <a:ea typeface="Arial" pitchFamily="34" charset="-122"/>
                <a:cs typeface="Arial" pitchFamily="34" charset="-120"/>
              </a:rPr>
              <a:t>Open Acceleration with g and enable remote access</a:t>
            </a:r>
            <a:endParaRPr lang="en-US" sz="1150" dirty="0"/>
          </a:p>
        </p:txBody>
      </p:sp>
      <p:sp>
        <p:nvSpPr>
          <p:cNvPr id="12" name="Shape 10"/>
          <p:cNvSpPr/>
          <p:nvPr/>
        </p:nvSpPr>
        <p:spPr>
          <a:xfrm>
            <a:off x="836676" y="2414016"/>
            <a:ext cx="0" cy="356616"/>
          </a:xfrm>
          <a:prstGeom prst="line">
            <a:avLst/>
          </a:prstGeom>
          <a:noFill/>
          <a:ln w="16510">
            <a:solidFill>
              <a:srgbClr val="C9D5E5"/>
            </a:solidFill>
            <a:prstDash val="solid"/>
            <a:headEnd type="none"/>
            <a:tailEnd type="triangle"/>
          </a:ln>
        </p:spPr>
      </p:sp>
      <p:sp>
        <p:nvSpPr>
          <p:cNvPr id="13" name="Shape 11"/>
          <p:cNvSpPr/>
          <p:nvPr/>
        </p:nvSpPr>
        <p:spPr>
          <a:xfrm>
            <a:off x="594360" y="2825496"/>
            <a:ext cx="484632" cy="484632"/>
          </a:xfrm>
          <a:prstGeom prst="ellipse">
            <a:avLst/>
          </a:prstGeom>
          <a:solidFill>
            <a:srgbClr val="356AE6">
              <a:alpha val="20000"/>
            </a:srgbClr>
          </a:solidFill>
          <a:ln w="12700">
            <a:solidFill>
              <a:srgbClr val="356AE6">
                <a:alpha val="20000"/>
              </a:srgbClr>
            </a:solidFill>
            <a:prstDash val="solid"/>
          </a:ln>
        </p:spPr>
      </p:sp>
      <p:sp>
        <p:nvSpPr>
          <p:cNvPr id="14" name="Text 12"/>
          <p:cNvSpPr/>
          <p:nvPr/>
        </p:nvSpPr>
        <p:spPr>
          <a:xfrm>
            <a:off x="594360" y="2825496"/>
            <a:ext cx="484632" cy="484632"/>
          </a:xfrm>
          <a:prstGeom prst="rect">
            <a:avLst/>
          </a:prstGeom>
          <a:noFill/>
          <a:ln/>
        </p:spPr>
        <p:txBody>
          <a:bodyPr wrap="square" lIns="0" tIns="0" rIns="0" bIns="0" rtlCol="0" anchor="ctr">
            <a:normAutofit/>
          </a:bodyPr>
          <a:lstStyle/>
          <a:p>
            <a:pPr algn="ctr" indent="0" marL="0">
              <a:buNone/>
            </a:pPr>
            <a:r>
              <a:rPr lang="en-US" sz="1200" b="1" dirty="0">
                <a:solidFill>
                  <a:srgbClr val="356AE6"/>
                </a:solidFill>
                <a:latin typeface="Arial" pitchFamily="34" charset="0"/>
                <a:ea typeface="Arial" pitchFamily="34" charset="-122"/>
                <a:cs typeface="Arial" pitchFamily="34" charset="-120"/>
              </a:rPr>
              <a:t>2</a:t>
            </a:r>
            <a:endParaRPr lang="en-US" sz="1200" dirty="0"/>
          </a:p>
        </p:txBody>
      </p:sp>
      <p:sp>
        <p:nvSpPr>
          <p:cNvPr id="15" name="Text 13"/>
          <p:cNvSpPr/>
          <p:nvPr/>
        </p:nvSpPr>
        <p:spPr>
          <a:xfrm>
            <a:off x="1289304" y="2788920"/>
            <a:ext cx="1005840" cy="228600"/>
          </a:xfrm>
          <a:prstGeom prst="rect">
            <a:avLst/>
          </a:prstGeom>
          <a:noFill/>
          <a:ln/>
        </p:spPr>
        <p:txBody>
          <a:bodyPr wrap="square" lIns="0" tIns="0" rIns="0" bIns="0" rtlCol="0" anchor="ctr">
            <a:normAutofit/>
          </a:bodyPr>
          <a:lstStyle/>
          <a:p>
            <a:pPr indent="0" marL="0">
              <a:buNone/>
            </a:pPr>
            <a:r>
              <a:rPr lang="en-US" sz="850" b="1" spc="100" kern="0" dirty="0">
                <a:solidFill>
                  <a:srgbClr val="356AE6"/>
                </a:solidFill>
                <a:latin typeface="Arial" pitchFamily="34" charset="0"/>
                <a:ea typeface="Arial" pitchFamily="34" charset="-122"/>
                <a:cs typeface="Arial" pitchFamily="34" charset="-120"/>
              </a:rPr>
              <a:t>CONNECT</a:t>
            </a:r>
            <a:endParaRPr lang="en-US" sz="850" dirty="0"/>
          </a:p>
        </p:txBody>
      </p:sp>
      <p:sp>
        <p:nvSpPr>
          <p:cNvPr id="16" name="Text 14"/>
          <p:cNvSpPr/>
          <p:nvPr/>
        </p:nvSpPr>
        <p:spPr>
          <a:xfrm>
            <a:off x="1289304" y="3044952"/>
            <a:ext cx="4434840" cy="320040"/>
          </a:xfrm>
          <a:prstGeom prst="rect">
            <a:avLst/>
          </a:prstGeom>
          <a:noFill/>
          <a:ln/>
        </p:spPr>
        <p:txBody>
          <a:bodyPr wrap="square" lIns="0" tIns="0" rIns="0" bIns="0" rtlCol="0" anchor="ctr">
            <a:normAutofit/>
          </a:bodyPr>
          <a:lstStyle/>
          <a:p>
            <a:pPr indent="0" marL="0">
              <a:buNone/>
            </a:pPr>
            <a:r>
              <a:rPr lang="en-US" sz="1150" b="1" dirty="0">
                <a:solidFill>
                  <a:srgbClr val="14213D"/>
                </a:solidFill>
                <a:latin typeface="Arial" pitchFamily="34" charset="0"/>
                <a:ea typeface="Arial" pitchFamily="34" charset="-122"/>
                <a:cs typeface="Arial" pitchFamily="34" charset="-120"/>
              </a:rPr>
              <a:t>Register the displayed private URL</a:t>
            </a:r>
            <a:endParaRPr lang="en-US" sz="1150" dirty="0"/>
          </a:p>
        </p:txBody>
      </p:sp>
      <p:sp>
        <p:nvSpPr>
          <p:cNvPr id="17" name="Shape 15"/>
          <p:cNvSpPr/>
          <p:nvPr/>
        </p:nvSpPr>
        <p:spPr>
          <a:xfrm>
            <a:off x="836676" y="3355848"/>
            <a:ext cx="0" cy="356616"/>
          </a:xfrm>
          <a:prstGeom prst="line">
            <a:avLst/>
          </a:prstGeom>
          <a:noFill/>
          <a:ln w="16510">
            <a:solidFill>
              <a:srgbClr val="C9D5E5"/>
            </a:solidFill>
            <a:prstDash val="solid"/>
            <a:headEnd type="none"/>
            <a:tailEnd type="triangle"/>
          </a:ln>
        </p:spPr>
      </p:sp>
      <p:sp>
        <p:nvSpPr>
          <p:cNvPr id="18" name="Shape 16"/>
          <p:cNvSpPr/>
          <p:nvPr/>
        </p:nvSpPr>
        <p:spPr>
          <a:xfrm>
            <a:off x="594360" y="3767328"/>
            <a:ext cx="484632" cy="484632"/>
          </a:xfrm>
          <a:prstGeom prst="ellipse">
            <a:avLst/>
          </a:prstGeom>
          <a:solidFill>
            <a:srgbClr val="078F68">
              <a:alpha val="20000"/>
            </a:srgbClr>
          </a:solidFill>
          <a:ln w="12700">
            <a:solidFill>
              <a:srgbClr val="078F68">
                <a:alpha val="20000"/>
              </a:srgbClr>
            </a:solidFill>
            <a:prstDash val="solid"/>
          </a:ln>
        </p:spPr>
      </p:sp>
      <p:sp>
        <p:nvSpPr>
          <p:cNvPr id="19" name="Text 17"/>
          <p:cNvSpPr/>
          <p:nvPr/>
        </p:nvSpPr>
        <p:spPr>
          <a:xfrm>
            <a:off x="594360" y="3767328"/>
            <a:ext cx="484632" cy="484632"/>
          </a:xfrm>
          <a:prstGeom prst="rect">
            <a:avLst/>
          </a:prstGeom>
          <a:noFill/>
          <a:ln/>
        </p:spPr>
        <p:txBody>
          <a:bodyPr wrap="square" lIns="0" tIns="0" rIns="0" bIns="0" rtlCol="0" anchor="ctr">
            <a:normAutofit/>
          </a:bodyPr>
          <a:lstStyle/>
          <a:p>
            <a:pPr algn="ctr" indent="0" marL="0">
              <a:buNone/>
            </a:pPr>
            <a:r>
              <a:rPr lang="en-US" sz="1200" b="1" dirty="0">
                <a:solidFill>
                  <a:srgbClr val="078F68"/>
                </a:solidFill>
                <a:latin typeface="Arial" pitchFamily="34" charset="0"/>
                <a:ea typeface="Arial" pitchFamily="34" charset="-122"/>
                <a:cs typeface="Arial" pitchFamily="34" charset="-120"/>
              </a:rPr>
              <a:t>3</a:t>
            </a:r>
            <a:endParaRPr lang="en-US" sz="1200" dirty="0"/>
          </a:p>
        </p:txBody>
      </p:sp>
      <p:sp>
        <p:nvSpPr>
          <p:cNvPr id="20" name="Text 18"/>
          <p:cNvSpPr/>
          <p:nvPr/>
        </p:nvSpPr>
        <p:spPr>
          <a:xfrm>
            <a:off x="1289304" y="3730752"/>
            <a:ext cx="1005840" cy="228600"/>
          </a:xfrm>
          <a:prstGeom prst="rect">
            <a:avLst/>
          </a:prstGeom>
          <a:noFill/>
          <a:ln/>
        </p:spPr>
        <p:txBody>
          <a:bodyPr wrap="square" lIns="0" tIns="0" rIns="0" bIns="0" rtlCol="0" anchor="ctr">
            <a:normAutofit/>
          </a:bodyPr>
          <a:lstStyle/>
          <a:p>
            <a:pPr indent="0" marL="0">
              <a:buNone/>
            </a:pPr>
            <a:r>
              <a:rPr lang="en-US" sz="850" b="1" spc="100" kern="0" dirty="0">
                <a:solidFill>
                  <a:srgbClr val="078F68"/>
                </a:solidFill>
                <a:latin typeface="Arial" pitchFamily="34" charset="0"/>
                <a:ea typeface="Arial" pitchFamily="34" charset="-122"/>
                <a:cs typeface="Arial" pitchFamily="34" charset="-120"/>
              </a:rPr>
              <a:t>VERIFY</a:t>
            </a:r>
            <a:endParaRPr lang="en-US" sz="850" dirty="0"/>
          </a:p>
        </p:txBody>
      </p:sp>
      <p:sp>
        <p:nvSpPr>
          <p:cNvPr id="21" name="Text 19"/>
          <p:cNvSpPr/>
          <p:nvPr/>
        </p:nvSpPr>
        <p:spPr>
          <a:xfrm>
            <a:off x="1289304" y="3986784"/>
            <a:ext cx="4434840" cy="320040"/>
          </a:xfrm>
          <a:prstGeom prst="rect">
            <a:avLst/>
          </a:prstGeom>
          <a:noFill/>
          <a:ln/>
        </p:spPr>
        <p:txBody>
          <a:bodyPr wrap="square" lIns="0" tIns="0" rIns="0" bIns="0" rtlCol="0" anchor="ctr">
            <a:normAutofit/>
          </a:bodyPr>
          <a:lstStyle/>
          <a:p>
            <a:pPr indent="0" marL="0">
              <a:buNone/>
            </a:pPr>
            <a:r>
              <a:rPr lang="en-US" sz="1150" b="1" dirty="0">
                <a:solidFill>
                  <a:srgbClr val="14213D"/>
                </a:solidFill>
                <a:latin typeface="Arial" pitchFamily="34" charset="0"/>
                <a:ea typeface="Arial" pitchFamily="34" charset="-122"/>
                <a:cs typeface="Arial" pitchFamily="34" charset="-120"/>
              </a:rPr>
              <a:t>Device appears Disarmed—not Offline</a:t>
            </a:r>
            <a:endParaRPr lang="en-US" sz="1150" dirty="0"/>
          </a:p>
        </p:txBody>
      </p:sp>
      <p:sp>
        <p:nvSpPr>
          <p:cNvPr id="22" name="Shape 20"/>
          <p:cNvSpPr/>
          <p:nvPr/>
        </p:nvSpPr>
        <p:spPr>
          <a:xfrm>
            <a:off x="836676" y="4297680"/>
            <a:ext cx="0" cy="356616"/>
          </a:xfrm>
          <a:prstGeom prst="line">
            <a:avLst/>
          </a:prstGeom>
          <a:noFill/>
          <a:ln w="16510">
            <a:solidFill>
              <a:srgbClr val="C9D5E5"/>
            </a:solidFill>
            <a:prstDash val="solid"/>
            <a:headEnd type="none"/>
            <a:tailEnd type="triangle"/>
          </a:ln>
        </p:spPr>
      </p:sp>
      <p:sp>
        <p:nvSpPr>
          <p:cNvPr id="23" name="Shape 21"/>
          <p:cNvSpPr/>
          <p:nvPr/>
        </p:nvSpPr>
        <p:spPr>
          <a:xfrm>
            <a:off x="594360" y="4709160"/>
            <a:ext cx="484632" cy="484632"/>
          </a:xfrm>
          <a:prstGeom prst="ellipse">
            <a:avLst/>
          </a:prstGeom>
          <a:solidFill>
            <a:srgbClr val="7048CA">
              <a:alpha val="20000"/>
            </a:srgbClr>
          </a:solidFill>
          <a:ln w="12700">
            <a:solidFill>
              <a:srgbClr val="7048CA">
                <a:alpha val="20000"/>
              </a:srgbClr>
            </a:solidFill>
            <a:prstDash val="solid"/>
          </a:ln>
        </p:spPr>
      </p:sp>
      <p:sp>
        <p:nvSpPr>
          <p:cNvPr id="24" name="Text 22"/>
          <p:cNvSpPr/>
          <p:nvPr/>
        </p:nvSpPr>
        <p:spPr>
          <a:xfrm>
            <a:off x="594360" y="4709160"/>
            <a:ext cx="484632" cy="484632"/>
          </a:xfrm>
          <a:prstGeom prst="rect">
            <a:avLst/>
          </a:prstGeom>
          <a:noFill/>
          <a:ln/>
        </p:spPr>
        <p:txBody>
          <a:bodyPr wrap="square" lIns="0" tIns="0" rIns="0" bIns="0" rtlCol="0" anchor="ctr">
            <a:normAutofit/>
          </a:bodyPr>
          <a:lstStyle/>
          <a:p>
            <a:pPr algn="ctr" indent="0" marL="0">
              <a:buNone/>
            </a:pPr>
            <a:r>
              <a:rPr lang="en-US" sz="1200" b="1" dirty="0">
                <a:solidFill>
                  <a:srgbClr val="7048CA"/>
                </a:solidFill>
                <a:latin typeface="Arial" pitchFamily="34" charset="0"/>
                <a:ea typeface="Arial" pitchFamily="34" charset="-122"/>
                <a:cs typeface="Arial" pitchFamily="34" charset="-120"/>
              </a:rPr>
              <a:t>4</a:t>
            </a:r>
            <a:endParaRPr lang="en-US" sz="1200" dirty="0"/>
          </a:p>
        </p:txBody>
      </p:sp>
      <p:sp>
        <p:nvSpPr>
          <p:cNvPr id="25" name="Text 23"/>
          <p:cNvSpPr/>
          <p:nvPr/>
        </p:nvSpPr>
        <p:spPr>
          <a:xfrm>
            <a:off x="1289304" y="4672584"/>
            <a:ext cx="1005840" cy="228600"/>
          </a:xfrm>
          <a:prstGeom prst="rect">
            <a:avLst/>
          </a:prstGeom>
          <a:noFill/>
          <a:ln/>
        </p:spPr>
        <p:txBody>
          <a:bodyPr wrap="square" lIns="0" tIns="0" rIns="0" bIns="0" rtlCol="0" anchor="ctr">
            <a:normAutofit/>
          </a:bodyPr>
          <a:lstStyle/>
          <a:p>
            <a:pPr indent="0" marL="0">
              <a:buNone/>
            </a:pPr>
            <a:r>
              <a:rPr lang="en-US" sz="850" b="1" spc="100" kern="0" dirty="0">
                <a:solidFill>
                  <a:srgbClr val="7048CA"/>
                </a:solidFill>
                <a:latin typeface="Arial" pitchFamily="34" charset="0"/>
                <a:ea typeface="Arial" pitchFamily="34" charset="-122"/>
                <a:cs typeface="Arial" pitchFamily="34" charset="-120"/>
              </a:rPr>
              <a:t>SOUND</a:t>
            </a:r>
            <a:endParaRPr lang="en-US" sz="850" dirty="0"/>
          </a:p>
        </p:txBody>
      </p:sp>
      <p:sp>
        <p:nvSpPr>
          <p:cNvPr id="26" name="Text 24"/>
          <p:cNvSpPr/>
          <p:nvPr/>
        </p:nvSpPr>
        <p:spPr>
          <a:xfrm>
            <a:off x="1289304" y="4928616"/>
            <a:ext cx="4434840" cy="320040"/>
          </a:xfrm>
          <a:prstGeom prst="rect">
            <a:avLst/>
          </a:prstGeom>
          <a:noFill/>
          <a:ln/>
        </p:spPr>
        <p:txBody>
          <a:bodyPr wrap="square" lIns="0" tIns="0" rIns="0" bIns="0" rtlCol="0" anchor="ctr">
            <a:normAutofit/>
          </a:bodyPr>
          <a:lstStyle/>
          <a:p>
            <a:pPr indent="0" marL="0">
              <a:buNone/>
            </a:pPr>
            <a:r>
              <a:rPr lang="en-US" sz="1150" b="1" dirty="0">
                <a:solidFill>
                  <a:srgbClr val="14213D"/>
                </a:solidFill>
                <a:latin typeface="Arial" pitchFamily="34" charset="0"/>
                <a:ea typeface="Arial" pitchFamily="34" charset="-122"/>
                <a:cs typeface="Arial" pitchFamily="34" charset="-120"/>
              </a:rPr>
              <a:t>Click Sound off and hear the test siren</a:t>
            </a:r>
            <a:endParaRPr lang="en-US" sz="1150" dirty="0"/>
          </a:p>
        </p:txBody>
      </p:sp>
      <p:sp>
        <p:nvSpPr>
          <p:cNvPr id="27" name="Shape 25"/>
          <p:cNvSpPr/>
          <p:nvPr/>
        </p:nvSpPr>
        <p:spPr>
          <a:xfrm>
            <a:off x="6190488" y="1883664"/>
            <a:ext cx="484632" cy="484632"/>
          </a:xfrm>
          <a:prstGeom prst="ellipse">
            <a:avLst/>
          </a:prstGeom>
          <a:solidFill>
            <a:srgbClr val="B97912">
              <a:alpha val="20000"/>
            </a:srgbClr>
          </a:solidFill>
          <a:ln w="12700">
            <a:solidFill>
              <a:srgbClr val="B97912">
                <a:alpha val="20000"/>
              </a:srgbClr>
            </a:solidFill>
            <a:prstDash val="solid"/>
          </a:ln>
        </p:spPr>
      </p:sp>
      <p:sp>
        <p:nvSpPr>
          <p:cNvPr id="28" name="Text 26"/>
          <p:cNvSpPr/>
          <p:nvPr/>
        </p:nvSpPr>
        <p:spPr>
          <a:xfrm>
            <a:off x="6190488" y="1883664"/>
            <a:ext cx="484632" cy="484632"/>
          </a:xfrm>
          <a:prstGeom prst="rect">
            <a:avLst/>
          </a:prstGeom>
          <a:noFill/>
          <a:ln/>
        </p:spPr>
        <p:txBody>
          <a:bodyPr wrap="square" lIns="0" tIns="0" rIns="0" bIns="0" rtlCol="0" anchor="ctr">
            <a:normAutofit/>
          </a:bodyPr>
          <a:lstStyle/>
          <a:p>
            <a:pPr algn="ctr" indent="0" marL="0">
              <a:buNone/>
            </a:pPr>
            <a:r>
              <a:rPr lang="en-US" sz="1200" b="1" dirty="0">
                <a:solidFill>
                  <a:srgbClr val="B97912"/>
                </a:solidFill>
                <a:latin typeface="Arial" pitchFamily="34" charset="0"/>
                <a:ea typeface="Arial" pitchFamily="34" charset="-122"/>
                <a:cs typeface="Arial" pitchFamily="34" charset="-120"/>
              </a:rPr>
              <a:t>5</a:t>
            </a:r>
            <a:endParaRPr lang="en-US" sz="1200" dirty="0"/>
          </a:p>
        </p:txBody>
      </p:sp>
      <p:sp>
        <p:nvSpPr>
          <p:cNvPr id="29" name="Text 27"/>
          <p:cNvSpPr/>
          <p:nvPr/>
        </p:nvSpPr>
        <p:spPr>
          <a:xfrm>
            <a:off x="6885432" y="1847088"/>
            <a:ext cx="1005840" cy="228600"/>
          </a:xfrm>
          <a:prstGeom prst="rect">
            <a:avLst/>
          </a:prstGeom>
          <a:noFill/>
          <a:ln/>
        </p:spPr>
        <p:txBody>
          <a:bodyPr wrap="square" lIns="0" tIns="0" rIns="0" bIns="0" rtlCol="0" anchor="ctr">
            <a:normAutofit/>
          </a:bodyPr>
          <a:lstStyle/>
          <a:p>
            <a:pPr indent="0" marL="0">
              <a:buNone/>
            </a:pPr>
            <a:r>
              <a:rPr lang="en-US" sz="850" b="1" spc="100" kern="0" dirty="0">
                <a:solidFill>
                  <a:srgbClr val="B97912"/>
                </a:solidFill>
                <a:latin typeface="Arial" pitchFamily="34" charset="0"/>
                <a:ea typeface="Arial" pitchFamily="34" charset="-122"/>
                <a:cs typeface="Arial" pitchFamily="34" charset="-120"/>
              </a:rPr>
              <a:t>ARM</a:t>
            </a:r>
            <a:endParaRPr lang="en-US" sz="850" dirty="0"/>
          </a:p>
        </p:txBody>
      </p:sp>
      <p:sp>
        <p:nvSpPr>
          <p:cNvPr id="30" name="Text 28"/>
          <p:cNvSpPr/>
          <p:nvPr/>
        </p:nvSpPr>
        <p:spPr>
          <a:xfrm>
            <a:off x="6885432" y="2103120"/>
            <a:ext cx="4434840" cy="320040"/>
          </a:xfrm>
          <a:prstGeom prst="rect">
            <a:avLst/>
          </a:prstGeom>
          <a:noFill/>
          <a:ln/>
        </p:spPr>
        <p:txBody>
          <a:bodyPr wrap="square" lIns="0" tIns="0" rIns="0" bIns="0" rtlCol="0" anchor="ctr">
            <a:normAutofit/>
          </a:bodyPr>
          <a:lstStyle/>
          <a:p>
            <a:pPr indent="0" marL="0">
              <a:buNone/>
            </a:pPr>
            <a:r>
              <a:rPr lang="en-US" sz="1150" b="1" dirty="0">
                <a:solidFill>
                  <a:srgbClr val="14213D"/>
                </a:solidFill>
                <a:latin typeface="Arial" pitchFamily="34" charset="0"/>
                <a:ea typeface="Arial" pitchFamily="34" charset="-122"/>
                <a:cs typeface="Arial" pitchFamily="34" charset="-120"/>
              </a:rPr>
              <a:t>Keep still for 5 s placement + 2 s calibration</a:t>
            </a:r>
            <a:endParaRPr lang="en-US" sz="1150" dirty="0"/>
          </a:p>
        </p:txBody>
      </p:sp>
      <p:sp>
        <p:nvSpPr>
          <p:cNvPr id="31" name="Shape 29"/>
          <p:cNvSpPr/>
          <p:nvPr/>
        </p:nvSpPr>
        <p:spPr>
          <a:xfrm>
            <a:off x="6432804" y="2414016"/>
            <a:ext cx="0" cy="356616"/>
          </a:xfrm>
          <a:prstGeom prst="line">
            <a:avLst/>
          </a:prstGeom>
          <a:noFill/>
          <a:ln w="16510">
            <a:solidFill>
              <a:srgbClr val="C9D5E5"/>
            </a:solidFill>
            <a:prstDash val="solid"/>
            <a:headEnd type="none"/>
            <a:tailEnd type="triangle"/>
          </a:ln>
        </p:spPr>
      </p:sp>
      <p:sp>
        <p:nvSpPr>
          <p:cNvPr id="32" name="Shape 30"/>
          <p:cNvSpPr/>
          <p:nvPr/>
        </p:nvSpPr>
        <p:spPr>
          <a:xfrm>
            <a:off x="6190488" y="2825496"/>
            <a:ext cx="484632" cy="484632"/>
          </a:xfrm>
          <a:prstGeom prst="ellipse">
            <a:avLst/>
          </a:prstGeom>
          <a:solidFill>
            <a:srgbClr val="D64255">
              <a:alpha val="20000"/>
            </a:srgbClr>
          </a:solidFill>
          <a:ln w="12700">
            <a:solidFill>
              <a:srgbClr val="D64255">
                <a:alpha val="20000"/>
              </a:srgbClr>
            </a:solidFill>
            <a:prstDash val="solid"/>
          </a:ln>
        </p:spPr>
      </p:sp>
      <p:sp>
        <p:nvSpPr>
          <p:cNvPr id="33" name="Text 31"/>
          <p:cNvSpPr/>
          <p:nvPr/>
        </p:nvSpPr>
        <p:spPr>
          <a:xfrm>
            <a:off x="6190488" y="2825496"/>
            <a:ext cx="484632" cy="484632"/>
          </a:xfrm>
          <a:prstGeom prst="rect">
            <a:avLst/>
          </a:prstGeom>
          <a:noFill/>
          <a:ln/>
        </p:spPr>
        <p:txBody>
          <a:bodyPr wrap="square" lIns="0" tIns="0" rIns="0" bIns="0" rtlCol="0" anchor="ctr">
            <a:normAutofit/>
          </a:bodyPr>
          <a:lstStyle/>
          <a:p>
            <a:pPr algn="ctr" indent="0" marL="0">
              <a:buNone/>
            </a:pPr>
            <a:r>
              <a:rPr lang="en-US" sz="1200" b="1" dirty="0">
                <a:solidFill>
                  <a:srgbClr val="D64255"/>
                </a:solidFill>
                <a:latin typeface="Arial" pitchFamily="34" charset="0"/>
                <a:ea typeface="Arial" pitchFamily="34" charset="-122"/>
                <a:cs typeface="Arial" pitchFamily="34" charset="-120"/>
              </a:rPr>
              <a:t>6</a:t>
            </a:r>
            <a:endParaRPr lang="en-US" sz="1200" dirty="0"/>
          </a:p>
        </p:txBody>
      </p:sp>
      <p:sp>
        <p:nvSpPr>
          <p:cNvPr id="34" name="Text 32"/>
          <p:cNvSpPr/>
          <p:nvPr/>
        </p:nvSpPr>
        <p:spPr>
          <a:xfrm>
            <a:off x="6885432" y="2788920"/>
            <a:ext cx="1005840" cy="228600"/>
          </a:xfrm>
          <a:prstGeom prst="rect">
            <a:avLst/>
          </a:prstGeom>
          <a:noFill/>
          <a:ln/>
        </p:spPr>
        <p:txBody>
          <a:bodyPr wrap="square" lIns="0" tIns="0" rIns="0" bIns="0" rtlCol="0" anchor="ctr">
            <a:normAutofit/>
          </a:bodyPr>
          <a:lstStyle/>
          <a:p>
            <a:pPr indent="0" marL="0">
              <a:buNone/>
            </a:pPr>
            <a:r>
              <a:rPr lang="en-US" sz="850" b="1" spc="100" kern="0" dirty="0">
                <a:solidFill>
                  <a:srgbClr val="D64255"/>
                </a:solidFill>
                <a:latin typeface="Arial" pitchFamily="34" charset="0"/>
                <a:ea typeface="Arial" pitchFamily="34" charset="-122"/>
                <a:cs typeface="Arial" pitchFamily="34" charset="-120"/>
              </a:rPr>
              <a:t>MOVE</a:t>
            </a:r>
            <a:endParaRPr lang="en-US" sz="850" dirty="0"/>
          </a:p>
        </p:txBody>
      </p:sp>
      <p:sp>
        <p:nvSpPr>
          <p:cNvPr id="35" name="Text 33"/>
          <p:cNvSpPr/>
          <p:nvPr/>
        </p:nvSpPr>
        <p:spPr>
          <a:xfrm>
            <a:off x="6885432" y="3044952"/>
            <a:ext cx="4434840" cy="320040"/>
          </a:xfrm>
          <a:prstGeom prst="rect">
            <a:avLst/>
          </a:prstGeom>
          <a:noFill/>
          <a:ln/>
        </p:spPr>
        <p:txBody>
          <a:bodyPr wrap="square" lIns="0" tIns="0" rIns="0" bIns="0" rtlCol="0" anchor="ctr">
            <a:normAutofit/>
          </a:bodyPr>
          <a:lstStyle/>
          <a:p>
            <a:pPr indent="0" marL="0">
              <a:buNone/>
            </a:pPr>
            <a:r>
              <a:rPr lang="en-US" sz="1150" b="1" dirty="0">
                <a:solidFill>
                  <a:srgbClr val="14213D"/>
                </a:solidFill>
                <a:latin typeface="Arial" pitchFamily="34" charset="0"/>
                <a:ea typeface="Arial" pitchFamily="34" charset="-122"/>
                <a:cs typeface="Arial" pitchFamily="34" charset="-120"/>
              </a:rPr>
              <a:t>Move the phone; observe Alarm + siren</a:t>
            </a:r>
            <a:endParaRPr lang="en-US" sz="1150" dirty="0"/>
          </a:p>
        </p:txBody>
      </p:sp>
      <p:sp>
        <p:nvSpPr>
          <p:cNvPr id="36" name="Shape 34"/>
          <p:cNvSpPr/>
          <p:nvPr/>
        </p:nvSpPr>
        <p:spPr>
          <a:xfrm>
            <a:off x="6432804" y="3355848"/>
            <a:ext cx="0" cy="356616"/>
          </a:xfrm>
          <a:prstGeom prst="line">
            <a:avLst/>
          </a:prstGeom>
          <a:noFill/>
          <a:ln w="16510">
            <a:solidFill>
              <a:srgbClr val="C9D5E5"/>
            </a:solidFill>
            <a:prstDash val="solid"/>
            <a:headEnd type="none"/>
            <a:tailEnd type="triangle"/>
          </a:ln>
        </p:spPr>
      </p:sp>
      <p:sp>
        <p:nvSpPr>
          <p:cNvPr id="37" name="Shape 35"/>
          <p:cNvSpPr/>
          <p:nvPr/>
        </p:nvSpPr>
        <p:spPr>
          <a:xfrm>
            <a:off x="6190488" y="3767328"/>
            <a:ext cx="484632" cy="484632"/>
          </a:xfrm>
          <a:prstGeom prst="ellipse">
            <a:avLst/>
          </a:prstGeom>
          <a:solidFill>
            <a:srgbClr val="078F68">
              <a:alpha val="20000"/>
            </a:srgbClr>
          </a:solidFill>
          <a:ln w="12700">
            <a:solidFill>
              <a:srgbClr val="078F68">
                <a:alpha val="20000"/>
              </a:srgbClr>
            </a:solidFill>
            <a:prstDash val="solid"/>
          </a:ln>
        </p:spPr>
      </p:sp>
      <p:sp>
        <p:nvSpPr>
          <p:cNvPr id="38" name="Text 36"/>
          <p:cNvSpPr/>
          <p:nvPr/>
        </p:nvSpPr>
        <p:spPr>
          <a:xfrm>
            <a:off x="6190488" y="3767328"/>
            <a:ext cx="484632" cy="484632"/>
          </a:xfrm>
          <a:prstGeom prst="rect">
            <a:avLst/>
          </a:prstGeom>
          <a:noFill/>
          <a:ln/>
        </p:spPr>
        <p:txBody>
          <a:bodyPr wrap="square" lIns="0" tIns="0" rIns="0" bIns="0" rtlCol="0" anchor="ctr">
            <a:normAutofit/>
          </a:bodyPr>
          <a:lstStyle/>
          <a:p>
            <a:pPr algn="ctr" indent="0" marL="0">
              <a:buNone/>
            </a:pPr>
            <a:r>
              <a:rPr lang="en-US" sz="1200" b="1" dirty="0">
                <a:solidFill>
                  <a:srgbClr val="078F68"/>
                </a:solidFill>
                <a:latin typeface="Arial" pitchFamily="34" charset="0"/>
                <a:ea typeface="Arial" pitchFamily="34" charset="-122"/>
                <a:cs typeface="Arial" pitchFamily="34" charset="-120"/>
              </a:rPr>
              <a:t>7</a:t>
            </a:r>
            <a:endParaRPr lang="en-US" sz="1200" dirty="0"/>
          </a:p>
        </p:txBody>
      </p:sp>
      <p:sp>
        <p:nvSpPr>
          <p:cNvPr id="39" name="Text 37"/>
          <p:cNvSpPr/>
          <p:nvPr/>
        </p:nvSpPr>
        <p:spPr>
          <a:xfrm>
            <a:off x="6885432" y="3730752"/>
            <a:ext cx="1005840" cy="228600"/>
          </a:xfrm>
          <a:prstGeom prst="rect">
            <a:avLst/>
          </a:prstGeom>
          <a:noFill/>
          <a:ln/>
        </p:spPr>
        <p:txBody>
          <a:bodyPr wrap="square" lIns="0" tIns="0" rIns="0" bIns="0" rtlCol="0" anchor="ctr">
            <a:normAutofit/>
          </a:bodyPr>
          <a:lstStyle/>
          <a:p>
            <a:pPr indent="0" marL="0">
              <a:buNone/>
            </a:pPr>
            <a:r>
              <a:rPr lang="en-US" sz="850" b="1" spc="100" kern="0" dirty="0">
                <a:solidFill>
                  <a:srgbClr val="078F68"/>
                </a:solidFill>
                <a:latin typeface="Arial" pitchFamily="34" charset="0"/>
                <a:ea typeface="Arial" pitchFamily="34" charset="-122"/>
                <a:cs typeface="Arial" pitchFamily="34" charset="-120"/>
              </a:rPr>
              <a:t>CLOSE</a:t>
            </a:r>
            <a:endParaRPr lang="en-US" sz="850" dirty="0"/>
          </a:p>
        </p:txBody>
      </p:sp>
      <p:sp>
        <p:nvSpPr>
          <p:cNvPr id="40" name="Text 38"/>
          <p:cNvSpPr/>
          <p:nvPr/>
        </p:nvSpPr>
        <p:spPr>
          <a:xfrm>
            <a:off x="6885432" y="3986784"/>
            <a:ext cx="4434840" cy="320040"/>
          </a:xfrm>
          <a:prstGeom prst="rect">
            <a:avLst/>
          </a:prstGeom>
          <a:noFill/>
          <a:ln/>
        </p:spPr>
        <p:txBody>
          <a:bodyPr wrap="square" lIns="0" tIns="0" rIns="0" bIns="0" rtlCol="0" anchor="ctr">
            <a:normAutofit/>
          </a:bodyPr>
          <a:lstStyle/>
          <a:p>
            <a:pPr indent="0" marL="0">
              <a:buNone/>
            </a:pPr>
            <a:r>
              <a:rPr lang="en-US" sz="1150" b="1" dirty="0">
                <a:solidFill>
                  <a:srgbClr val="14213D"/>
                </a:solidFill>
                <a:latin typeface="Arial" pitchFamily="34" charset="0"/>
                <a:ea typeface="Arial" pitchFamily="34" charset="-122"/>
                <a:cs typeface="Arial" pitchFamily="34" charset="-120"/>
              </a:rPr>
              <a:t>Acknowledge, disarm and show event history</a:t>
            </a:r>
            <a:endParaRPr lang="en-US" sz="1150" dirty="0"/>
          </a:p>
        </p:txBody>
      </p:sp>
      <p:sp>
        <p:nvSpPr>
          <p:cNvPr id="41" name="Shape 39"/>
          <p:cNvSpPr/>
          <p:nvPr/>
        </p:nvSpPr>
        <p:spPr>
          <a:xfrm>
            <a:off x="6190488" y="4901184"/>
            <a:ext cx="4937760" cy="932688"/>
          </a:xfrm>
          <a:prstGeom prst="roundRect">
            <a:avLst>
              <a:gd name="adj" fmla="val 7843"/>
            </a:avLst>
          </a:prstGeom>
          <a:solidFill>
            <a:srgbClr val="FFF7E3"/>
          </a:solidFill>
          <a:ln w="15240">
            <a:solidFill>
              <a:srgbClr val="B97912"/>
            </a:solidFill>
            <a:prstDash val="solid"/>
          </a:ln>
        </p:spPr>
      </p:sp>
      <p:sp>
        <p:nvSpPr>
          <p:cNvPr id="42" name="Text 40"/>
          <p:cNvSpPr/>
          <p:nvPr/>
        </p:nvSpPr>
        <p:spPr>
          <a:xfrm>
            <a:off x="6446520" y="5084064"/>
            <a:ext cx="1444752" cy="201168"/>
          </a:xfrm>
          <a:prstGeom prst="rect">
            <a:avLst/>
          </a:prstGeom>
          <a:noFill/>
          <a:ln/>
        </p:spPr>
        <p:txBody>
          <a:bodyPr wrap="square" lIns="0" tIns="0" rIns="0" bIns="0" rtlCol="0" anchor="ctr">
            <a:normAutofit/>
          </a:bodyPr>
          <a:lstStyle/>
          <a:p>
            <a:pPr indent="0" marL="0">
              <a:buNone/>
            </a:pPr>
            <a:r>
              <a:rPr lang="en-US" sz="800" b="1" spc="100" kern="0" dirty="0">
                <a:solidFill>
                  <a:srgbClr val="B97912"/>
                </a:solidFill>
                <a:latin typeface="Arial" pitchFamily="34" charset="0"/>
                <a:ea typeface="Arial" pitchFamily="34" charset="-122"/>
                <a:cs typeface="Arial" pitchFamily="34" charset="-120"/>
              </a:rPr>
              <a:t>DEMO SAFETY NET</a:t>
            </a:r>
            <a:endParaRPr lang="en-US" sz="800" dirty="0"/>
          </a:p>
        </p:txBody>
      </p:sp>
      <p:sp>
        <p:nvSpPr>
          <p:cNvPr id="43" name="Text 41"/>
          <p:cNvSpPr/>
          <p:nvPr/>
        </p:nvSpPr>
        <p:spPr>
          <a:xfrm>
            <a:off x="7900416" y="4992624"/>
            <a:ext cx="2926080" cy="438912"/>
          </a:xfrm>
          <a:prstGeom prst="rect">
            <a:avLst/>
          </a:prstGeom>
          <a:noFill/>
          <a:ln/>
        </p:spPr>
        <p:txBody>
          <a:bodyPr wrap="square" lIns="0" tIns="0" rIns="0" bIns="0" rtlCol="0" anchor="ctr">
            <a:normAutofit/>
          </a:bodyPr>
          <a:lstStyle/>
          <a:p>
            <a:pPr indent="0" marL="0">
              <a:buNone/>
            </a:pPr>
            <a:r>
              <a:rPr lang="en-US" sz="1050" dirty="0">
                <a:solidFill>
                  <a:srgbClr val="14213D"/>
                </a:solidFill>
                <a:latin typeface="Arial" pitchFamily="34" charset="0"/>
                <a:ea typeface="Arial" pitchFamily="34" charset="-122"/>
                <a:cs typeface="Arial" pitchFamily="34" charset="-120"/>
              </a:rPr>
              <a:t>Keep a screenshot and event-history explanation ready if venue Wi-Fi isolates devices.</a:t>
            </a:r>
            <a:endParaRPr lang="en-US" sz="1050" dirty="0"/>
          </a:p>
        </p:txBody>
      </p:sp>
      <p:sp>
        <p:nvSpPr>
          <p:cNvPr id="25" name="Slide Number Placeholder 0"/>
          <p:cNvSpPr>
            <a:spLocks noGrp="1"/>
          </p:cNvSpPr>
          <p:nvPr>
            <p:ph type="sldNum" sz="quarter" idx="4294967295"/>
          </p:nvPr>
        </p:nvSpPr>
        <p:spPr>
          <a:xfrm>
            <a:off x="11384280" y="6446520"/>
            <a:ext cx="320040" cy="164592"/>
          </a:xfrm>
          <a:prstGeom prst="rect">
            <a:avLst/>
          </a:prstGeom>
          <a:extLst>
            <a:ext uri="{C572A759-6A51-4108-AA02-DFA0A04FC94B}">
              <ma14:wrappingTextBoxFlag xmlns:ma14="http://schemas.microsoft.com/office/mac/drawingml/2011/main" val="0"/>
            </a:ext>
          </a:extLst>
        </p:spPr>
        <p:txBody>
          <a:bodyPr/>
          <a:lstStyle>
            <a:lvl1pPr>
              <a:defRPr sz="800">
                <a:solidFill>
                  <a:srgbClr val="71819C"/>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02920" y="384048"/>
            <a:ext cx="384048" cy="274320"/>
          </a:xfrm>
          <a:prstGeom prst="rect">
            <a:avLst/>
          </a:prstGeom>
          <a:noFill/>
          <a:ln/>
        </p:spPr>
        <p:txBody>
          <a:bodyPr wrap="square" lIns="0" tIns="0" rIns="0" bIns="0" rtlCol="0" anchor="ctr">
            <a:normAutofit/>
          </a:bodyPr>
          <a:lstStyle/>
          <a:p>
            <a:pPr indent="0" marL="0">
              <a:buNone/>
            </a:pPr>
            <a:r>
              <a:rPr lang="en-US" sz="1000" b="1" spc="120" kern="0" dirty="0">
                <a:solidFill>
                  <a:srgbClr val="426EDC"/>
                </a:solidFill>
                <a:latin typeface="Arial" pitchFamily="34" charset="0"/>
                <a:ea typeface="Arial" pitchFamily="34" charset="-122"/>
                <a:cs typeface="Arial" pitchFamily="34" charset="-120"/>
              </a:rPr>
              <a:t>11</a:t>
            </a:r>
            <a:endParaRPr lang="en-US" sz="1000" dirty="0"/>
          </a:p>
        </p:txBody>
      </p:sp>
      <p:sp>
        <p:nvSpPr>
          <p:cNvPr id="3" name="Shape 1"/>
          <p:cNvSpPr/>
          <p:nvPr/>
        </p:nvSpPr>
        <p:spPr>
          <a:xfrm>
            <a:off x="896112" y="521208"/>
            <a:ext cx="502920" cy="0"/>
          </a:xfrm>
          <a:prstGeom prst="line">
            <a:avLst/>
          </a:prstGeom>
          <a:noFill/>
          <a:ln w="12700">
            <a:solidFill>
              <a:srgbClr val="C9D5E5"/>
            </a:solidFill>
            <a:prstDash val="solid"/>
            <a:headEnd type="none"/>
            <a:tailEnd type="none"/>
          </a:ln>
        </p:spPr>
      </p:sp>
      <p:sp>
        <p:nvSpPr>
          <p:cNvPr id="4" name="Text 2"/>
          <p:cNvSpPr/>
          <p:nvPr/>
        </p:nvSpPr>
        <p:spPr>
          <a:xfrm>
            <a:off x="1527048" y="365760"/>
            <a:ext cx="3291840" cy="292608"/>
          </a:xfrm>
          <a:prstGeom prst="rect">
            <a:avLst/>
          </a:prstGeom>
          <a:noFill/>
          <a:ln/>
        </p:spPr>
        <p:txBody>
          <a:bodyPr wrap="square" lIns="0" tIns="0" rIns="0" bIns="0" rtlCol="0" anchor="ctr">
            <a:normAutofit/>
          </a:bodyPr>
          <a:lstStyle/>
          <a:p>
            <a:pPr indent="0" marL="0">
              <a:buNone/>
            </a:pPr>
            <a:r>
              <a:rPr lang="en-US" sz="900" b="1" spc="150" kern="0" dirty="0">
                <a:solidFill>
                  <a:srgbClr val="426EDC"/>
                </a:solidFill>
                <a:latin typeface="Arial" pitchFamily="34" charset="0"/>
                <a:ea typeface="Arial" pitchFamily="34" charset="-122"/>
                <a:cs typeface="Arial" pitchFamily="34" charset="-120"/>
              </a:rPr>
              <a:t>HONEST SCOPE</a:t>
            </a:r>
            <a:endParaRPr lang="en-US" sz="900" dirty="0"/>
          </a:p>
        </p:txBody>
      </p:sp>
      <p:sp>
        <p:nvSpPr>
          <p:cNvPr id="5" name="Text 3"/>
          <p:cNvSpPr/>
          <p:nvPr/>
        </p:nvSpPr>
        <p:spPr>
          <a:xfrm>
            <a:off x="502920" y="804672"/>
            <a:ext cx="11064240" cy="502920"/>
          </a:xfrm>
          <a:prstGeom prst="rect">
            <a:avLst/>
          </a:prstGeom>
          <a:noFill/>
          <a:ln/>
        </p:spPr>
        <p:txBody>
          <a:bodyPr wrap="square" lIns="0" tIns="0" rIns="0" bIns="0" rtlCol="0" anchor="ctr">
            <a:normAutofit/>
          </a:bodyPr>
          <a:lstStyle/>
          <a:p>
            <a:pPr indent="0" marL="0">
              <a:buNone/>
            </a:pPr>
            <a:r>
              <a:rPr lang="en-US" sz="2700" b="1" dirty="0">
                <a:solidFill>
                  <a:srgbClr val="14213D"/>
                </a:solidFill>
                <a:latin typeface="Arial" pitchFamily="34" charset="0"/>
                <a:ea typeface="Arial" pitchFamily="34" charset="-122"/>
                <a:cs typeface="Arial" pitchFamily="34" charset="-120"/>
              </a:rPr>
              <a:t>What the prototype does—and what comes next</a:t>
            </a:r>
            <a:endParaRPr lang="en-US" sz="2700" dirty="0"/>
          </a:p>
        </p:txBody>
      </p:sp>
      <p:sp>
        <p:nvSpPr>
          <p:cNvPr id="6" name="Text 4"/>
          <p:cNvSpPr/>
          <p:nvPr/>
        </p:nvSpPr>
        <p:spPr>
          <a:xfrm>
            <a:off x="502920" y="1353312"/>
            <a:ext cx="10881360" cy="365760"/>
          </a:xfrm>
          <a:prstGeom prst="rect">
            <a:avLst/>
          </a:prstGeom>
          <a:noFill/>
          <a:ln/>
        </p:spPr>
        <p:txBody>
          <a:bodyPr wrap="square" lIns="0" tIns="0" rIns="0" bIns="0" rtlCol="0" anchor="ctr">
            <a:normAutofit/>
          </a:bodyPr>
          <a:lstStyle/>
          <a:p>
            <a:pPr indent="0" marL="0">
              <a:buNone/>
            </a:pPr>
            <a:r>
              <a:rPr lang="en-US" sz="1150" dirty="0">
                <a:solidFill>
                  <a:srgbClr val="5E708F"/>
                </a:solidFill>
                <a:latin typeface="Arial" pitchFamily="34" charset="0"/>
                <a:ea typeface="Arial" pitchFamily="34" charset="-122"/>
                <a:cs typeface="Arial" pitchFamily="34" charset="-120"/>
              </a:rPr>
              <a:t>The current system is presentation-ready on a trusted LAN, but it is not a certified security product.</a:t>
            </a:r>
            <a:endParaRPr lang="en-US" sz="1150" dirty="0"/>
          </a:p>
        </p:txBody>
      </p:sp>
      <p:sp>
        <p:nvSpPr>
          <p:cNvPr id="7" name="Text 5"/>
          <p:cNvSpPr/>
          <p:nvPr/>
        </p:nvSpPr>
        <p:spPr>
          <a:xfrm>
            <a:off x="502920" y="6446520"/>
            <a:ext cx="2011680" cy="164592"/>
          </a:xfrm>
          <a:prstGeom prst="rect">
            <a:avLst/>
          </a:prstGeom>
          <a:noFill/>
          <a:ln/>
        </p:spPr>
        <p:txBody>
          <a:bodyPr wrap="square" lIns="0" tIns="0" rIns="0" bIns="0" rtlCol="0" anchor="ctr">
            <a:normAutofit/>
          </a:bodyPr>
          <a:lstStyle/>
          <a:p>
            <a:pPr indent="0" marL="0">
              <a:buNone/>
            </a:pPr>
            <a:r>
              <a:rPr lang="en-US" sz="800" b="1" dirty="0">
                <a:solidFill>
                  <a:srgbClr val="71819C"/>
                </a:solidFill>
                <a:latin typeface="Arial" pitchFamily="34" charset="0"/>
                <a:ea typeface="Arial" pitchFamily="34" charset="-122"/>
                <a:cs typeface="Arial" pitchFamily="34" charset="-120"/>
              </a:rPr>
              <a:t>FailureAntyTheft</a:t>
            </a:r>
            <a:endParaRPr lang="en-US" sz="800" dirty="0"/>
          </a:p>
        </p:txBody>
      </p:sp>
      <p:sp>
        <p:nvSpPr>
          <p:cNvPr id="8" name="Shape 6"/>
          <p:cNvSpPr/>
          <p:nvPr/>
        </p:nvSpPr>
        <p:spPr>
          <a:xfrm>
            <a:off x="502920" y="1901952"/>
            <a:ext cx="5074920" cy="4041648"/>
          </a:xfrm>
          <a:prstGeom prst="roundRect">
            <a:avLst>
              <a:gd name="adj" fmla="val 1810"/>
            </a:avLst>
          </a:prstGeom>
          <a:solidFill>
            <a:srgbClr val="FFFFFF"/>
          </a:solidFill>
          <a:ln w="15240">
            <a:solidFill>
              <a:srgbClr val="D64255">
                <a:alpha val="55000"/>
              </a:srgbClr>
            </a:solidFill>
            <a:prstDash val="solid"/>
          </a:ln>
        </p:spPr>
      </p:sp>
      <p:sp>
        <p:nvSpPr>
          <p:cNvPr id="9" name="Text 7"/>
          <p:cNvSpPr/>
          <p:nvPr/>
        </p:nvSpPr>
        <p:spPr>
          <a:xfrm>
            <a:off x="804672" y="2203704"/>
            <a:ext cx="1965960" cy="228600"/>
          </a:xfrm>
          <a:prstGeom prst="rect">
            <a:avLst/>
          </a:prstGeom>
          <a:noFill/>
          <a:ln/>
        </p:spPr>
        <p:txBody>
          <a:bodyPr wrap="square" lIns="0" tIns="0" rIns="0" bIns="0" rtlCol="0" anchor="ctr">
            <a:normAutofit/>
          </a:bodyPr>
          <a:lstStyle/>
          <a:p>
            <a:pPr indent="0" marL="0">
              <a:buNone/>
            </a:pPr>
            <a:r>
              <a:rPr lang="en-US" sz="900" b="1" spc="120" kern="0" dirty="0">
                <a:solidFill>
                  <a:srgbClr val="D64255"/>
                </a:solidFill>
                <a:latin typeface="Arial" pitchFamily="34" charset="0"/>
                <a:ea typeface="Arial" pitchFamily="34" charset="-122"/>
                <a:cs typeface="Arial" pitchFamily="34" charset="-120"/>
              </a:rPr>
              <a:t>CURRENT LIMITATIONS</a:t>
            </a:r>
            <a:endParaRPr lang="en-US" sz="900" dirty="0"/>
          </a:p>
        </p:txBody>
      </p:sp>
      <p:sp>
        <p:nvSpPr>
          <p:cNvPr id="10" name="Shape 8"/>
          <p:cNvSpPr/>
          <p:nvPr/>
        </p:nvSpPr>
        <p:spPr>
          <a:xfrm>
            <a:off x="822960" y="2798064"/>
            <a:ext cx="137160" cy="137160"/>
          </a:xfrm>
          <a:prstGeom prst="ellipse">
            <a:avLst/>
          </a:prstGeom>
          <a:solidFill>
            <a:srgbClr val="D64255"/>
          </a:solidFill>
          <a:ln w="12700">
            <a:solidFill>
              <a:srgbClr val="D64255"/>
            </a:solidFill>
            <a:prstDash val="solid"/>
          </a:ln>
        </p:spPr>
      </p:sp>
      <p:sp>
        <p:nvSpPr>
          <p:cNvPr id="11" name="Text 9"/>
          <p:cNvSpPr/>
          <p:nvPr/>
        </p:nvSpPr>
        <p:spPr>
          <a:xfrm>
            <a:off x="1078992" y="2670048"/>
            <a:ext cx="4059936" cy="237744"/>
          </a:xfrm>
          <a:prstGeom prst="rect">
            <a:avLst/>
          </a:prstGeom>
          <a:noFill/>
          <a:ln/>
        </p:spPr>
        <p:txBody>
          <a:bodyPr wrap="square" lIns="0" tIns="0" rIns="0" bIns="0" rtlCol="0" anchor="ctr">
            <a:normAutofit/>
          </a:bodyPr>
          <a:lstStyle/>
          <a:p>
            <a:pPr indent="0" marL="0">
              <a:buNone/>
            </a:pPr>
            <a:r>
              <a:rPr lang="en-US" sz="1120" b="1" dirty="0">
                <a:solidFill>
                  <a:srgbClr val="14213D"/>
                </a:solidFill>
                <a:latin typeface="Arial" pitchFamily="34" charset="0"/>
                <a:ea typeface="Arial" pitchFamily="34" charset="-122"/>
                <a:cs typeface="Arial" pitchFamily="34" charset="-120"/>
              </a:rPr>
              <a:t>Trusted private LAN only</a:t>
            </a:r>
            <a:endParaRPr lang="en-US" sz="1120" dirty="0"/>
          </a:p>
        </p:txBody>
      </p:sp>
      <p:sp>
        <p:nvSpPr>
          <p:cNvPr id="12" name="Text 10"/>
          <p:cNvSpPr/>
          <p:nvPr/>
        </p:nvSpPr>
        <p:spPr>
          <a:xfrm>
            <a:off x="1078992" y="2916936"/>
            <a:ext cx="4059936" cy="338328"/>
          </a:xfrm>
          <a:prstGeom prst="rect">
            <a:avLst/>
          </a:prstGeom>
          <a:noFill/>
          <a:ln/>
        </p:spPr>
        <p:txBody>
          <a:bodyPr wrap="square" lIns="0" tIns="0" rIns="0" bIns="0" rtlCol="0" anchor="t">
            <a:normAutofit/>
          </a:bodyPr>
          <a:lstStyle/>
          <a:p>
            <a:pPr indent="0" marL="0">
              <a:buNone/>
            </a:pPr>
            <a:r>
              <a:rPr lang="en-US" sz="880" dirty="0">
                <a:solidFill>
                  <a:srgbClr val="5E708F"/>
                </a:solidFill>
                <a:latin typeface="Arial" pitchFamily="34" charset="0"/>
                <a:ea typeface="Arial" pitchFamily="34" charset="-122"/>
                <a:cs typeface="Arial" pitchFamily="34" charset="-120"/>
              </a:rPr>
              <a:t>No authentication or TLS for public deployment.</a:t>
            </a:r>
            <a:endParaRPr lang="en-US" sz="880" dirty="0"/>
          </a:p>
        </p:txBody>
      </p:sp>
      <p:sp>
        <p:nvSpPr>
          <p:cNvPr id="13" name="Shape 11"/>
          <p:cNvSpPr/>
          <p:nvPr/>
        </p:nvSpPr>
        <p:spPr>
          <a:xfrm>
            <a:off x="822960" y="3392424"/>
            <a:ext cx="137160" cy="137160"/>
          </a:xfrm>
          <a:prstGeom prst="ellipse">
            <a:avLst/>
          </a:prstGeom>
          <a:solidFill>
            <a:srgbClr val="D64255"/>
          </a:solidFill>
          <a:ln w="12700">
            <a:solidFill>
              <a:srgbClr val="D64255"/>
            </a:solidFill>
            <a:prstDash val="solid"/>
          </a:ln>
        </p:spPr>
      </p:sp>
      <p:sp>
        <p:nvSpPr>
          <p:cNvPr id="14" name="Text 12"/>
          <p:cNvSpPr/>
          <p:nvPr/>
        </p:nvSpPr>
        <p:spPr>
          <a:xfrm>
            <a:off x="1078992" y="3264408"/>
            <a:ext cx="4059936" cy="237744"/>
          </a:xfrm>
          <a:prstGeom prst="rect">
            <a:avLst/>
          </a:prstGeom>
          <a:noFill/>
          <a:ln/>
        </p:spPr>
        <p:txBody>
          <a:bodyPr wrap="square" lIns="0" tIns="0" rIns="0" bIns="0" rtlCol="0" anchor="ctr">
            <a:normAutofit/>
          </a:bodyPr>
          <a:lstStyle/>
          <a:p>
            <a:pPr indent="0" marL="0">
              <a:buNone/>
            </a:pPr>
            <a:r>
              <a:rPr lang="en-US" sz="1120" b="1" dirty="0">
                <a:solidFill>
                  <a:srgbClr val="14213D"/>
                </a:solidFill>
                <a:latin typeface="Arial" pitchFamily="34" charset="0"/>
                <a:ea typeface="Arial" pitchFamily="34" charset="-122"/>
                <a:cs typeface="Arial" pitchFamily="34" charset="-120"/>
              </a:rPr>
              <a:t>Browser is the alarm endpoint</a:t>
            </a:r>
            <a:endParaRPr lang="en-US" sz="1120" dirty="0"/>
          </a:p>
        </p:txBody>
      </p:sp>
      <p:sp>
        <p:nvSpPr>
          <p:cNvPr id="15" name="Text 13"/>
          <p:cNvSpPr/>
          <p:nvPr/>
        </p:nvSpPr>
        <p:spPr>
          <a:xfrm>
            <a:off x="1078992" y="3511296"/>
            <a:ext cx="4059936" cy="338328"/>
          </a:xfrm>
          <a:prstGeom prst="rect">
            <a:avLst/>
          </a:prstGeom>
          <a:noFill/>
          <a:ln/>
        </p:spPr>
        <p:txBody>
          <a:bodyPr wrap="square" lIns="0" tIns="0" rIns="0" bIns="0" rtlCol="0" anchor="t">
            <a:normAutofit/>
          </a:bodyPr>
          <a:lstStyle/>
          <a:p>
            <a:pPr indent="0" marL="0">
              <a:buNone/>
            </a:pPr>
            <a:r>
              <a:rPr lang="en-US" sz="880" dirty="0">
                <a:solidFill>
                  <a:srgbClr val="5E708F"/>
                </a:solidFill>
                <a:latin typeface="Arial" pitchFamily="34" charset="0"/>
                <a:ea typeface="Arial" pitchFamily="34" charset="-122"/>
                <a:cs typeface="Arial" pitchFamily="34" charset="-120"/>
              </a:rPr>
              <a:t>The tab must remain open with audio enabled.</a:t>
            </a:r>
            <a:endParaRPr lang="en-US" sz="880" dirty="0"/>
          </a:p>
        </p:txBody>
      </p:sp>
      <p:sp>
        <p:nvSpPr>
          <p:cNvPr id="16" name="Shape 14"/>
          <p:cNvSpPr/>
          <p:nvPr/>
        </p:nvSpPr>
        <p:spPr>
          <a:xfrm>
            <a:off x="822960" y="3986784"/>
            <a:ext cx="137160" cy="137160"/>
          </a:xfrm>
          <a:prstGeom prst="ellipse">
            <a:avLst/>
          </a:prstGeom>
          <a:solidFill>
            <a:srgbClr val="D64255"/>
          </a:solidFill>
          <a:ln w="12700">
            <a:solidFill>
              <a:srgbClr val="D64255"/>
            </a:solidFill>
            <a:prstDash val="solid"/>
          </a:ln>
        </p:spPr>
      </p:sp>
      <p:sp>
        <p:nvSpPr>
          <p:cNvPr id="17" name="Text 15"/>
          <p:cNvSpPr/>
          <p:nvPr/>
        </p:nvSpPr>
        <p:spPr>
          <a:xfrm>
            <a:off x="1078992" y="3858768"/>
            <a:ext cx="4059936" cy="237744"/>
          </a:xfrm>
          <a:prstGeom prst="rect">
            <a:avLst/>
          </a:prstGeom>
          <a:noFill/>
          <a:ln/>
        </p:spPr>
        <p:txBody>
          <a:bodyPr wrap="square" lIns="0" tIns="0" rIns="0" bIns="0" rtlCol="0" anchor="ctr">
            <a:normAutofit/>
          </a:bodyPr>
          <a:lstStyle/>
          <a:p>
            <a:pPr indent="0" marL="0">
              <a:buNone/>
            </a:pPr>
            <a:r>
              <a:rPr lang="en-US" sz="1120" b="1" dirty="0">
                <a:solidFill>
                  <a:srgbClr val="14213D"/>
                </a:solidFill>
                <a:latin typeface="Arial" pitchFamily="34" charset="0"/>
                <a:ea typeface="Arial" pitchFamily="34" charset="-122"/>
                <a:cs typeface="Arial" pitchFamily="34" charset="-120"/>
              </a:rPr>
              <a:t>Default Phyphox profile</a:t>
            </a:r>
            <a:endParaRPr lang="en-US" sz="1120" dirty="0"/>
          </a:p>
        </p:txBody>
      </p:sp>
      <p:sp>
        <p:nvSpPr>
          <p:cNvPr id="18" name="Text 16"/>
          <p:cNvSpPr/>
          <p:nvPr/>
        </p:nvSpPr>
        <p:spPr>
          <a:xfrm>
            <a:off x="1078992" y="4105656"/>
            <a:ext cx="4059936" cy="338328"/>
          </a:xfrm>
          <a:prstGeom prst="rect">
            <a:avLst/>
          </a:prstGeom>
          <a:noFill/>
          <a:ln/>
        </p:spPr>
        <p:txBody>
          <a:bodyPr wrap="square" lIns="0" tIns="0" rIns="0" bIns="0" rtlCol="0" anchor="t">
            <a:normAutofit/>
          </a:bodyPr>
          <a:lstStyle/>
          <a:p>
            <a:pPr indent="0" marL="0">
              <a:buNone/>
            </a:pPr>
            <a:r>
              <a:rPr lang="en-US" sz="880" dirty="0">
                <a:solidFill>
                  <a:srgbClr val="5E708F"/>
                </a:solidFill>
                <a:latin typeface="Arial" pitchFamily="34" charset="0"/>
                <a:ea typeface="Arial" pitchFamily="34" charset="-122"/>
                <a:cs typeface="Arial" pitchFamily="34" charset="-120"/>
              </a:rPr>
              <a:t>Custom experiments may expose different buffer names.</a:t>
            </a:r>
            <a:endParaRPr lang="en-US" sz="880" dirty="0"/>
          </a:p>
        </p:txBody>
      </p:sp>
      <p:sp>
        <p:nvSpPr>
          <p:cNvPr id="19" name="Shape 17"/>
          <p:cNvSpPr/>
          <p:nvPr/>
        </p:nvSpPr>
        <p:spPr>
          <a:xfrm>
            <a:off x="822960" y="4581144"/>
            <a:ext cx="137160" cy="137160"/>
          </a:xfrm>
          <a:prstGeom prst="ellipse">
            <a:avLst/>
          </a:prstGeom>
          <a:solidFill>
            <a:srgbClr val="D64255"/>
          </a:solidFill>
          <a:ln w="12700">
            <a:solidFill>
              <a:srgbClr val="D64255"/>
            </a:solidFill>
            <a:prstDash val="solid"/>
          </a:ln>
        </p:spPr>
      </p:sp>
      <p:sp>
        <p:nvSpPr>
          <p:cNvPr id="20" name="Text 18"/>
          <p:cNvSpPr/>
          <p:nvPr/>
        </p:nvSpPr>
        <p:spPr>
          <a:xfrm>
            <a:off x="1078992" y="4453128"/>
            <a:ext cx="4059936" cy="237744"/>
          </a:xfrm>
          <a:prstGeom prst="rect">
            <a:avLst/>
          </a:prstGeom>
          <a:noFill/>
          <a:ln/>
        </p:spPr>
        <p:txBody>
          <a:bodyPr wrap="square" lIns="0" tIns="0" rIns="0" bIns="0" rtlCol="0" anchor="ctr">
            <a:normAutofit/>
          </a:bodyPr>
          <a:lstStyle/>
          <a:p>
            <a:pPr indent="0" marL="0">
              <a:buNone/>
            </a:pPr>
            <a:r>
              <a:rPr lang="en-US" sz="1120" b="1" dirty="0">
                <a:solidFill>
                  <a:srgbClr val="14213D"/>
                </a:solidFill>
                <a:latin typeface="Arial" pitchFamily="34" charset="0"/>
                <a:ea typeface="Arial" pitchFamily="34" charset="-122"/>
                <a:cs typeface="Arial" pitchFamily="34" charset="-120"/>
              </a:rPr>
              <a:t>Prototype acceptance scope</a:t>
            </a:r>
            <a:endParaRPr lang="en-US" sz="1120" dirty="0"/>
          </a:p>
        </p:txBody>
      </p:sp>
      <p:sp>
        <p:nvSpPr>
          <p:cNvPr id="21" name="Text 19"/>
          <p:cNvSpPr/>
          <p:nvPr/>
        </p:nvSpPr>
        <p:spPr>
          <a:xfrm>
            <a:off x="1078992" y="4700016"/>
            <a:ext cx="4059936" cy="338328"/>
          </a:xfrm>
          <a:prstGeom prst="rect">
            <a:avLst/>
          </a:prstGeom>
          <a:noFill/>
          <a:ln/>
        </p:spPr>
        <p:txBody>
          <a:bodyPr wrap="square" lIns="0" tIns="0" rIns="0" bIns="0" rtlCol="0" anchor="t">
            <a:normAutofit/>
          </a:bodyPr>
          <a:lstStyle/>
          <a:p>
            <a:pPr indent="0" marL="0">
              <a:buNone/>
            </a:pPr>
            <a:r>
              <a:rPr lang="en-US" sz="880" dirty="0">
                <a:solidFill>
                  <a:srgbClr val="5E708F"/>
                </a:solidFill>
                <a:latin typeface="Arial" pitchFamily="34" charset="0"/>
                <a:ea typeface="Arial" pitchFamily="34" charset="-122"/>
                <a:cs typeface="Arial" pitchFamily="34" charset="-120"/>
              </a:rPr>
              <a:t>One live phone verified; multi-phone physical stress testing remains.</a:t>
            </a:r>
            <a:endParaRPr lang="en-US" sz="880" dirty="0"/>
          </a:p>
        </p:txBody>
      </p:sp>
      <p:sp>
        <p:nvSpPr>
          <p:cNvPr id="22" name="Shape 20"/>
          <p:cNvSpPr/>
          <p:nvPr/>
        </p:nvSpPr>
        <p:spPr>
          <a:xfrm>
            <a:off x="822960" y="5175504"/>
            <a:ext cx="137160" cy="137160"/>
          </a:xfrm>
          <a:prstGeom prst="ellipse">
            <a:avLst/>
          </a:prstGeom>
          <a:solidFill>
            <a:srgbClr val="D64255"/>
          </a:solidFill>
          <a:ln w="12700">
            <a:solidFill>
              <a:srgbClr val="D64255"/>
            </a:solidFill>
            <a:prstDash val="solid"/>
          </a:ln>
        </p:spPr>
      </p:sp>
      <p:sp>
        <p:nvSpPr>
          <p:cNvPr id="23" name="Text 21"/>
          <p:cNvSpPr/>
          <p:nvPr/>
        </p:nvSpPr>
        <p:spPr>
          <a:xfrm>
            <a:off x="1078992" y="5047488"/>
            <a:ext cx="4059936" cy="237744"/>
          </a:xfrm>
          <a:prstGeom prst="rect">
            <a:avLst/>
          </a:prstGeom>
          <a:noFill/>
          <a:ln/>
        </p:spPr>
        <p:txBody>
          <a:bodyPr wrap="square" lIns="0" tIns="0" rIns="0" bIns="0" rtlCol="0" anchor="ctr">
            <a:normAutofit/>
          </a:bodyPr>
          <a:lstStyle/>
          <a:p>
            <a:pPr indent="0" marL="0">
              <a:buNone/>
            </a:pPr>
            <a:r>
              <a:rPr lang="en-US" sz="1120" b="1" dirty="0">
                <a:solidFill>
                  <a:srgbClr val="14213D"/>
                </a:solidFill>
                <a:latin typeface="Arial" pitchFamily="34" charset="0"/>
                <a:ea typeface="Arial" pitchFamily="34" charset="-122"/>
                <a:cs typeface="Arial" pitchFamily="34" charset="-120"/>
              </a:rPr>
              <a:t>Not theft prevention</a:t>
            </a:r>
            <a:endParaRPr lang="en-US" sz="1120" dirty="0"/>
          </a:p>
        </p:txBody>
      </p:sp>
      <p:sp>
        <p:nvSpPr>
          <p:cNvPr id="24" name="Text 22"/>
          <p:cNvSpPr/>
          <p:nvPr/>
        </p:nvSpPr>
        <p:spPr>
          <a:xfrm>
            <a:off x="1078992" y="5294376"/>
            <a:ext cx="4059936" cy="338328"/>
          </a:xfrm>
          <a:prstGeom prst="rect">
            <a:avLst/>
          </a:prstGeom>
          <a:noFill/>
          <a:ln/>
        </p:spPr>
        <p:txBody>
          <a:bodyPr wrap="square" lIns="0" tIns="0" rIns="0" bIns="0" rtlCol="0" anchor="t">
            <a:normAutofit/>
          </a:bodyPr>
          <a:lstStyle/>
          <a:p>
            <a:pPr indent="0" marL="0">
              <a:buNone/>
            </a:pPr>
            <a:r>
              <a:rPr lang="en-US" sz="880" dirty="0">
                <a:solidFill>
                  <a:srgbClr val="5E708F"/>
                </a:solidFill>
                <a:latin typeface="Arial" pitchFamily="34" charset="0"/>
                <a:ea typeface="Arial" pitchFamily="34" charset="-122"/>
                <a:cs typeface="Arial" pitchFamily="34" charset="-120"/>
              </a:rPr>
              <a:t>It detects and reports movement; it does not physically secure an asset.</a:t>
            </a:r>
            <a:endParaRPr lang="en-US" sz="880" dirty="0"/>
          </a:p>
        </p:txBody>
      </p:sp>
      <p:sp>
        <p:nvSpPr>
          <p:cNvPr id="25" name="Shape 23"/>
          <p:cNvSpPr/>
          <p:nvPr/>
        </p:nvSpPr>
        <p:spPr>
          <a:xfrm>
            <a:off x="5870448" y="1901952"/>
            <a:ext cx="5394960" cy="4041648"/>
          </a:xfrm>
          <a:prstGeom prst="roundRect">
            <a:avLst>
              <a:gd name="adj" fmla="val 1810"/>
            </a:avLst>
          </a:prstGeom>
          <a:solidFill>
            <a:srgbClr val="FFFFFF"/>
          </a:solidFill>
          <a:ln w="15240">
            <a:solidFill>
              <a:srgbClr val="078F68">
                <a:alpha val="55000"/>
              </a:srgbClr>
            </a:solidFill>
            <a:prstDash val="solid"/>
          </a:ln>
        </p:spPr>
      </p:sp>
      <p:sp>
        <p:nvSpPr>
          <p:cNvPr id="26" name="Text 24"/>
          <p:cNvSpPr/>
          <p:nvPr/>
        </p:nvSpPr>
        <p:spPr>
          <a:xfrm>
            <a:off x="6181344" y="2203704"/>
            <a:ext cx="1097280" cy="228600"/>
          </a:xfrm>
          <a:prstGeom prst="rect">
            <a:avLst/>
          </a:prstGeom>
          <a:noFill/>
          <a:ln/>
        </p:spPr>
        <p:txBody>
          <a:bodyPr wrap="square" lIns="0" tIns="0" rIns="0" bIns="0" rtlCol="0" anchor="ctr">
            <a:normAutofit/>
          </a:bodyPr>
          <a:lstStyle/>
          <a:p>
            <a:pPr indent="0" marL="0">
              <a:buNone/>
            </a:pPr>
            <a:r>
              <a:rPr lang="en-US" sz="900" b="1" spc="120" kern="0" dirty="0">
                <a:solidFill>
                  <a:srgbClr val="078F68"/>
                </a:solidFill>
                <a:latin typeface="Arial" pitchFamily="34" charset="0"/>
                <a:ea typeface="Arial" pitchFamily="34" charset="-122"/>
                <a:cs typeface="Arial" pitchFamily="34" charset="-120"/>
              </a:rPr>
              <a:t>ROADMAP</a:t>
            </a:r>
            <a:endParaRPr lang="en-US" sz="900" dirty="0"/>
          </a:p>
        </p:txBody>
      </p:sp>
      <p:sp>
        <p:nvSpPr>
          <p:cNvPr id="27" name="Text 25"/>
          <p:cNvSpPr/>
          <p:nvPr/>
        </p:nvSpPr>
        <p:spPr>
          <a:xfrm>
            <a:off x="6181344" y="2688336"/>
            <a:ext cx="384048" cy="219456"/>
          </a:xfrm>
          <a:prstGeom prst="rect">
            <a:avLst/>
          </a:prstGeom>
          <a:noFill/>
          <a:ln/>
        </p:spPr>
        <p:txBody>
          <a:bodyPr wrap="square" lIns="0" tIns="0" rIns="0" bIns="0" rtlCol="0" anchor="ctr">
            <a:normAutofit/>
          </a:bodyPr>
          <a:lstStyle/>
          <a:p>
            <a:pPr indent="0" marL="0">
              <a:buNone/>
            </a:pPr>
            <a:r>
              <a:rPr lang="en-US" sz="850" b="1" dirty="0">
                <a:solidFill>
                  <a:srgbClr val="078F68"/>
                </a:solidFill>
                <a:latin typeface="Arial" pitchFamily="34" charset="0"/>
                <a:ea typeface="Arial" pitchFamily="34" charset="-122"/>
                <a:cs typeface="Arial" pitchFamily="34" charset="-120"/>
              </a:rPr>
              <a:t>01</a:t>
            </a:r>
            <a:endParaRPr lang="en-US" sz="850" dirty="0"/>
          </a:p>
        </p:txBody>
      </p:sp>
      <p:sp>
        <p:nvSpPr>
          <p:cNvPr id="28" name="Text 26"/>
          <p:cNvSpPr/>
          <p:nvPr/>
        </p:nvSpPr>
        <p:spPr>
          <a:xfrm>
            <a:off x="6601968" y="2688336"/>
            <a:ext cx="2057400" cy="219456"/>
          </a:xfrm>
          <a:prstGeom prst="rect">
            <a:avLst/>
          </a:prstGeom>
          <a:noFill/>
          <a:ln/>
        </p:spPr>
        <p:txBody>
          <a:bodyPr wrap="square" lIns="0" tIns="0" rIns="0" bIns="0" rtlCol="0" anchor="ctr">
            <a:normAutofit/>
          </a:bodyPr>
          <a:lstStyle/>
          <a:p>
            <a:pPr indent="0" marL="0">
              <a:buNone/>
            </a:pPr>
            <a:r>
              <a:rPr lang="en-US" sz="1080" b="1" dirty="0">
                <a:solidFill>
                  <a:srgbClr val="14213D"/>
                </a:solidFill>
                <a:latin typeface="Arial" pitchFamily="34" charset="0"/>
                <a:ea typeface="Arial" pitchFamily="34" charset="-122"/>
                <a:cs typeface="Arial" pitchFamily="34" charset="-120"/>
              </a:rPr>
              <a:t>Auto-discover buffers</a:t>
            </a:r>
            <a:endParaRPr lang="en-US" sz="1080" dirty="0"/>
          </a:p>
        </p:txBody>
      </p:sp>
      <p:sp>
        <p:nvSpPr>
          <p:cNvPr id="29" name="Text 27"/>
          <p:cNvSpPr/>
          <p:nvPr/>
        </p:nvSpPr>
        <p:spPr>
          <a:xfrm>
            <a:off x="8650224" y="2688336"/>
            <a:ext cx="2212848" cy="256032"/>
          </a:xfrm>
          <a:prstGeom prst="rect">
            <a:avLst/>
          </a:prstGeom>
          <a:noFill/>
          <a:ln/>
        </p:spPr>
        <p:txBody>
          <a:bodyPr wrap="square" lIns="0" tIns="0" rIns="0" bIns="0" rtlCol="0" anchor="t">
            <a:normAutofit/>
          </a:bodyPr>
          <a:lstStyle/>
          <a:p>
            <a:pPr indent="0" marL="0">
              <a:buNone/>
            </a:pPr>
            <a:r>
              <a:rPr lang="en-US" sz="870" dirty="0">
                <a:solidFill>
                  <a:srgbClr val="5E708F"/>
                </a:solidFill>
                <a:latin typeface="Arial" pitchFamily="34" charset="0"/>
                <a:ea typeface="Arial" pitchFamily="34" charset="-122"/>
                <a:cs typeface="Arial" pitchFamily="34" charset="-120"/>
              </a:rPr>
              <a:t>Read /config and map experiments automatically.</a:t>
            </a:r>
            <a:endParaRPr lang="en-US" sz="870" dirty="0"/>
          </a:p>
        </p:txBody>
      </p:sp>
      <p:sp>
        <p:nvSpPr>
          <p:cNvPr id="30" name="Text 28"/>
          <p:cNvSpPr/>
          <p:nvPr/>
        </p:nvSpPr>
        <p:spPr>
          <a:xfrm>
            <a:off x="6181344" y="3291840"/>
            <a:ext cx="384048" cy="219456"/>
          </a:xfrm>
          <a:prstGeom prst="rect">
            <a:avLst/>
          </a:prstGeom>
          <a:noFill/>
          <a:ln/>
        </p:spPr>
        <p:txBody>
          <a:bodyPr wrap="square" lIns="0" tIns="0" rIns="0" bIns="0" rtlCol="0" anchor="ctr">
            <a:normAutofit/>
          </a:bodyPr>
          <a:lstStyle/>
          <a:p>
            <a:pPr indent="0" marL="0">
              <a:buNone/>
            </a:pPr>
            <a:r>
              <a:rPr lang="en-US" sz="850" b="1" dirty="0">
                <a:solidFill>
                  <a:srgbClr val="078F68"/>
                </a:solidFill>
                <a:latin typeface="Arial" pitchFamily="34" charset="0"/>
                <a:ea typeface="Arial" pitchFamily="34" charset="-122"/>
                <a:cs typeface="Arial" pitchFamily="34" charset="-120"/>
              </a:rPr>
              <a:t>02</a:t>
            </a:r>
            <a:endParaRPr lang="en-US" sz="850" dirty="0"/>
          </a:p>
        </p:txBody>
      </p:sp>
      <p:sp>
        <p:nvSpPr>
          <p:cNvPr id="31" name="Text 29"/>
          <p:cNvSpPr/>
          <p:nvPr/>
        </p:nvSpPr>
        <p:spPr>
          <a:xfrm>
            <a:off x="6601968" y="3291840"/>
            <a:ext cx="2057400" cy="219456"/>
          </a:xfrm>
          <a:prstGeom prst="rect">
            <a:avLst/>
          </a:prstGeom>
          <a:noFill/>
          <a:ln/>
        </p:spPr>
        <p:txBody>
          <a:bodyPr wrap="square" lIns="0" tIns="0" rIns="0" bIns="0" rtlCol="0" anchor="ctr">
            <a:normAutofit/>
          </a:bodyPr>
          <a:lstStyle/>
          <a:p>
            <a:pPr indent="0" marL="0">
              <a:buNone/>
            </a:pPr>
            <a:r>
              <a:rPr lang="en-US" sz="1080" b="1" dirty="0">
                <a:solidFill>
                  <a:srgbClr val="14213D"/>
                </a:solidFill>
                <a:latin typeface="Arial" pitchFamily="34" charset="0"/>
                <a:ea typeface="Arial" pitchFamily="34" charset="-122"/>
                <a:cs typeface="Arial" pitchFamily="34" charset="-120"/>
              </a:rPr>
              <a:t>Secure remote access</a:t>
            </a:r>
            <a:endParaRPr lang="en-US" sz="1080" dirty="0"/>
          </a:p>
        </p:txBody>
      </p:sp>
      <p:sp>
        <p:nvSpPr>
          <p:cNvPr id="32" name="Text 30"/>
          <p:cNvSpPr/>
          <p:nvPr/>
        </p:nvSpPr>
        <p:spPr>
          <a:xfrm>
            <a:off x="8650224" y="3291840"/>
            <a:ext cx="2212848" cy="256032"/>
          </a:xfrm>
          <a:prstGeom prst="rect">
            <a:avLst/>
          </a:prstGeom>
          <a:noFill/>
          <a:ln/>
        </p:spPr>
        <p:txBody>
          <a:bodyPr wrap="square" lIns="0" tIns="0" rIns="0" bIns="0" rtlCol="0" anchor="t">
            <a:normAutofit/>
          </a:bodyPr>
          <a:lstStyle/>
          <a:p>
            <a:pPr indent="0" marL="0">
              <a:buNone/>
            </a:pPr>
            <a:r>
              <a:rPr lang="en-US" sz="870" dirty="0">
                <a:solidFill>
                  <a:srgbClr val="5E708F"/>
                </a:solidFill>
                <a:latin typeface="Arial" pitchFamily="34" charset="0"/>
                <a:ea typeface="Arial" pitchFamily="34" charset="-122"/>
                <a:cs typeface="Arial" pitchFamily="34" charset="-120"/>
              </a:rPr>
              <a:t>Authentication, HTTPS and role-based controls.</a:t>
            </a:r>
            <a:endParaRPr lang="en-US" sz="870" dirty="0"/>
          </a:p>
        </p:txBody>
      </p:sp>
      <p:sp>
        <p:nvSpPr>
          <p:cNvPr id="33" name="Text 31"/>
          <p:cNvSpPr/>
          <p:nvPr/>
        </p:nvSpPr>
        <p:spPr>
          <a:xfrm>
            <a:off x="6181344" y="3895344"/>
            <a:ext cx="384048" cy="219456"/>
          </a:xfrm>
          <a:prstGeom prst="rect">
            <a:avLst/>
          </a:prstGeom>
          <a:noFill/>
          <a:ln/>
        </p:spPr>
        <p:txBody>
          <a:bodyPr wrap="square" lIns="0" tIns="0" rIns="0" bIns="0" rtlCol="0" anchor="ctr">
            <a:normAutofit/>
          </a:bodyPr>
          <a:lstStyle/>
          <a:p>
            <a:pPr indent="0" marL="0">
              <a:buNone/>
            </a:pPr>
            <a:r>
              <a:rPr lang="en-US" sz="850" b="1" dirty="0">
                <a:solidFill>
                  <a:srgbClr val="078F68"/>
                </a:solidFill>
                <a:latin typeface="Arial" pitchFamily="34" charset="0"/>
                <a:ea typeface="Arial" pitchFamily="34" charset="-122"/>
                <a:cs typeface="Arial" pitchFamily="34" charset="-120"/>
              </a:rPr>
              <a:t>03</a:t>
            </a:r>
            <a:endParaRPr lang="en-US" sz="850" dirty="0"/>
          </a:p>
        </p:txBody>
      </p:sp>
      <p:sp>
        <p:nvSpPr>
          <p:cNvPr id="34" name="Text 32"/>
          <p:cNvSpPr/>
          <p:nvPr/>
        </p:nvSpPr>
        <p:spPr>
          <a:xfrm>
            <a:off x="6601968" y="3895344"/>
            <a:ext cx="2057400" cy="219456"/>
          </a:xfrm>
          <a:prstGeom prst="rect">
            <a:avLst/>
          </a:prstGeom>
          <a:noFill/>
          <a:ln/>
        </p:spPr>
        <p:txBody>
          <a:bodyPr wrap="square" lIns="0" tIns="0" rIns="0" bIns="0" rtlCol="0" anchor="ctr">
            <a:normAutofit/>
          </a:bodyPr>
          <a:lstStyle/>
          <a:p>
            <a:pPr indent="0" marL="0">
              <a:buNone/>
            </a:pPr>
            <a:r>
              <a:rPr lang="en-US" sz="1080" b="1" dirty="0">
                <a:solidFill>
                  <a:srgbClr val="14213D"/>
                </a:solidFill>
                <a:latin typeface="Arial" pitchFamily="34" charset="0"/>
                <a:ea typeface="Arial" pitchFamily="34" charset="-122"/>
                <a:cs typeface="Arial" pitchFamily="34" charset="-120"/>
              </a:rPr>
              <a:t>Mobile/PWA notifications</a:t>
            </a:r>
            <a:endParaRPr lang="en-US" sz="1080" dirty="0"/>
          </a:p>
        </p:txBody>
      </p:sp>
      <p:sp>
        <p:nvSpPr>
          <p:cNvPr id="35" name="Text 33"/>
          <p:cNvSpPr/>
          <p:nvPr/>
        </p:nvSpPr>
        <p:spPr>
          <a:xfrm>
            <a:off x="8650224" y="3895344"/>
            <a:ext cx="2212848" cy="256032"/>
          </a:xfrm>
          <a:prstGeom prst="rect">
            <a:avLst/>
          </a:prstGeom>
          <a:noFill/>
          <a:ln/>
        </p:spPr>
        <p:txBody>
          <a:bodyPr wrap="square" lIns="0" tIns="0" rIns="0" bIns="0" rtlCol="0" anchor="t">
            <a:normAutofit/>
          </a:bodyPr>
          <a:lstStyle/>
          <a:p>
            <a:pPr indent="0" marL="0">
              <a:buNone/>
            </a:pPr>
            <a:r>
              <a:rPr lang="en-US" sz="870" dirty="0">
                <a:solidFill>
                  <a:srgbClr val="5E708F"/>
                </a:solidFill>
                <a:latin typeface="Arial" pitchFamily="34" charset="0"/>
                <a:ea typeface="Arial" pitchFamily="34" charset="-122"/>
                <a:cs typeface="Arial" pitchFamily="34" charset="-120"/>
              </a:rPr>
              <a:t>Background push when the dashboard is not visible.</a:t>
            </a:r>
            <a:endParaRPr lang="en-US" sz="870" dirty="0"/>
          </a:p>
        </p:txBody>
      </p:sp>
      <p:sp>
        <p:nvSpPr>
          <p:cNvPr id="36" name="Text 34"/>
          <p:cNvSpPr/>
          <p:nvPr/>
        </p:nvSpPr>
        <p:spPr>
          <a:xfrm>
            <a:off x="6181344" y="4498848"/>
            <a:ext cx="384048" cy="219456"/>
          </a:xfrm>
          <a:prstGeom prst="rect">
            <a:avLst/>
          </a:prstGeom>
          <a:noFill/>
          <a:ln/>
        </p:spPr>
        <p:txBody>
          <a:bodyPr wrap="square" lIns="0" tIns="0" rIns="0" bIns="0" rtlCol="0" anchor="ctr">
            <a:normAutofit/>
          </a:bodyPr>
          <a:lstStyle/>
          <a:p>
            <a:pPr indent="0" marL="0">
              <a:buNone/>
            </a:pPr>
            <a:r>
              <a:rPr lang="en-US" sz="850" b="1" dirty="0">
                <a:solidFill>
                  <a:srgbClr val="078F68"/>
                </a:solidFill>
                <a:latin typeface="Arial" pitchFamily="34" charset="0"/>
                <a:ea typeface="Arial" pitchFamily="34" charset="-122"/>
                <a:cs typeface="Arial" pitchFamily="34" charset="-120"/>
              </a:rPr>
              <a:t>04</a:t>
            </a:r>
            <a:endParaRPr lang="en-US" sz="850" dirty="0"/>
          </a:p>
        </p:txBody>
      </p:sp>
      <p:sp>
        <p:nvSpPr>
          <p:cNvPr id="37" name="Text 35"/>
          <p:cNvSpPr/>
          <p:nvPr/>
        </p:nvSpPr>
        <p:spPr>
          <a:xfrm>
            <a:off x="6601968" y="4498848"/>
            <a:ext cx="2057400" cy="219456"/>
          </a:xfrm>
          <a:prstGeom prst="rect">
            <a:avLst/>
          </a:prstGeom>
          <a:noFill/>
          <a:ln/>
        </p:spPr>
        <p:txBody>
          <a:bodyPr wrap="square" lIns="0" tIns="0" rIns="0" bIns="0" rtlCol="0" anchor="ctr">
            <a:normAutofit/>
          </a:bodyPr>
          <a:lstStyle/>
          <a:p>
            <a:pPr indent="0" marL="0">
              <a:buNone/>
            </a:pPr>
            <a:r>
              <a:rPr lang="en-US" sz="1080" b="1" dirty="0">
                <a:solidFill>
                  <a:srgbClr val="14213D"/>
                </a:solidFill>
                <a:latin typeface="Arial" pitchFamily="34" charset="0"/>
                <a:ea typeface="Arial" pitchFamily="34" charset="-122"/>
                <a:cs typeface="Arial" pitchFamily="34" charset="-120"/>
              </a:rPr>
              <a:t>Multi-sensor correlation</a:t>
            </a:r>
            <a:endParaRPr lang="en-US" sz="1080" dirty="0"/>
          </a:p>
        </p:txBody>
      </p:sp>
      <p:sp>
        <p:nvSpPr>
          <p:cNvPr id="38" name="Text 36"/>
          <p:cNvSpPr/>
          <p:nvPr/>
        </p:nvSpPr>
        <p:spPr>
          <a:xfrm>
            <a:off x="8650224" y="4498848"/>
            <a:ext cx="2212848" cy="256032"/>
          </a:xfrm>
          <a:prstGeom prst="rect">
            <a:avLst/>
          </a:prstGeom>
          <a:noFill/>
          <a:ln/>
        </p:spPr>
        <p:txBody>
          <a:bodyPr wrap="square" lIns="0" tIns="0" rIns="0" bIns="0" rtlCol="0" anchor="t">
            <a:normAutofit/>
          </a:bodyPr>
          <a:lstStyle/>
          <a:p>
            <a:pPr indent="0" marL="0">
              <a:buNone/>
            </a:pPr>
            <a:r>
              <a:rPr lang="en-US" sz="870" dirty="0">
                <a:solidFill>
                  <a:srgbClr val="5E708F"/>
                </a:solidFill>
                <a:latin typeface="Arial" pitchFamily="34" charset="0"/>
                <a:ea typeface="Arial" pitchFamily="34" charset="-122"/>
                <a:cs typeface="Arial" pitchFamily="34" charset="-120"/>
              </a:rPr>
              <a:t>Combine simultaneous movement to reduce false alarms.</a:t>
            </a:r>
            <a:endParaRPr lang="en-US" sz="870" dirty="0"/>
          </a:p>
        </p:txBody>
      </p:sp>
      <p:sp>
        <p:nvSpPr>
          <p:cNvPr id="39" name="Text 37"/>
          <p:cNvSpPr/>
          <p:nvPr/>
        </p:nvSpPr>
        <p:spPr>
          <a:xfrm>
            <a:off x="6181344" y="5102352"/>
            <a:ext cx="384048" cy="219456"/>
          </a:xfrm>
          <a:prstGeom prst="rect">
            <a:avLst/>
          </a:prstGeom>
          <a:noFill/>
          <a:ln/>
        </p:spPr>
        <p:txBody>
          <a:bodyPr wrap="square" lIns="0" tIns="0" rIns="0" bIns="0" rtlCol="0" anchor="ctr">
            <a:normAutofit/>
          </a:bodyPr>
          <a:lstStyle/>
          <a:p>
            <a:pPr indent="0" marL="0">
              <a:buNone/>
            </a:pPr>
            <a:r>
              <a:rPr lang="en-US" sz="850" b="1" dirty="0">
                <a:solidFill>
                  <a:srgbClr val="078F68"/>
                </a:solidFill>
                <a:latin typeface="Arial" pitchFamily="34" charset="0"/>
                <a:ea typeface="Arial" pitchFamily="34" charset="-122"/>
                <a:cs typeface="Arial" pitchFamily="34" charset="-120"/>
              </a:rPr>
              <a:t>05</a:t>
            </a:r>
            <a:endParaRPr lang="en-US" sz="850" dirty="0"/>
          </a:p>
        </p:txBody>
      </p:sp>
      <p:sp>
        <p:nvSpPr>
          <p:cNvPr id="40" name="Text 38"/>
          <p:cNvSpPr/>
          <p:nvPr/>
        </p:nvSpPr>
        <p:spPr>
          <a:xfrm>
            <a:off x="6601968" y="5102352"/>
            <a:ext cx="2057400" cy="219456"/>
          </a:xfrm>
          <a:prstGeom prst="rect">
            <a:avLst/>
          </a:prstGeom>
          <a:noFill/>
          <a:ln/>
        </p:spPr>
        <p:txBody>
          <a:bodyPr wrap="square" lIns="0" tIns="0" rIns="0" bIns="0" rtlCol="0" anchor="ctr">
            <a:normAutofit/>
          </a:bodyPr>
          <a:lstStyle/>
          <a:p>
            <a:pPr indent="0" marL="0">
              <a:buNone/>
            </a:pPr>
            <a:r>
              <a:rPr lang="en-US" sz="1080" b="1" dirty="0">
                <a:solidFill>
                  <a:srgbClr val="14213D"/>
                </a:solidFill>
                <a:latin typeface="Arial" pitchFamily="34" charset="0"/>
                <a:ea typeface="Arial" pitchFamily="34" charset="-122"/>
                <a:cs typeface="Arial" pitchFamily="34" charset="-120"/>
              </a:rPr>
              <a:t>Packaged deployment</a:t>
            </a:r>
            <a:endParaRPr lang="en-US" sz="1080" dirty="0"/>
          </a:p>
        </p:txBody>
      </p:sp>
      <p:sp>
        <p:nvSpPr>
          <p:cNvPr id="41" name="Text 39"/>
          <p:cNvSpPr/>
          <p:nvPr/>
        </p:nvSpPr>
        <p:spPr>
          <a:xfrm>
            <a:off x="8650224" y="5102352"/>
            <a:ext cx="2212848" cy="256032"/>
          </a:xfrm>
          <a:prstGeom prst="rect">
            <a:avLst/>
          </a:prstGeom>
          <a:noFill/>
          <a:ln/>
        </p:spPr>
        <p:txBody>
          <a:bodyPr wrap="square" lIns="0" tIns="0" rIns="0" bIns="0" rtlCol="0" anchor="t">
            <a:normAutofit/>
          </a:bodyPr>
          <a:lstStyle/>
          <a:p>
            <a:pPr indent="0" marL="0">
              <a:buNone/>
            </a:pPr>
            <a:r>
              <a:rPr lang="en-US" sz="870" dirty="0">
                <a:solidFill>
                  <a:srgbClr val="5E708F"/>
                </a:solidFill>
                <a:latin typeface="Arial" pitchFamily="34" charset="0"/>
                <a:ea typeface="Arial" pitchFamily="34" charset="-122"/>
                <a:cs typeface="Arial" pitchFamily="34" charset="-120"/>
              </a:rPr>
              <a:t>Install as a background service with guided setup.</a:t>
            </a:r>
            <a:endParaRPr lang="en-US" sz="870" dirty="0"/>
          </a:p>
        </p:txBody>
      </p:sp>
      <p:sp>
        <p:nvSpPr>
          <p:cNvPr id="25" name="Slide Number Placeholder 0"/>
          <p:cNvSpPr>
            <a:spLocks noGrp="1"/>
          </p:cNvSpPr>
          <p:nvPr>
            <p:ph type="sldNum" sz="quarter" idx="4294967295"/>
          </p:nvPr>
        </p:nvSpPr>
        <p:spPr>
          <a:xfrm>
            <a:off x="11384280" y="6446520"/>
            <a:ext cx="320040" cy="164592"/>
          </a:xfrm>
          <a:prstGeom prst="rect">
            <a:avLst/>
          </a:prstGeom>
          <a:extLst>
            <a:ext uri="{C572A759-6A51-4108-AA02-DFA0A04FC94B}">
              <ma14:wrappingTextBoxFlag xmlns:ma14="http://schemas.microsoft.com/office/mac/drawingml/2011/main" val="0"/>
            </a:ext>
          </a:extLst>
        </p:spPr>
        <p:txBody>
          <a:bodyPr/>
          <a:lstStyle>
            <a:lvl1pPr>
              <a:defRPr sz="800">
                <a:solidFill>
                  <a:srgbClr val="71819C"/>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1645920" y="3474720"/>
            <a:ext cx="5486400" cy="5486400"/>
          </a:xfrm>
          <a:prstGeom prst="ellipse">
            <a:avLst/>
          </a:prstGeom>
          <a:solidFill>
            <a:srgbClr val="356AE6">
              <a:alpha val="10000"/>
            </a:srgbClr>
          </a:solidFill>
          <a:ln w="12700">
            <a:solidFill>
              <a:srgbClr val="333333">
                <a:alpha val="0"/>
              </a:srgbClr>
            </a:solidFill>
            <a:prstDash val="solid"/>
          </a:ln>
        </p:spPr>
      </p:sp>
      <p:sp>
        <p:nvSpPr>
          <p:cNvPr id="3" name="Shape 1"/>
          <p:cNvSpPr/>
          <p:nvPr/>
        </p:nvSpPr>
        <p:spPr>
          <a:xfrm>
            <a:off x="8869680" y="-2286000"/>
            <a:ext cx="5303520" cy="5303520"/>
          </a:xfrm>
          <a:prstGeom prst="ellipse">
            <a:avLst/>
          </a:prstGeom>
          <a:solidFill>
            <a:srgbClr val="078F68">
              <a:alpha val="8000"/>
            </a:srgbClr>
          </a:solidFill>
          <a:ln w="12700">
            <a:solidFill>
              <a:srgbClr val="333333">
                <a:alpha val="0"/>
              </a:srgbClr>
            </a:solidFill>
            <a:prstDash val="solid"/>
          </a:ln>
        </p:spPr>
      </p:sp>
      <p:sp>
        <p:nvSpPr>
          <p:cNvPr id="4" name="Shape 2"/>
          <p:cNvSpPr/>
          <p:nvPr/>
        </p:nvSpPr>
        <p:spPr>
          <a:xfrm>
            <a:off x="5340096" y="676656"/>
            <a:ext cx="1481328" cy="310896"/>
          </a:xfrm>
          <a:prstGeom prst="roundRect">
            <a:avLst>
              <a:gd name="adj" fmla="val 23529"/>
            </a:avLst>
          </a:prstGeom>
          <a:solidFill>
            <a:srgbClr val="EEF3FA"/>
          </a:solidFill>
          <a:ln w="12700">
            <a:solidFill>
              <a:srgbClr val="078F68"/>
            </a:solidFill>
            <a:prstDash val="solid"/>
          </a:ln>
        </p:spPr>
      </p:sp>
      <p:sp>
        <p:nvSpPr>
          <p:cNvPr id="5" name="Text 3"/>
          <p:cNvSpPr/>
          <p:nvPr/>
        </p:nvSpPr>
        <p:spPr>
          <a:xfrm>
            <a:off x="5413248" y="694944"/>
            <a:ext cx="1335024" cy="256032"/>
          </a:xfrm>
          <a:prstGeom prst="rect">
            <a:avLst/>
          </a:prstGeom>
          <a:noFill/>
          <a:ln/>
        </p:spPr>
        <p:txBody>
          <a:bodyPr wrap="square" lIns="0" tIns="0" rIns="0" bIns="0" rtlCol="0" anchor="ctr">
            <a:normAutofit/>
          </a:bodyPr>
          <a:lstStyle/>
          <a:p>
            <a:pPr algn="ctr" indent="0" marL="0">
              <a:buNone/>
            </a:pPr>
            <a:r>
              <a:rPr lang="en-US" sz="900" b="1" spc="70" kern="0" dirty="0">
                <a:solidFill>
                  <a:srgbClr val="078F68"/>
                </a:solidFill>
                <a:latin typeface="Arial" pitchFamily="34" charset="0"/>
                <a:ea typeface="Arial" pitchFamily="34" charset="-122"/>
                <a:cs typeface="Arial" pitchFamily="34" charset="-120"/>
              </a:rPr>
              <a:t>CONCLUSION</a:t>
            </a:r>
            <a:endParaRPr lang="en-US" sz="900" dirty="0"/>
          </a:p>
        </p:txBody>
      </p:sp>
      <p:sp>
        <p:nvSpPr>
          <p:cNvPr id="6" name="Text 4"/>
          <p:cNvSpPr/>
          <p:nvPr/>
        </p:nvSpPr>
        <p:spPr>
          <a:xfrm>
            <a:off x="1234440" y="1298448"/>
            <a:ext cx="9720072" cy="658368"/>
          </a:xfrm>
          <a:prstGeom prst="rect">
            <a:avLst/>
          </a:prstGeom>
          <a:noFill/>
          <a:ln/>
        </p:spPr>
        <p:txBody>
          <a:bodyPr wrap="square" lIns="0" tIns="0" rIns="0" bIns="0" rtlCol="0" anchor="ctr">
            <a:normAutofit/>
          </a:bodyPr>
          <a:lstStyle/>
          <a:p>
            <a:pPr algn="ctr" indent="0" marL="0">
              <a:buNone/>
            </a:pPr>
            <a:r>
              <a:rPr lang="en-US" sz="2900" b="1" dirty="0">
                <a:solidFill>
                  <a:srgbClr val="14213D"/>
                </a:solidFill>
                <a:latin typeface="Arial" pitchFamily="34" charset="0"/>
                <a:ea typeface="Arial" pitchFamily="34" charset="-122"/>
                <a:cs typeface="Arial" pitchFamily="34" charset="-120"/>
              </a:rPr>
              <a:t>A complete IoT loop—built from devices we already own</a:t>
            </a:r>
            <a:endParaRPr lang="en-US" sz="2900" dirty="0"/>
          </a:p>
        </p:txBody>
      </p:sp>
      <p:sp>
        <p:nvSpPr>
          <p:cNvPr id="7" name="Text 5"/>
          <p:cNvSpPr/>
          <p:nvPr/>
        </p:nvSpPr>
        <p:spPr>
          <a:xfrm>
            <a:off x="1847088" y="2130552"/>
            <a:ext cx="8485632" cy="749808"/>
          </a:xfrm>
          <a:prstGeom prst="rect">
            <a:avLst/>
          </a:prstGeom>
          <a:noFill/>
          <a:ln/>
        </p:spPr>
        <p:txBody>
          <a:bodyPr wrap="square" lIns="0" tIns="0" rIns="0" bIns="0" rtlCol="0" anchor="t">
            <a:normAutofit/>
          </a:bodyPr>
          <a:lstStyle/>
          <a:p>
            <a:pPr algn="ctr" indent="0" marL="0">
              <a:buNone/>
            </a:pPr>
            <a:r>
              <a:rPr lang="en-US" sz="1400" dirty="0">
                <a:solidFill>
                  <a:srgbClr val="5E708F"/>
                </a:solidFill>
                <a:latin typeface="Arial" pitchFamily="34" charset="0"/>
                <a:ea typeface="Arial" pitchFamily="34" charset="-122"/>
                <a:cs typeface="Arial" pitchFamily="34" charset="-120"/>
              </a:rPr>
              <a:t>FailureAntyTheft proves that a smartphone, a local network and a carefully designed detector can deliver practical real-time monitoring without dedicated hardware or paid cloud services.</a:t>
            </a:r>
            <a:endParaRPr lang="en-US" sz="1400" dirty="0"/>
          </a:p>
        </p:txBody>
      </p:sp>
      <p:sp>
        <p:nvSpPr>
          <p:cNvPr id="8" name="Shape 6"/>
          <p:cNvSpPr/>
          <p:nvPr/>
        </p:nvSpPr>
        <p:spPr>
          <a:xfrm>
            <a:off x="950976" y="3337560"/>
            <a:ext cx="2267712" cy="1170432"/>
          </a:xfrm>
          <a:prstGeom prst="roundRect">
            <a:avLst>
              <a:gd name="adj" fmla="val 6250"/>
            </a:avLst>
          </a:prstGeom>
          <a:solidFill>
            <a:srgbClr val="FFFFFF"/>
          </a:solidFill>
          <a:ln w="12700">
            <a:solidFill>
              <a:srgbClr val="C9D5E5"/>
            </a:solidFill>
            <a:prstDash val="solid"/>
          </a:ln>
          <a:effectLst>
            <a:outerShdw sx="100000" sy="100000" kx="0" ky="0" algn="bl" rotWithShape="0" blurRad="4.8810760880046414e+94" dist="9.762152176009283e+94" dir="3.553786003741213e+111">
              <a:srgbClr val="000000">
                <a:alpha val="1.1999999999999999e+114"/>
              </a:srgbClr>
            </a:outerShdw>
          </a:effectLst>
        </p:spPr>
      </p:sp>
      <p:sp>
        <p:nvSpPr>
          <p:cNvPr id="9" name="Text 7"/>
          <p:cNvSpPr/>
          <p:nvPr/>
        </p:nvSpPr>
        <p:spPr>
          <a:xfrm>
            <a:off x="1088136" y="3547872"/>
            <a:ext cx="1993392" cy="384048"/>
          </a:xfrm>
          <a:prstGeom prst="rect">
            <a:avLst/>
          </a:prstGeom>
          <a:noFill/>
          <a:ln/>
        </p:spPr>
        <p:txBody>
          <a:bodyPr wrap="square" lIns="0" tIns="0" rIns="0" bIns="0" rtlCol="0" anchor="ctr">
            <a:normAutofit/>
          </a:bodyPr>
          <a:lstStyle/>
          <a:p>
            <a:pPr algn="ctr" indent="0" marL="0">
              <a:buNone/>
            </a:pPr>
            <a:r>
              <a:rPr lang="en-US" sz="2400" b="1" dirty="0">
                <a:solidFill>
                  <a:srgbClr val="078F68"/>
                </a:solidFill>
                <a:latin typeface="Arial" pitchFamily="34" charset="0"/>
                <a:ea typeface="Arial" pitchFamily="34" charset="-122"/>
                <a:cs typeface="Arial" pitchFamily="34" charset="-120"/>
              </a:rPr>
              <a:t>105</a:t>
            </a:r>
            <a:endParaRPr lang="en-US" sz="2400" dirty="0"/>
          </a:p>
        </p:txBody>
      </p:sp>
      <p:sp>
        <p:nvSpPr>
          <p:cNvPr id="10" name="Text 8"/>
          <p:cNvSpPr/>
          <p:nvPr/>
        </p:nvSpPr>
        <p:spPr>
          <a:xfrm>
            <a:off x="1088136" y="4014216"/>
            <a:ext cx="1993392" cy="201168"/>
          </a:xfrm>
          <a:prstGeom prst="rect">
            <a:avLst/>
          </a:prstGeom>
          <a:noFill/>
          <a:ln/>
        </p:spPr>
        <p:txBody>
          <a:bodyPr wrap="square" lIns="0" tIns="0" rIns="0" bIns="0" rtlCol="0" anchor="ctr">
            <a:normAutofit/>
          </a:bodyPr>
          <a:lstStyle/>
          <a:p>
            <a:pPr algn="ctr" indent="0" marL="0">
              <a:buNone/>
            </a:pPr>
            <a:r>
              <a:rPr lang="en-US" sz="950" dirty="0">
                <a:solidFill>
                  <a:srgbClr val="5E708F"/>
                </a:solidFill>
                <a:latin typeface="Arial" pitchFamily="34" charset="0"/>
                <a:ea typeface="Arial" pitchFamily="34" charset="-122"/>
                <a:cs typeface="Arial" pitchFamily="34" charset="-120"/>
              </a:rPr>
              <a:t>passing tests</a:t>
            </a:r>
            <a:endParaRPr lang="en-US" sz="950" dirty="0"/>
          </a:p>
        </p:txBody>
      </p:sp>
      <p:sp>
        <p:nvSpPr>
          <p:cNvPr id="11" name="Shape 9"/>
          <p:cNvSpPr/>
          <p:nvPr/>
        </p:nvSpPr>
        <p:spPr>
          <a:xfrm>
            <a:off x="3749040" y="3337560"/>
            <a:ext cx="2267712" cy="1170432"/>
          </a:xfrm>
          <a:prstGeom prst="roundRect">
            <a:avLst>
              <a:gd name="adj" fmla="val 6250"/>
            </a:avLst>
          </a:prstGeom>
          <a:solidFill>
            <a:srgbClr val="FFFFFF"/>
          </a:solidFill>
          <a:ln w="12700">
            <a:solidFill>
              <a:srgbClr val="C9D5E5"/>
            </a:solidFill>
            <a:prstDash val="solid"/>
          </a:ln>
          <a:effectLst>
            <a:outerShdw sx="100000" sy="100000" kx="0" ky="0" algn="bl" rotWithShape="0" blurRad="6.198966631765894e+98" dist="1.2397933263531789e+99" dir="2.1322716022447277e+116">
              <a:srgbClr val="000000">
                <a:alpha val="1.1999999999999998e+119"/>
              </a:srgbClr>
            </a:outerShdw>
          </a:effectLst>
        </p:spPr>
      </p:sp>
      <p:sp>
        <p:nvSpPr>
          <p:cNvPr id="12" name="Text 10"/>
          <p:cNvSpPr/>
          <p:nvPr/>
        </p:nvSpPr>
        <p:spPr>
          <a:xfrm>
            <a:off x="3886200" y="3547872"/>
            <a:ext cx="1993392" cy="384048"/>
          </a:xfrm>
          <a:prstGeom prst="rect">
            <a:avLst/>
          </a:prstGeom>
          <a:noFill/>
          <a:ln/>
        </p:spPr>
        <p:txBody>
          <a:bodyPr wrap="square" lIns="0" tIns="0" rIns="0" bIns="0" rtlCol="0" anchor="ctr">
            <a:normAutofit/>
          </a:bodyPr>
          <a:lstStyle/>
          <a:p>
            <a:pPr algn="ctr" indent="0" marL="0">
              <a:buNone/>
            </a:pPr>
            <a:r>
              <a:rPr lang="en-US" sz="1700" b="1" dirty="0">
                <a:solidFill>
                  <a:srgbClr val="356AE6"/>
                </a:solidFill>
                <a:latin typeface="Arial" pitchFamily="34" charset="0"/>
                <a:ea typeface="Arial" pitchFamily="34" charset="-122"/>
                <a:cs typeface="Arial" pitchFamily="34" charset="-120"/>
              </a:rPr>
              <a:t>REAL-TIME</a:t>
            </a:r>
            <a:endParaRPr lang="en-US" sz="1700" dirty="0"/>
          </a:p>
        </p:txBody>
      </p:sp>
      <p:sp>
        <p:nvSpPr>
          <p:cNvPr id="13" name="Text 11"/>
          <p:cNvSpPr/>
          <p:nvPr/>
        </p:nvSpPr>
        <p:spPr>
          <a:xfrm>
            <a:off x="3886200" y="4014216"/>
            <a:ext cx="1993392" cy="201168"/>
          </a:xfrm>
          <a:prstGeom prst="rect">
            <a:avLst/>
          </a:prstGeom>
          <a:noFill/>
          <a:ln/>
        </p:spPr>
        <p:txBody>
          <a:bodyPr wrap="square" lIns="0" tIns="0" rIns="0" bIns="0" rtlCol="0" anchor="ctr">
            <a:normAutofit/>
          </a:bodyPr>
          <a:lstStyle/>
          <a:p>
            <a:pPr algn="ctr" indent="0" marL="0">
              <a:buNone/>
            </a:pPr>
            <a:r>
              <a:rPr lang="en-US" sz="950" dirty="0">
                <a:solidFill>
                  <a:srgbClr val="5E708F"/>
                </a:solidFill>
                <a:latin typeface="Arial" pitchFamily="34" charset="0"/>
                <a:ea typeface="Arial" pitchFamily="34" charset="-122"/>
                <a:cs typeface="Arial" pitchFamily="34" charset="-120"/>
              </a:rPr>
              <a:t>WebSocket updates</a:t>
            </a:r>
            <a:endParaRPr lang="en-US" sz="950" dirty="0"/>
          </a:p>
        </p:txBody>
      </p:sp>
      <p:sp>
        <p:nvSpPr>
          <p:cNvPr id="14" name="Shape 12"/>
          <p:cNvSpPr/>
          <p:nvPr/>
        </p:nvSpPr>
        <p:spPr>
          <a:xfrm>
            <a:off x="6547104" y="3337560"/>
            <a:ext cx="2267712" cy="1170432"/>
          </a:xfrm>
          <a:prstGeom prst="roundRect">
            <a:avLst>
              <a:gd name="adj" fmla="val 6250"/>
            </a:avLst>
          </a:prstGeom>
          <a:solidFill>
            <a:srgbClr val="FFFFFF"/>
          </a:solidFill>
          <a:ln w="12700">
            <a:solidFill>
              <a:srgbClr val="C9D5E5"/>
            </a:solidFill>
            <a:prstDash val="solid"/>
          </a:ln>
          <a:effectLst>
            <a:outerShdw sx="100000" sy="100000" kx="0" ky="0" algn="bl" rotWithShape="0" blurRad="7.872687622342685e+102" dist="1.574537524468537e+103" dir="1.2793629613468366e+121">
              <a:srgbClr val="000000">
                <a:alpha val="1.1999999999999998e+124"/>
              </a:srgbClr>
            </a:outerShdw>
          </a:effectLst>
        </p:spPr>
      </p:sp>
      <p:sp>
        <p:nvSpPr>
          <p:cNvPr id="15" name="Text 13"/>
          <p:cNvSpPr/>
          <p:nvPr/>
        </p:nvSpPr>
        <p:spPr>
          <a:xfrm>
            <a:off x="6684264" y="3547872"/>
            <a:ext cx="1993392" cy="384048"/>
          </a:xfrm>
          <a:prstGeom prst="rect">
            <a:avLst/>
          </a:prstGeom>
          <a:noFill/>
          <a:ln/>
        </p:spPr>
        <p:txBody>
          <a:bodyPr wrap="square" lIns="0" tIns="0" rIns="0" bIns="0" rtlCol="0" anchor="ctr">
            <a:normAutofit/>
          </a:bodyPr>
          <a:lstStyle/>
          <a:p>
            <a:pPr algn="ctr" indent="0" marL="0">
              <a:buNone/>
            </a:pPr>
            <a:r>
              <a:rPr lang="en-US" sz="2400" b="1" dirty="0">
                <a:solidFill>
                  <a:srgbClr val="7048CA"/>
                </a:solidFill>
                <a:latin typeface="Arial" pitchFamily="34" charset="0"/>
                <a:ea typeface="Arial" pitchFamily="34" charset="-122"/>
                <a:cs typeface="Arial" pitchFamily="34" charset="-120"/>
              </a:rPr>
              <a:t>LOCAL</a:t>
            </a:r>
            <a:endParaRPr lang="en-US" sz="2400" dirty="0"/>
          </a:p>
        </p:txBody>
      </p:sp>
      <p:sp>
        <p:nvSpPr>
          <p:cNvPr id="16" name="Text 14"/>
          <p:cNvSpPr/>
          <p:nvPr/>
        </p:nvSpPr>
        <p:spPr>
          <a:xfrm>
            <a:off x="6684264" y="4014216"/>
            <a:ext cx="1993392" cy="201168"/>
          </a:xfrm>
          <a:prstGeom prst="rect">
            <a:avLst/>
          </a:prstGeom>
          <a:noFill/>
          <a:ln/>
        </p:spPr>
        <p:txBody>
          <a:bodyPr wrap="square" lIns="0" tIns="0" rIns="0" bIns="0" rtlCol="0" anchor="ctr">
            <a:normAutofit/>
          </a:bodyPr>
          <a:lstStyle/>
          <a:p>
            <a:pPr algn="ctr" indent="0" marL="0">
              <a:buNone/>
            </a:pPr>
            <a:r>
              <a:rPr lang="en-US" sz="950" dirty="0">
                <a:solidFill>
                  <a:srgbClr val="5E708F"/>
                </a:solidFill>
                <a:latin typeface="Arial" pitchFamily="34" charset="0"/>
                <a:ea typeface="Arial" pitchFamily="34" charset="-122"/>
                <a:cs typeface="Arial" pitchFamily="34" charset="-120"/>
              </a:rPr>
              <a:t>privacy by default</a:t>
            </a:r>
            <a:endParaRPr lang="en-US" sz="950" dirty="0"/>
          </a:p>
        </p:txBody>
      </p:sp>
      <p:sp>
        <p:nvSpPr>
          <p:cNvPr id="17" name="Shape 15"/>
          <p:cNvSpPr/>
          <p:nvPr/>
        </p:nvSpPr>
        <p:spPr>
          <a:xfrm>
            <a:off x="9345168" y="3337560"/>
            <a:ext cx="2267712" cy="1170432"/>
          </a:xfrm>
          <a:prstGeom prst="roundRect">
            <a:avLst>
              <a:gd name="adj" fmla="val 6250"/>
            </a:avLst>
          </a:prstGeom>
          <a:solidFill>
            <a:srgbClr val="FFFFFF"/>
          </a:solidFill>
          <a:ln w="12700">
            <a:solidFill>
              <a:srgbClr val="C9D5E5"/>
            </a:solidFill>
            <a:prstDash val="solid"/>
          </a:ln>
          <a:effectLst>
            <a:outerShdw sx="100000" sy="100000" kx="0" ky="0" algn="bl" rotWithShape="0" blurRad="9.998313280375211e+106" dist="1.9996626560750422e+107" dir="7.67617776808102e+125">
              <a:srgbClr val="000000">
                <a:alpha val="1.1999999999999998e+129"/>
              </a:srgbClr>
            </a:outerShdw>
          </a:effectLst>
        </p:spPr>
      </p:sp>
      <p:sp>
        <p:nvSpPr>
          <p:cNvPr id="18" name="Text 16"/>
          <p:cNvSpPr/>
          <p:nvPr/>
        </p:nvSpPr>
        <p:spPr>
          <a:xfrm>
            <a:off x="9482328" y="3547872"/>
            <a:ext cx="1993392" cy="384048"/>
          </a:xfrm>
          <a:prstGeom prst="rect">
            <a:avLst/>
          </a:prstGeom>
          <a:noFill/>
          <a:ln/>
        </p:spPr>
        <p:txBody>
          <a:bodyPr wrap="square" lIns="0" tIns="0" rIns="0" bIns="0" rtlCol="0" anchor="ctr">
            <a:normAutofit/>
          </a:bodyPr>
          <a:lstStyle/>
          <a:p>
            <a:pPr algn="ctr" indent="0" marL="0">
              <a:buNone/>
            </a:pPr>
            <a:r>
              <a:rPr lang="en-US" sz="1700" b="1" dirty="0">
                <a:solidFill>
                  <a:srgbClr val="D64255"/>
                </a:solidFill>
                <a:latin typeface="Arial" pitchFamily="34" charset="0"/>
                <a:ea typeface="Arial" pitchFamily="34" charset="-122"/>
                <a:cs typeface="Arial" pitchFamily="34" charset="-120"/>
              </a:rPr>
              <a:t>AUDIBLE</a:t>
            </a:r>
            <a:endParaRPr lang="en-US" sz="1700" dirty="0"/>
          </a:p>
        </p:txBody>
      </p:sp>
      <p:sp>
        <p:nvSpPr>
          <p:cNvPr id="19" name="Text 17"/>
          <p:cNvSpPr/>
          <p:nvPr/>
        </p:nvSpPr>
        <p:spPr>
          <a:xfrm>
            <a:off x="9482328" y="4014216"/>
            <a:ext cx="1993392" cy="201168"/>
          </a:xfrm>
          <a:prstGeom prst="rect">
            <a:avLst/>
          </a:prstGeom>
          <a:noFill/>
          <a:ln/>
        </p:spPr>
        <p:txBody>
          <a:bodyPr wrap="square" lIns="0" tIns="0" rIns="0" bIns="0" rtlCol="0" anchor="ctr">
            <a:normAutofit/>
          </a:bodyPr>
          <a:lstStyle/>
          <a:p>
            <a:pPr algn="ctr" indent="0" marL="0">
              <a:buNone/>
            </a:pPr>
            <a:r>
              <a:rPr lang="en-US" sz="950" dirty="0">
                <a:solidFill>
                  <a:srgbClr val="5E708F"/>
                </a:solidFill>
                <a:latin typeface="Arial" pitchFamily="34" charset="0"/>
                <a:ea typeface="Arial" pitchFamily="34" charset="-122"/>
                <a:cs typeface="Arial" pitchFamily="34" charset="-120"/>
              </a:rPr>
              <a:t>actionable alarm</a:t>
            </a:r>
            <a:endParaRPr lang="en-US" sz="950" dirty="0"/>
          </a:p>
        </p:txBody>
      </p:sp>
      <p:sp>
        <p:nvSpPr>
          <p:cNvPr id="20" name="Text 18"/>
          <p:cNvSpPr/>
          <p:nvPr/>
        </p:nvSpPr>
        <p:spPr>
          <a:xfrm>
            <a:off x="4160520" y="5074920"/>
            <a:ext cx="3886200" cy="566928"/>
          </a:xfrm>
          <a:prstGeom prst="rect">
            <a:avLst/>
          </a:prstGeom>
          <a:noFill/>
          <a:ln/>
        </p:spPr>
        <p:txBody>
          <a:bodyPr wrap="square" lIns="0" tIns="0" rIns="0" bIns="0" rtlCol="0" anchor="ctr">
            <a:normAutofit/>
          </a:bodyPr>
          <a:lstStyle/>
          <a:p>
            <a:pPr algn="ctr" indent="0" marL="0">
              <a:buNone/>
            </a:pPr>
            <a:r>
              <a:rPr lang="en-US" sz="3100" b="1" dirty="0">
                <a:solidFill>
                  <a:srgbClr val="14213D"/>
                </a:solidFill>
                <a:latin typeface="Arial" pitchFamily="34" charset="0"/>
                <a:ea typeface="Arial" pitchFamily="34" charset="-122"/>
                <a:cs typeface="Arial" pitchFamily="34" charset="-120"/>
              </a:rPr>
              <a:t>Questions?</a:t>
            </a:r>
            <a:endParaRPr lang="en-US" sz="3100" dirty="0"/>
          </a:p>
        </p:txBody>
      </p:sp>
      <p:sp>
        <p:nvSpPr>
          <p:cNvPr id="21" name="Text 19"/>
          <p:cNvSpPr/>
          <p:nvPr/>
        </p:nvSpPr>
        <p:spPr>
          <a:xfrm>
            <a:off x="5157216" y="5715000"/>
            <a:ext cx="1883664" cy="256032"/>
          </a:xfrm>
          <a:prstGeom prst="rect">
            <a:avLst/>
          </a:prstGeom>
          <a:noFill/>
          <a:ln/>
        </p:spPr>
        <p:txBody>
          <a:bodyPr wrap="square" lIns="0" tIns="0" rIns="0" bIns="0" rtlCol="0" anchor="ctr">
            <a:normAutofit/>
          </a:bodyPr>
          <a:lstStyle/>
          <a:p>
            <a:pPr algn="ctr" indent="0" marL="0">
              <a:buNone/>
            </a:pPr>
            <a:r>
              <a:rPr lang="en-US" sz="1100" spc="100" kern="0" dirty="0">
                <a:solidFill>
                  <a:srgbClr val="426EDC"/>
                </a:solidFill>
                <a:latin typeface="Arial" pitchFamily="34" charset="0"/>
                <a:ea typeface="Arial" pitchFamily="34" charset="-122"/>
                <a:cs typeface="Arial" pitchFamily="34" charset="-120"/>
              </a:rPr>
              <a:t>Thank you</a:t>
            </a:r>
            <a:endParaRPr lang="en-US" sz="1100" dirty="0"/>
          </a:p>
        </p:txBody>
      </p:sp>
      <p:pic>
        <p:nvPicPr>
          <p:cNvPr id="22" name="Image 0" descr="/home/mahmud-saikat/Class Contents/Nasir Sir/FailureAntyTheft/presentation/assets/mbstu-logo.png">    </p:cNvPr>
          <p:cNvPicPr>
            <a:picLocks noChangeAspect="1"/>
          </p:cNvPicPr>
          <p:nvPr/>
        </p:nvPicPr>
        <p:blipFill>
          <a:blip r:embed="rId1"/>
          <a:stretch>
            <a:fillRect/>
          </a:stretch>
        </p:blipFill>
        <p:spPr>
          <a:xfrm>
            <a:off x="11000232" y="6053328"/>
            <a:ext cx="521208" cy="521208"/>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Mawlana Bhashani Science and Technology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FailureAntyTheft Project Presentation — Light Theme</dc:title>
  <dc:subject>Phone-based IoT movement and anti-theft monitoring system</dc:subject>
  <dc:creator>Department of Computer Science and Engineering, MBSTU</dc:creator>
  <cp:lastModifiedBy>Department of Computer Science and Engineering, MBSTU</cp:lastModifiedBy>
  <cp:revision>1</cp:revision>
  <dcterms:created xsi:type="dcterms:W3CDTF">2026-07-21T16:20:35Z</dcterms:created>
  <dcterms:modified xsi:type="dcterms:W3CDTF">2026-07-21T16:20:35Z</dcterms:modified>
</cp:coreProperties>
</file>